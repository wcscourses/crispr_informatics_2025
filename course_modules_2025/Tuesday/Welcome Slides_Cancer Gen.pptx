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7"/>
  </p:notesMasterIdLst>
  <p:sldIdLst>
    <p:sldId id="265" r:id="rId3"/>
    <p:sldId id="266" r:id="rId4"/>
    <p:sldId id="268" r:id="rId5"/>
    <p:sldId id="279" r:id="rId6"/>
    <p:sldId id="280" r:id="rId7"/>
    <p:sldId id="272" r:id="rId8"/>
    <p:sldId id="276" r:id="rId9"/>
    <p:sldId id="271" r:id="rId10"/>
    <p:sldId id="277" r:id="rId11"/>
    <p:sldId id="278" r:id="rId12"/>
    <p:sldId id="281" r:id="rId13"/>
    <p:sldId id="282" r:id="rId14"/>
    <p:sldId id="283" r:id="rId15"/>
    <p:sldId id="274" r:id="rId1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85" userDrawn="1">
          <p15:clr>
            <a:srgbClr val="A4A3A4"/>
          </p15:clr>
        </p15:guide>
        <p15:guide id="4" pos="6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999"/>
    <a:srgbClr val="FFB4AA"/>
    <a:srgbClr val="62D0DF"/>
    <a:srgbClr val="DAC79D"/>
    <a:srgbClr val="DAB7E2"/>
    <a:srgbClr val="006666"/>
    <a:srgbClr val="000000"/>
    <a:srgbClr val="92D7E1"/>
    <a:srgbClr val="1598C5"/>
    <a:srgbClr val="1E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41"/>
    <p:restoredTop sz="92868"/>
  </p:normalViewPr>
  <p:slideViewPr>
    <p:cSldViewPr snapToGrid="0" snapToObjects="1">
      <p:cViewPr varScale="1">
        <p:scale>
          <a:sx n="69" d="100"/>
          <a:sy n="69" d="100"/>
        </p:scale>
        <p:origin x="1134" y="78"/>
      </p:cViewPr>
      <p:guideLst>
        <p:guide orient="horz" pos="2160"/>
        <p:guide pos="3840"/>
        <p:guide orient="horz" pos="2185"/>
        <p:guide pos="685"/>
      </p:guideLst>
    </p:cSldViewPr>
  </p:slideViewPr>
  <p:outlineViewPr>
    <p:cViewPr>
      <p:scale>
        <a:sx n="33" d="100"/>
        <a:sy n="33" d="100"/>
      </p:scale>
      <p:origin x="0" y="32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B3A1EEC-71D9-D741-BAC5-C38CAFB5D24F}" type="datetimeFigureOut">
              <a:rPr lang="en-US"/>
              <a:pPr>
                <a:defRPr/>
              </a:pPr>
              <a:t>6/18/2018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9CFA5EB-8C47-3B41-8231-2967036D93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657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No food or drink in the room</a:t>
            </a:r>
          </a:p>
          <a:p>
            <a:pPr marL="0" indent="0" algn="l">
              <a:buNone/>
            </a:pPr>
            <a:r>
              <a:rPr lang="en-US" dirty="0"/>
              <a:t>This is a non-smoking campus</a:t>
            </a:r>
          </a:p>
          <a:p>
            <a:pPr marL="0" indent="0" algn="l">
              <a:buNone/>
            </a:pPr>
            <a:r>
              <a:rPr lang="en-US" dirty="0"/>
              <a:t>Turn your phone off</a:t>
            </a:r>
          </a:p>
          <a:p>
            <a:pPr marL="0" indent="0" algn="l">
              <a:buNone/>
            </a:pPr>
            <a:r>
              <a:rPr lang="en-US" dirty="0"/>
              <a:t>Avoid checking emails or social media during talks!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CFA5EB-8C47-3B41-8231-2967036D931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04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CFA5EB-8C47-3B41-8231-2967036D931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63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t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t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EMBL_EBI_DNA_dark2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"/>
            <a:ext cx="12208933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217" y="6310318"/>
            <a:ext cx="1945216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710072" y="1797029"/>
            <a:ext cx="85344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1201" y="1040419"/>
            <a:ext cx="103632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11205" y="3851277"/>
            <a:ext cx="5983817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8545261"/>
      </p:ext>
    </p:extLst>
  </p:cSld>
  <p:clrMapOvr>
    <a:masterClrMapping/>
  </p:clrMapOvr>
  <p:transition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EMBL_EBI_DNA_dark2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"/>
            <a:ext cx="12208933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217" y="6310318"/>
            <a:ext cx="1945216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710072" y="1797029"/>
            <a:ext cx="85344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1201" y="1040419"/>
            <a:ext cx="103632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11205" y="3851277"/>
            <a:ext cx="5983817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6595708"/>
      </p:ext>
    </p:extLst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owerpont-slide-title_cell_dark4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0"/>
            <a:ext cx="12215284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217" y="6310318"/>
            <a:ext cx="1945216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710072" y="1797029"/>
            <a:ext cx="85344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1201" y="1040419"/>
            <a:ext cx="103632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11205" y="3851277"/>
            <a:ext cx="5983817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6975086"/>
      </p:ext>
    </p:extLst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EMBL_EBI_Chemistry-slide2-background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8933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217" y="6310318"/>
            <a:ext cx="1945216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710072" y="1797029"/>
            <a:ext cx="85344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1201" y="1040419"/>
            <a:ext cx="103632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11205" y="3851277"/>
            <a:ext cx="5983817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0269803"/>
      </p:ext>
    </p:extLst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MBL_EBI_Chem slide background4.tif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65" t="3106"/>
          <a:stretch/>
        </p:blipFill>
        <p:spPr>
          <a:xfrm>
            <a:off x="-1" y="4"/>
            <a:ext cx="12207393" cy="6869545"/>
          </a:xfrm>
          <a:prstGeom prst="rect">
            <a:avLst/>
          </a:prstGeom>
        </p:spPr>
      </p:pic>
      <p:pic>
        <p:nvPicPr>
          <p:cNvPr id="6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217" y="6310318"/>
            <a:ext cx="1945216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710072" y="1797029"/>
            <a:ext cx="85344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1201" y="1040419"/>
            <a:ext cx="103632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11205" y="3851277"/>
            <a:ext cx="5983817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7929993"/>
      </p:ext>
    </p:extLst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EMBL_EBI_PDBE-slide-background6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67"/>
          <a:stretch>
            <a:fillRect/>
          </a:stretch>
        </p:blipFill>
        <p:spPr bwMode="auto">
          <a:xfrm>
            <a:off x="0" y="-149225"/>
            <a:ext cx="12208933" cy="7019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217" y="6310318"/>
            <a:ext cx="1945216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710072" y="1797029"/>
            <a:ext cx="85344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1201" y="1040419"/>
            <a:ext cx="103632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11205" y="3851277"/>
            <a:ext cx="5983817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2065442"/>
      </p:ext>
    </p:extLst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MBL_EBI_Network_background2.tif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2207393" cy="6869545"/>
          </a:xfrm>
          <a:prstGeom prst="rect">
            <a:avLst/>
          </a:prstGeom>
        </p:spPr>
      </p:pic>
      <p:pic>
        <p:nvPicPr>
          <p:cNvPr id="6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217" y="6310318"/>
            <a:ext cx="1945216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710072" y="1797029"/>
            <a:ext cx="85344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1201" y="1040419"/>
            <a:ext cx="103632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11205" y="3851277"/>
            <a:ext cx="5983817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201025"/>
      </p:ext>
    </p:extLst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71725"/>
      </p:ext>
    </p:extLst>
  </p:cSld>
  <p:clrMapOvr>
    <a:masterClrMapping/>
  </p:clrMapOvr>
  <p:transition>
    <p:cu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8575684"/>
      </p:ext>
    </p:extLst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219201"/>
            <a:ext cx="5198533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248400" y="1219201"/>
            <a:ext cx="53340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27178"/>
      </p:ext>
    </p:extLst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33709"/>
      </p:ext>
    </p:extLst>
  </p:cSld>
  <p:clrMapOvr>
    <a:masterClrMapping/>
  </p:clrMapOvr>
  <p:transition>
    <p:cu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5626096"/>
      </p:ext>
    </p:extLst>
  </p:cSld>
  <p:clrMapOvr>
    <a:masterClrMapping/>
  </p:clrMapOvr>
  <p:transition>
    <p:cu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219201"/>
            <a:ext cx="5198533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248400" y="1219201"/>
            <a:ext cx="53340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140236"/>
      </p:ext>
    </p:extLst>
  </p:cSld>
  <p:clrMapOvr>
    <a:masterClrMapping/>
  </p:clrMapOvr>
  <p:transition>
    <p:cu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 flipH="1">
            <a:off x="0" y="6210300"/>
            <a:ext cx="12192000" cy="647700"/>
          </a:xfrm>
          <a:prstGeom prst="rect">
            <a:avLst/>
          </a:prstGeom>
          <a:solidFill>
            <a:srgbClr val="00434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4115" tIns="22065" rIns="44115" bIns="22065" anchor="ctr"/>
          <a:lstStyle/>
          <a:p>
            <a:pPr eaLnBrk="0" hangingPunct="0"/>
            <a:endParaRPr lang="en-GB" sz="180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1200" y="304800"/>
            <a:ext cx="10871200" cy="762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19201"/>
            <a:ext cx="10871200" cy="43513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Click to edit Master text styles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pic>
        <p:nvPicPr>
          <p:cNvPr id="1029" name="Picture 2" descr="EMBL_EBI_RGB_InversedUpdate.png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217" y="6310318"/>
            <a:ext cx="1945216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6" r:id="rId5"/>
    <p:sldLayoutId id="2147483765" r:id="rId6"/>
    <p:sldLayoutId id="2147483767" r:id="rId7"/>
    <p:sldLayoutId id="2147483755" r:id="rId8"/>
    <p:sldLayoutId id="2147483756" r:id="rId9"/>
    <p:sldLayoutId id="2147483757" r:id="rId10"/>
  </p:sldLayoutIdLst>
  <p:transition>
    <p:cut/>
  </p:transition>
  <p:hf hdr="0" ftr="0"/>
  <p:txStyles>
    <p:titleStyle>
      <a:lvl1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/>
          <a:ea typeface="ＭＳ Ｐゴシック" charset="0"/>
          <a:cs typeface="HelveticaNeueLT Pro 45 Lt"/>
        </a:defRPr>
      </a:lvl1pPr>
      <a:lvl2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2pPr>
      <a:lvl3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3pPr>
      <a:lvl4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4pPr>
      <a:lvl5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5pPr>
      <a:lvl6pPr marL="220599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6pPr>
      <a:lvl7pPr marL="441176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7pPr>
      <a:lvl8pPr marL="661770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8pPr>
      <a:lvl9pPr marL="882370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9pPr>
    </p:titleStyle>
    <p:bodyStyle>
      <a:lvl1pPr marL="354013" indent="-354013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SzPct val="120000"/>
        <a:buFont typeface="Arial" charset="0"/>
        <a:buChar char="•"/>
        <a:defRPr sz="24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1pPr>
      <a:lvl2pPr marL="631825" indent="-276225" algn="l" defTabSz="952500" rtl="0" eaLnBrk="0" fontAlgn="base" hangingPunct="0">
        <a:spcBef>
          <a:spcPct val="20000"/>
        </a:spcBef>
        <a:spcAft>
          <a:spcPts val="575"/>
        </a:spcAft>
        <a:buClr>
          <a:srgbClr val="FF8C9A"/>
        </a:buClr>
        <a:buSzPct val="100000"/>
        <a:buFont typeface="Arial" charset="0"/>
        <a:buChar char="•"/>
        <a:defRPr sz="22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2pPr>
      <a:lvl3pPr marL="895350" indent="-234950" algn="l" defTabSz="952500" rtl="0" eaLnBrk="0" fontAlgn="base" hangingPunct="0">
        <a:spcBef>
          <a:spcPct val="20000"/>
        </a:spcBef>
        <a:spcAft>
          <a:spcPts val="575"/>
        </a:spcAft>
        <a:buClr>
          <a:srgbClr val="FF8C9A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3pPr>
      <a:lvl4pPr marL="1147763" indent="-234950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4pPr>
      <a:lvl5pPr marL="1400175" indent="-234950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5pPr>
      <a:lvl6pPr marL="2371346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6pPr>
      <a:lvl7pPr marL="2591945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7pPr>
      <a:lvl8pPr marL="2812522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8pPr>
      <a:lvl9pPr marL="3033117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20599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41176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617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823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0294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23541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4414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6473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1200" y="304800"/>
            <a:ext cx="10871200" cy="762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19201"/>
            <a:ext cx="10871200" cy="43513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Click to edit Master text styles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</p:sldLayoutIdLst>
  <p:transition>
    <p:cut/>
  </p:transition>
  <p:hf hdr="0" ftr="0"/>
  <p:txStyles>
    <p:titleStyle>
      <a:lvl1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/>
          <a:ea typeface="ＭＳ Ｐゴシック" charset="0"/>
          <a:cs typeface="HelveticaNeueLT Pro 45 Lt"/>
        </a:defRPr>
      </a:lvl1pPr>
      <a:lvl2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2pPr>
      <a:lvl3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3pPr>
      <a:lvl4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4pPr>
      <a:lvl5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5pPr>
      <a:lvl6pPr marL="220599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6pPr>
      <a:lvl7pPr marL="441176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7pPr>
      <a:lvl8pPr marL="661770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8pPr>
      <a:lvl9pPr marL="882370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9pPr>
    </p:titleStyle>
    <p:bodyStyle>
      <a:lvl1pPr marL="354013" indent="-354013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SzPct val="120000"/>
        <a:buFont typeface="Arial" charset="0"/>
        <a:buChar char="•"/>
        <a:defRPr sz="24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1pPr>
      <a:lvl2pPr marL="631825" indent="-276225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SzPct val="100000"/>
        <a:buFont typeface="Arial" charset="0"/>
        <a:buChar char="•"/>
        <a:defRPr sz="22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2pPr>
      <a:lvl3pPr marL="895350" indent="-234950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3pPr>
      <a:lvl4pPr marL="1147763" indent="-234950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4pPr>
      <a:lvl5pPr marL="1400175" indent="-234950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5pPr>
      <a:lvl6pPr marL="2371346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6pPr>
      <a:lvl7pPr marL="2591945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7pPr>
      <a:lvl8pPr marL="2812522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8pPr>
      <a:lvl9pPr marL="3033117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20599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41176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617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823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0294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23541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4414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6473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bi.ac.uk/training/events/2018/cancer-genomics-3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 to </a:t>
            </a:r>
            <a:r>
              <a:rPr lang="en-US" dirty="0" smtClean="0"/>
              <a:t>EMBL-EBI &amp; Cancer Genomics 2018</a:t>
            </a:r>
            <a:endParaRPr lang="en-US" dirty="0"/>
          </a:p>
        </p:txBody>
      </p:sp>
      <p:sp>
        <p:nvSpPr>
          <p:cNvPr id="921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11205" y="4336186"/>
            <a:ext cx="5983817" cy="614363"/>
          </a:xfrm>
        </p:spPr>
        <p:txBody>
          <a:bodyPr/>
          <a:lstStyle/>
          <a:p>
            <a:r>
              <a:rPr lang="en-US" dirty="0" smtClean="0">
                <a:latin typeface="HelveticaNeueLT Pro 35 Th" charset="0"/>
                <a:cs typeface="HelveticaNeueLT Pro 35 Th" charset="0"/>
              </a:rPr>
              <a:t>sarahm@ebi.ac.uk</a:t>
            </a:r>
          </a:p>
          <a:p>
            <a:r>
              <a:rPr lang="en-US" dirty="0" smtClean="0">
                <a:latin typeface="HelveticaNeueLT Pro 35 Th" charset="0"/>
                <a:cs typeface="HelveticaNeueLT Pro 35 Th" charset="0"/>
              </a:rPr>
              <a:t>www.ebi.ac.uk/training</a:t>
            </a:r>
            <a:endParaRPr lang="en-US" dirty="0">
              <a:latin typeface="HelveticaNeueLT Pro 35 Th" charset="0"/>
              <a:cs typeface="HelveticaNeueLT Pro 35 Th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EMBL-EBI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057400" y="1219203"/>
            <a:ext cx="8153400" cy="4844375"/>
          </a:xfrm>
        </p:spPr>
        <p:txBody>
          <a:bodyPr/>
          <a:lstStyle/>
          <a:p>
            <a:r>
              <a:rPr lang="en-US" dirty="0"/>
              <a:t>Contacts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Training Team – </a:t>
            </a:r>
            <a:r>
              <a:rPr lang="en-US" dirty="0" err="1"/>
              <a:t>courses@ebi.ac.uk</a:t>
            </a:r>
            <a:endParaRPr lang="en-US" dirty="0"/>
          </a:p>
          <a:p>
            <a:pPr lvl="1"/>
            <a:r>
              <a:rPr lang="en-US" dirty="0"/>
              <a:t>Registration Desk – 8553</a:t>
            </a:r>
          </a:p>
          <a:p>
            <a:pPr lvl="1"/>
            <a:r>
              <a:rPr lang="en-US" dirty="0"/>
              <a:t>Emergency – 3333</a:t>
            </a:r>
          </a:p>
          <a:p>
            <a:endParaRPr lang="en-US" dirty="0"/>
          </a:p>
          <a:p>
            <a:r>
              <a:rPr lang="en-US" dirty="0"/>
              <a:t>Course </a:t>
            </a:r>
            <a:r>
              <a:rPr lang="en-US" dirty="0" err="1"/>
              <a:t>organiser</a:t>
            </a:r>
            <a:r>
              <a:rPr lang="en-US" dirty="0"/>
              <a:t> and events team</a:t>
            </a:r>
          </a:p>
          <a:p>
            <a:pPr lvl="1"/>
            <a:r>
              <a:rPr lang="en-GB" dirty="0" smtClean="0"/>
              <a:t>Sarah Morgan – sarahm@ebi.ac.uk</a:t>
            </a:r>
            <a:endParaRPr lang="en-US" dirty="0"/>
          </a:p>
          <a:p>
            <a:pPr lvl="1"/>
            <a:r>
              <a:rPr lang="en-GB" dirty="0" smtClean="0"/>
              <a:t>Johanna </a:t>
            </a:r>
            <a:r>
              <a:rPr lang="en-GB" dirty="0" err="1" smtClean="0"/>
              <a:t>Langrish</a:t>
            </a:r>
            <a:r>
              <a:rPr lang="en-GB" dirty="0" smtClean="0"/>
              <a:t> – johanna@ebi.ac.uk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70452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auto">
          <a:xfrm>
            <a:off x="6834077" y="3193916"/>
            <a:ext cx="918791" cy="95655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1981200" eaLnBrk="0" hangingPunct="0"/>
            <a:endParaRPr lang="en-US" sz="5200"/>
          </a:p>
        </p:txBody>
      </p:sp>
      <p:sp>
        <p:nvSpPr>
          <p:cNvPr id="16" name="TextBox 15"/>
          <p:cNvSpPr txBox="1"/>
          <p:nvPr/>
        </p:nvSpPr>
        <p:spPr>
          <a:xfrm>
            <a:off x="7766384" y="3061022"/>
            <a:ext cx="1445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Registration desk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652361" y="160927"/>
            <a:ext cx="8725139" cy="5903858"/>
            <a:chOff x="128358" y="160927"/>
            <a:chExt cx="8725139" cy="5903858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874" b="4713"/>
            <a:stretch/>
          </p:blipFill>
          <p:spPr>
            <a:xfrm>
              <a:off x="128358" y="160927"/>
              <a:ext cx="8725139" cy="5903858"/>
            </a:xfrm>
            <a:prstGeom prst="rect">
              <a:avLst/>
            </a:prstGeom>
          </p:spPr>
        </p:pic>
        <p:sp>
          <p:nvSpPr>
            <p:cNvPr id="3" name="Teardrop 2"/>
            <p:cNvSpPr/>
            <p:nvPr/>
          </p:nvSpPr>
          <p:spPr bwMode="auto">
            <a:xfrm>
              <a:off x="7594346" y="1633500"/>
              <a:ext cx="275919" cy="275919"/>
            </a:xfrm>
            <a:prstGeom prst="teardrop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27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1981200" eaLnBrk="0" hangingPunct="0"/>
              <a:endParaRPr lang="en-US" sz="5200"/>
            </a:p>
          </p:txBody>
        </p:sp>
      </p:grpSp>
      <p:sp>
        <p:nvSpPr>
          <p:cNvPr id="4" name="Cross 3"/>
          <p:cNvSpPr/>
          <p:nvPr/>
        </p:nvSpPr>
        <p:spPr bwMode="auto">
          <a:xfrm>
            <a:off x="7865806" y="2308240"/>
            <a:ext cx="393291" cy="353961"/>
          </a:xfrm>
          <a:prstGeom prst="plus">
            <a:avLst>
              <a:gd name="adj" fmla="val 35278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981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5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836506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664003" y="389529"/>
            <a:ext cx="8725139" cy="5903858"/>
            <a:chOff x="128358" y="160927"/>
            <a:chExt cx="8725139" cy="5903858"/>
          </a:xfrm>
          <a:noFill/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874" b="4713"/>
            <a:stretch/>
          </p:blipFill>
          <p:spPr>
            <a:xfrm>
              <a:off x="128358" y="160927"/>
              <a:ext cx="8725139" cy="5903858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3" name="Teardrop 2"/>
            <p:cNvSpPr/>
            <p:nvPr/>
          </p:nvSpPr>
          <p:spPr bwMode="auto">
            <a:xfrm>
              <a:off x="7594346" y="1633500"/>
              <a:ext cx="275919" cy="275919"/>
            </a:xfrm>
            <a:prstGeom prst="teardrop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27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1981200" eaLnBrk="0" hangingPunct="0"/>
              <a:endParaRPr lang="en-US" sz="52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524001" y="228602"/>
            <a:ext cx="8557445" cy="6193684"/>
            <a:chOff x="-9951" y="2"/>
            <a:chExt cx="8557445" cy="6193684"/>
          </a:xfrm>
        </p:grpSpPr>
        <p:cxnSp>
          <p:nvCxnSpPr>
            <p:cNvPr id="5" name="Straight Arrow Connector 4"/>
            <p:cNvCxnSpPr/>
            <p:nvPr/>
          </p:nvCxnSpPr>
          <p:spPr bwMode="auto">
            <a:xfrm flipH="1">
              <a:off x="432375" y="3584242"/>
              <a:ext cx="6975775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" name="Straight Arrow Connector 9"/>
            <p:cNvCxnSpPr/>
            <p:nvPr/>
          </p:nvCxnSpPr>
          <p:spPr bwMode="auto">
            <a:xfrm>
              <a:off x="7408147" y="3584244"/>
              <a:ext cx="0" cy="248054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" name="Straight Arrow Connector 12"/>
            <p:cNvCxnSpPr/>
            <p:nvPr/>
          </p:nvCxnSpPr>
          <p:spPr bwMode="auto">
            <a:xfrm flipV="1">
              <a:off x="7408148" y="160928"/>
              <a:ext cx="0" cy="3423314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7" name="Straight Arrow Connector 16"/>
            <p:cNvCxnSpPr/>
            <p:nvPr/>
          </p:nvCxnSpPr>
          <p:spPr bwMode="auto">
            <a:xfrm flipV="1">
              <a:off x="5412198" y="160927"/>
              <a:ext cx="0" cy="3423314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" name="Straight Arrow Connector 17"/>
            <p:cNvCxnSpPr/>
            <p:nvPr/>
          </p:nvCxnSpPr>
          <p:spPr bwMode="auto">
            <a:xfrm flipV="1">
              <a:off x="4172900" y="160927"/>
              <a:ext cx="0" cy="447022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 bwMode="auto">
            <a:xfrm>
              <a:off x="4172900" y="607949"/>
              <a:ext cx="44808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4364261" y="1633500"/>
              <a:ext cx="256721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4620980" y="607951"/>
              <a:ext cx="0" cy="102555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/>
            <p:nvPr/>
          </p:nvCxnSpPr>
          <p:spPr bwMode="auto">
            <a:xfrm>
              <a:off x="4364259" y="1633502"/>
              <a:ext cx="0" cy="1950741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TextBox 29"/>
            <p:cNvSpPr txBox="1"/>
            <p:nvPr/>
          </p:nvSpPr>
          <p:spPr>
            <a:xfrm>
              <a:off x="-9951" y="3028562"/>
              <a:ext cx="152681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354310" y="2"/>
              <a:ext cx="9187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EXIT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547109" y="2"/>
              <a:ext cx="9187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EXIT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628705" y="3792"/>
              <a:ext cx="9187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EXIT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584397" y="5732021"/>
              <a:ext cx="9187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EXIT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190249" y="5960621"/>
            <a:ext cx="1003300" cy="461665"/>
            <a:chOff x="2656298" y="5732020"/>
            <a:chExt cx="1003300" cy="461665"/>
          </a:xfrm>
        </p:grpSpPr>
        <p:cxnSp>
          <p:nvCxnSpPr>
            <p:cNvPr id="19" name="Straight Arrow Connector 18"/>
            <p:cNvCxnSpPr/>
            <p:nvPr/>
          </p:nvCxnSpPr>
          <p:spPr bwMode="auto">
            <a:xfrm>
              <a:off x="3659598" y="5807943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2656298" y="5807943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4" name="TextBox 23"/>
            <p:cNvSpPr txBox="1"/>
            <p:nvPr/>
          </p:nvSpPr>
          <p:spPr>
            <a:xfrm>
              <a:off x="2730859" y="5732020"/>
              <a:ext cx="9187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EXIT</a:t>
              </a: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013" y="3084570"/>
            <a:ext cx="457200" cy="7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2153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2" y="909803"/>
            <a:ext cx="9144001" cy="52956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4998" y="1855698"/>
            <a:ext cx="457200" cy="779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DF001A"/>
                </a:solidFill>
              </a:rPr>
              <a:t>Fire Assembly: Car Park A </a:t>
            </a:r>
            <a:br>
              <a:rPr lang="en-US" b="1" dirty="0">
                <a:solidFill>
                  <a:srgbClr val="DF001A"/>
                </a:solidFill>
              </a:rPr>
            </a:br>
            <a:endParaRPr lang="en-GB" dirty="0"/>
          </a:p>
        </p:txBody>
      </p:sp>
      <p:sp>
        <p:nvSpPr>
          <p:cNvPr id="3" name="Multiply 2"/>
          <p:cNvSpPr/>
          <p:nvPr/>
        </p:nvSpPr>
        <p:spPr bwMode="auto">
          <a:xfrm>
            <a:off x="7924800" y="818695"/>
            <a:ext cx="430198" cy="496210"/>
          </a:xfrm>
          <a:prstGeom prst="mathMultiply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981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5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896735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Breaks and lunch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Refreshments will be served outside the room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Food will be labeled for dietary needs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Don’t bring food or drinks in to the room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673" y="-1"/>
            <a:ext cx="3293327" cy="329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4277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We may take photographs during the course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endParaRPr lang="en-US" sz="2800" dirty="0"/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These will be used for promotional materials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endParaRPr lang="en-US" sz="2800" dirty="0"/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They may be shared via social media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endParaRPr lang="en-US" sz="2800" dirty="0"/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Let us know if you do not wish to appear in them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92" y="0"/>
            <a:ext cx="3619202" cy="321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5488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room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lum/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4598" y="1214792"/>
            <a:ext cx="2057400" cy="2109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lum/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44069" y="1218672"/>
            <a:ext cx="2065318" cy="210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screen">
            <a:lum/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82002" y="3324613"/>
            <a:ext cx="2062071" cy="20601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roup 17"/>
          <p:cNvGrpSpPr/>
          <p:nvPr/>
        </p:nvGrpSpPr>
        <p:grpSpPr>
          <a:xfrm>
            <a:off x="8109390" y="3324613"/>
            <a:ext cx="2163293" cy="2060107"/>
            <a:chOff x="6585386" y="2770508"/>
            <a:chExt cx="2163293" cy="206207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>
              <a:lum/>
              <a:alphaModFix/>
            </a:blip>
            <a:srcRect/>
            <a:stretch>
              <a:fillRect/>
            </a:stretch>
          </p:blipFill>
          <p:spPr>
            <a:xfrm>
              <a:off x="6585386" y="2770508"/>
              <a:ext cx="2163293" cy="20620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>
              <a:lum/>
              <a:alphaModFix/>
            </a:blip>
            <a:srcRect/>
            <a:stretch>
              <a:fillRect/>
            </a:stretch>
          </p:blipFill>
          <p:spPr>
            <a:xfrm>
              <a:off x="7652748" y="3113493"/>
              <a:ext cx="666881" cy="6037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8">
              <a:lum/>
              <a:alphaModFix/>
            </a:blip>
            <a:srcRect/>
            <a:stretch>
              <a:fillRect/>
            </a:stretch>
          </p:blipFill>
          <p:spPr>
            <a:xfrm>
              <a:off x="7008888" y="3895300"/>
              <a:ext cx="657372" cy="59196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86210304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workstation – things to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USB flash drives work in Windows, not LINUX</a:t>
            </a:r>
          </a:p>
          <a:p>
            <a:endParaRPr lang="en-US" dirty="0"/>
          </a:p>
          <a:p>
            <a:r>
              <a:rPr lang="en-US" dirty="0"/>
              <a:t>Avoid connecting USB hard drives or mobile phones</a:t>
            </a:r>
          </a:p>
          <a:p>
            <a:endParaRPr lang="en-US" dirty="0"/>
          </a:p>
          <a:p>
            <a:r>
              <a:rPr lang="en-US" dirty="0"/>
              <a:t>Don’t connect to a VPN</a:t>
            </a:r>
          </a:p>
          <a:p>
            <a:endParaRPr lang="en-US" dirty="0"/>
          </a:p>
          <a:p>
            <a:r>
              <a:rPr lang="en-US" dirty="0"/>
              <a:t>Don’t close the LINUX connection session</a:t>
            </a:r>
          </a:p>
        </p:txBody>
      </p:sp>
    </p:spTree>
    <p:extLst>
      <p:ext uri="{BB962C8B-B14F-4D97-AF65-F5344CB8AC3E}">
        <p14:creationId xmlns:p14="http://schemas.microsoft.com/office/powerpoint/2010/main" val="1914225374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@</a:t>
            </a:r>
            <a:r>
              <a:rPr lang="en-US" dirty="0" err="1">
                <a:solidFill>
                  <a:schemeClr val="accent1"/>
                </a:solidFill>
              </a:rPr>
              <a:t>EBItraining</a:t>
            </a:r>
            <a:endParaRPr lang="en-US" dirty="0">
              <a:solidFill>
                <a:schemeClr val="accent1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Training news and events</a:t>
            </a:r>
          </a:p>
          <a:p>
            <a:r>
              <a:rPr lang="en-US" dirty="0">
                <a:solidFill>
                  <a:schemeClr val="accent1"/>
                </a:solidFill>
              </a:rPr>
              <a:t>@EMBLEBI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Institute news and research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facebook.com</a:t>
            </a:r>
            <a:r>
              <a:rPr lang="en-US" dirty="0">
                <a:solidFill>
                  <a:schemeClr val="accent1"/>
                </a:solidFill>
              </a:rPr>
              <a:t>/EMBLEBI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Events, pictures, and news</a:t>
            </a:r>
          </a:p>
        </p:txBody>
      </p:sp>
    </p:spTree>
    <p:extLst>
      <p:ext uri="{BB962C8B-B14F-4D97-AF65-F5344CB8AC3E}">
        <p14:creationId xmlns:p14="http://schemas.microsoft.com/office/powerpoint/2010/main" val="3603105564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Cancer Genomics 2018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641475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58800" y="304800"/>
            <a:ext cx="10871200" cy="762000"/>
          </a:xfrm>
        </p:spPr>
        <p:txBody>
          <a:bodyPr/>
          <a:lstStyle/>
          <a:p>
            <a:r>
              <a:rPr lang="en-GB" dirty="0" smtClean="0"/>
              <a:t>Course aims and outcomes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58800" y="1066800"/>
            <a:ext cx="108712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This course </a:t>
            </a:r>
            <a:r>
              <a:rPr lang="en-GB" dirty="0" smtClean="0"/>
              <a:t>focuses on </a:t>
            </a:r>
            <a:r>
              <a:rPr lang="en-GB" dirty="0"/>
              <a:t>the analysis of data from genomic studies of Cancer.  </a:t>
            </a:r>
            <a:r>
              <a:rPr lang="en-GB" dirty="0" smtClean="0"/>
              <a:t>It provides an </a:t>
            </a:r>
            <a:r>
              <a:rPr lang="en-GB" dirty="0"/>
              <a:t>insight into the </a:t>
            </a:r>
            <a:r>
              <a:rPr lang="en-GB" dirty="0" err="1"/>
              <a:t>bioinformatic</a:t>
            </a:r>
            <a:r>
              <a:rPr lang="en-GB" dirty="0"/>
              <a:t> concepts required to </a:t>
            </a:r>
            <a:r>
              <a:rPr lang="en-GB" dirty="0" err="1"/>
              <a:t>analyze</a:t>
            </a:r>
            <a:r>
              <a:rPr lang="en-GB" dirty="0"/>
              <a:t> such data, </a:t>
            </a:r>
            <a:r>
              <a:rPr lang="en-GB" dirty="0" smtClean="0"/>
              <a:t>and </a:t>
            </a:r>
            <a:r>
              <a:rPr lang="en-GB" dirty="0"/>
              <a:t>practical sessions will </a:t>
            </a:r>
            <a:r>
              <a:rPr lang="en-GB" dirty="0" smtClean="0"/>
              <a:t>enable participants </a:t>
            </a:r>
            <a:r>
              <a:rPr lang="en-GB" dirty="0"/>
              <a:t>to apply statistical methods to </a:t>
            </a:r>
            <a:r>
              <a:rPr lang="en-GB" dirty="0" smtClean="0"/>
              <a:t>the </a:t>
            </a:r>
            <a:r>
              <a:rPr lang="en-GB" dirty="0"/>
              <a:t>analysis of cancer genomics </a:t>
            </a:r>
            <a:r>
              <a:rPr lang="en-GB" dirty="0" smtClean="0"/>
              <a:t>data.</a:t>
            </a:r>
          </a:p>
          <a:p>
            <a:pPr marL="0" indent="0">
              <a:buNone/>
            </a:pPr>
            <a:r>
              <a:rPr lang="en-GB" dirty="0" smtClean="0"/>
              <a:t>Learning outcomes:</a:t>
            </a:r>
          </a:p>
          <a:p>
            <a:r>
              <a:rPr lang="en-GB" sz="2000" dirty="0"/>
              <a:t>Evaluate the applications and challenges of HTS in the study of cancer genomics</a:t>
            </a:r>
          </a:p>
          <a:p>
            <a:r>
              <a:rPr lang="en-GB" sz="2000" dirty="0"/>
              <a:t>Detect, visualise and annotate copy number variation</a:t>
            </a:r>
          </a:p>
          <a:p>
            <a:r>
              <a:rPr lang="en-GB" sz="2000" dirty="0"/>
              <a:t>Interpret complex genomic rearrangements such as structural variants</a:t>
            </a:r>
          </a:p>
          <a:p>
            <a:r>
              <a:rPr lang="en-GB" sz="2000" dirty="0"/>
              <a:t>Indicate the principles of tumour purity, heterogeneity and evolution and how these influence/impact upon bioinformatics analysis</a:t>
            </a:r>
          </a:p>
          <a:p>
            <a:r>
              <a:rPr lang="en-GB" sz="2000" dirty="0"/>
              <a:t>Perform alignment and quantification of expression of RNA-</a:t>
            </a:r>
            <a:r>
              <a:rPr lang="en-GB" sz="2000" dirty="0" err="1"/>
              <a:t>seq</a:t>
            </a:r>
            <a:r>
              <a:rPr lang="en-GB" sz="2000" dirty="0"/>
              <a:t> datasets</a:t>
            </a:r>
          </a:p>
          <a:p>
            <a:r>
              <a:rPr lang="en-GB" sz="2000" dirty="0"/>
              <a:t>Explore network deregulation in cancer</a:t>
            </a:r>
          </a:p>
          <a:p>
            <a:pPr marL="0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03393141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Programme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Link to </a:t>
            </a:r>
            <a:r>
              <a:rPr lang="en-GB" dirty="0" smtClean="0">
                <a:hlinkClick r:id="rId2"/>
              </a:rPr>
              <a:t>programme</a:t>
            </a:r>
            <a:endParaRPr lang="en-GB" dirty="0" smtClean="0"/>
          </a:p>
          <a:p>
            <a:endParaRPr lang="en-GB" dirty="0" smtClean="0"/>
          </a:p>
          <a:p>
            <a:pPr lvl="1"/>
            <a:r>
              <a:rPr lang="en-GB" dirty="0" smtClean="0"/>
              <a:t>Monday – SNV analysis; variant annotation and filtration</a:t>
            </a:r>
          </a:p>
          <a:p>
            <a:pPr lvl="1"/>
            <a:r>
              <a:rPr lang="en-GB" dirty="0" smtClean="0"/>
              <a:t>Tuesday – SV analysis; CNV analysis</a:t>
            </a:r>
          </a:p>
          <a:p>
            <a:pPr lvl="1"/>
            <a:r>
              <a:rPr lang="en-GB" dirty="0" smtClean="0"/>
              <a:t>Wednesday – Data visualisation; RNA-</a:t>
            </a:r>
            <a:r>
              <a:rPr lang="en-GB" dirty="0" err="1" smtClean="0"/>
              <a:t>Seq</a:t>
            </a:r>
            <a:r>
              <a:rPr lang="en-GB" dirty="0" smtClean="0"/>
              <a:t> analysis</a:t>
            </a:r>
          </a:p>
          <a:p>
            <a:pPr lvl="1"/>
            <a:r>
              <a:rPr lang="en-GB" dirty="0" smtClean="0"/>
              <a:t>Thursday – CRISPR-Cas9 editing for cancer dependencies; Cancer genomics in the cloud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266926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Enjoy the course!</a:t>
            </a:r>
          </a:p>
        </p:txBody>
      </p:sp>
    </p:spTree>
    <p:extLst>
      <p:ext uri="{BB962C8B-B14F-4D97-AF65-F5344CB8AC3E}">
        <p14:creationId xmlns:p14="http://schemas.microsoft.com/office/powerpoint/2010/main" val="1922904650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Leere Präsentation">
  <a:themeElements>
    <a:clrScheme name="">
      <a:dk1>
        <a:srgbClr val="000000"/>
      </a:dk1>
      <a:lt1>
        <a:srgbClr val="FFFFFF"/>
      </a:lt1>
      <a:dk2>
        <a:srgbClr val="007E82"/>
      </a:dk2>
      <a:lt2>
        <a:srgbClr val="7D7D7D"/>
      </a:lt2>
      <a:accent1>
        <a:srgbClr val="72AD46"/>
      </a:accent1>
      <a:accent2>
        <a:srgbClr val="DF001A"/>
      </a:accent2>
      <a:accent3>
        <a:srgbClr val="FFFFFF"/>
      </a:accent3>
      <a:accent4>
        <a:srgbClr val="000000"/>
      </a:accent4>
      <a:accent5>
        <a:srgbClr val="BCD3B0"/>
      </a:accent5>
      <a:accent6>
        <a:srgbClr val="CA0016"/>
      </a:accent6>
      <a:hlink>
        <a:srgbClr val="007E82"/>
      </a:hlink>
      <a:folHlink>
        <a:srgbClr val="72AD46"/>
      </a:folHlink>
    </a:clrScheme>
    <a:fontScheme name="Leere Prä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ere Präsentation 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DCDCDC"/>
        </a:lt1>
        <a:dk2>
          <a:srgbClr val="007E82"/>
        </a:dk2>
        <a:lt2>
          <a:srgbClr val="7D7D7D"/>
        </a:lt2>
        <a:accent1>
          <a:srgbClr val="72AD46"/>
        </a:accent1>
        <a:accent2>
          <a:srgbClr val="DF001A"/>
        </a:accent2>
        <a:accent3>
          <a:srgbClr val="EBEBEB"/>
        </a:accent3>
        <a:accent4>
          <a:srgbClr val="000000"/>
        </a:accent4>
        <a:accent5>
          <a:srgbClr val="BCD3B0"/>
        </a:accent5>
        <a:accent6>
          <a:srgbClr val="CA0016"/>
        </a:accent6>
        <a:hlink>
          <a:srgbClr val="007E82"/>
        </a:hlink>
        <a:folHlink>
          <a:srgbClr val="72AD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eere Präsentation">
  <a:themeElements>
    <a:clrScheme name="">
      <a:dk1>
        <a:srgbClr val="000000"/>
      </a:dk1>
      <a:lt1>
        <a:srgbClr val="FFFFFF"/>
      </a:lt1>
      <a:dk2>
        <a:srgbClr val="007E82"/>
      </a:dk2>
      <a:lt2>
        <a:srgbClr val="7D7D7D"/>
      </a:lt2>
      <a:accent1>
        <a:srgbClr val="72AD46"/>
      </a:accent1>
      <a:accent2>
        <a:srgbClr val="DF001A"/>
      </a:accent2>
      <a:accent3>
        <a:srgbClr val="FFFFFF"/>
      </a:accent3>
      <a:accent4>
        <a:srgbClr val="000000"/>
      </a:accent4>
      <a:accent5>
        <a:srgbClr val="BCD3B0"/>
      </a:accent5>
      <a:accent6>
        <a:srgbClr val="CA0016"/>
      </a:accent6>
      <a:hlink>
        <a:srgbClr val="007E82"/>
      </a:hlink>
      <a:folHlink>
        <a:srgbClr val="72AD46"/>
      </a:folHlink>
    </a:clrScheme>
    <a:fontScheme name="Leere Prä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ere Präsentation 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DCDCDC"/>
        </a:lt1>
        <a:dk2>
          <a:srgbClr val="007E82"/>
        </a:dk2>
        <a:lt2>
          <a:srgbClr val="7D7D7D"/>
        </a:lt2>
        <a:accent1>
          <a:srgbClr val="72AD46"/>
        </a:accent1>
        <a:accent2>
          <a:srgbClr val="DF001A"/>
        </a:accent2>
        <a:accent3>
          <a:srgbClr val="EBEBEB"/>
        </a:accent3>
        <a:accent4>
          <a:srgbClr val="000000"/>
        </a:accent4>
        <a:accent5>
          <a:srgbClr val="BCD3B0"/>
        </a:accent5>
        <a:accent6>
          <a:srgbClr val="CA0016"/>
        </a:accent6>
        <a:hlink>
          <a:srgbClr val="007E82"/>
        </a:hlink>
        <a:folHlink>
          <a:srgbClr val="72AD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4868</TotalTime>
  <Words>260</Words>
  <Application>Microsoft Office PowerPoint</Application>
  <PresentationFormat>Widescreen</PresentationFormat>
  <Paragraphs>74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ＭＳ Ｐゴシック</vt:lpstr>
      <vt:lpstr>Arial</vt:lpstr>
      <vt:lpstr>Calibri</vt:lpstr>
      <vt:lpstr>HelveticaNeueLT Pro 35 Th</vt:lpstr>
      <vt:lpstr>HelveticaNeueLT Pro 45 Lt</vt:lpstr>
      <vt:lpstr>Times</vt:lpstr>
      <vt:lpstr>Leere Präsentation</vt:lpstr>
      <vt:lpstr>1_Leere Präsentation</vt:lpstr>
      <vt:lpstr>Welcome to EMBL-EBI &amp; Cancer Genomics 2018</vt:lpstr>
      <vt:lpstr>Welcome to EMBL-EBI</vt:lpstr>
      <vt:lpstr>PowerPoint Presentation</vt:lpstr>
      <vt:lpstr>PowerPoint Presentation</vt:lpstr>
      <vt:lpstr>Fire Assembly: Car Park A  </vt:lpstr>
      <vt:lpstr>Breaks and lunch</vt:lpstr>
      <vt:lpstr>Please remember</vt:lpstr>
      <vt:lpstr>Training room</vt:lpstr>
      <vt:lpstr>Computer workstation – things to note</vt:lpstr>
      <vt:lpstr>Social Media</vt:lpstr>
      <vt:lpstr>Cancer Genomics 2018</vt:lpstr>
      <vt:lpstr>Course aims and outcomes</vt:lpstr>
      <vt:lpstr>Programme</vt:lpstr>
      <vt:lpstr>Enjoy the course!</vt:lpstr>
    </vt:vector>
  </TitlesOfParts>
  <Manager/>
  <Company>EMBL-EBI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Slides</dc:title>
  <dc:subject>Training Room Orientation</dc:subject>
  <dc:creator>Tom Hancocks</dc:creator>
  <cp:keywords/>
  <dc:description/>
  <cp:lastModifiedBy>r1u31</cp:lastModifiedBy>
  <cp:revision>213</cp:revision>
  <dcterms:created xsi:type="dcterms:W3CDTF">2012-11-02T14:35:31Z</dcterms:created>
  <dcterms:modified xsi:type="dcterms:W3CDTF">2018-06-18T07:23:36Z</dcterms:modified>
  <cp:category/>
</cp:coreProperties>
</file>