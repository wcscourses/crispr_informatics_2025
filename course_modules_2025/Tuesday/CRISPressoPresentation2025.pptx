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74" r:id="rId3"/>
    <p:sldId id="257" r:id="rId4"/>
    <p:sldId id="270" r:id="rId5"/>
    <p:sldId id="258" r:id="rId6"/>
    <p:sldId id="277" r:id="rId7"/>
    <p:sldId id="259" r:id="rId8"/>
    <p:sldId id="260" r:id="rId9"/>
    <p:sldId id="261" r:id="rId10"/>
    <p:sldId id="264" r:id="rId11"/>
    <p:sldId id="265" r:id="rId12"/>
    <p:sldId id="266" r:id="rId13"/>
    <p:sldId id="262" r:id="rId14"/>
    <p:sldId id="263" r:id="rId15"/>
    <p:sldId id="268" r:id="rId16"/>
    <p:sldId id="269" r:id="rId17"/>
    <p:sldId id="275" r:id="rId18"/>
    <p:sldId id="276" r:id="rId19"/>
    <p:sldId id="272" r:id="rId20"/>
    <p:sldId id="273" r:id="rId21"/>
    <p:sldId id="278" r:id="rId22"/>
    <p:sldId id="271" r:id="rId23"/>
    <p:sldId id="26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97DC"/>
    <a:srgbClr val="143C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35"/>
    <p:restoredTop sz="94561"/>
  </p:normalViewPr>
  <p:slideViewPr>
    <p:cSldViewPr snapToGrid="0">
      <p:cViewPr varScale="1">
        <p:scale>
          <a:sx n="96" d="100"/>
          <a:sy n="96" d="100"/>
        </p:scale>
        <p:origin x="168" y="6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EFD5F-F5A4-1245-8F9C-A02068A4C75A}" type="datetimeFigureOut">
              <a:rPr lang="en-US" smtClean="0"/>
              <a:t>7/29/25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D21AD8-91A5-D746-98C2-FE7D69A411D9}" type="slidenum">
              <a:rPr lang="en-US" smtClean="0"/>
              <a:t>‹#›</a:t>
            </a:fld>
            <a:endParaRPr lang="en-US"/>
          </a:p>
        </p:txBody>
      </p:sp>
    </p:spTree>
    <p:extLst>
      <p:ext uri="{BB962C8B-B14F-4D97-AF65-F5344CB8AC3E}">
        <p14:creationId xmlns:p14="http://schemas.microsoft.com/office/powerpoint/2010/main" val="1980769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0D21AD8-91A5-D746-98C2-FE7D69A411D9}" type="slidenum">
              <a:rPr lang="en-US" smtClean="0"/>
              <a:t>15</a:t>
            </a:fld>
            <a:endParaRPr lang="en-US"/>
          </a:p>
        </p:txBody>
      </p:sp>
    </p:spTree>
    <p:extLst>
      <p:ext uri="{BB962C8B-B14F-4D97-AF65-F5344CB8AC3E}">
        <p14:creationId xmlns:p14="http://schemas.microsoft.com/office/powerpoint/2010/main" val="4282471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49296-02B9-9FF7-C5F2-5BA7AD0DB0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5E6AFFE-C1DA-BE44-A164-41EB1271D8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D885E3C-0466-0A59-D763-7E366974EC3A}"/>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5" name="Footer Placeholder 4">
            <a:extLst>
              <a:ext uri="{FF2B5EF4-FFF2-40B4-BE49-F238E27FC236}">
                <a16:creationId xmlns:a16="http://schemas.microsoft.com/office/drawing/2014/main" id="{F7582206-A686-A8E1-F7C2-F3FC5C3E0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C02C1-B132-EBB3-FB7C-7F45B78D7C03}"/>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2249136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136D-697F-DEE5-937A-4B4F8896AFD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377E5CA-3E66-220D-E5E4-40AC21E0D47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707666-91C6-3176-8E0B-0884E4F90F14}"/>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5" name="Footer Placeholder 4">
            <a:extLst>
              <a:ext uri="{FF2B5EF4-FFF2-40B4-BE49-F238E27FC236}">
                <a16:creationId xmlns:a16="http://schemas.microsoft.com/office/drawing/2014/main" id="{C680AB68-DE03-0E9B-F529-E6BAC0412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BBE7CF-2EF7-E890-C57E-55760A167BCD}"/>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1737562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6A1A5-BC6D-D4FF-50F9-11ED1768250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6DFE273-7EDA-1AA3-109E-073DED525A6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7D22B2A-BBA2-1FD1-6E67-DA519A99BA39}"/>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5" name="Footer Placeholder 4">
            <a:extLst>
              <a:ext uri="{FF2B5EF4-FFF2-40B4-BE49-F238E27FC236}">
                <a16:creationId xmlns:a16="http://schemas.microsoft.com/office/drawing/2014/main" id="{EE80F693-E2DF-07AA-4633-52D3193360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9279E-49A2-9D01-FF49-9CB65A69408A}"/>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1837638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98B9-8CAF-8579-E5C3-64E59A6AB02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2E087D1-F22B-8E93-2389-4EB5E0B92CB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8355117-093F-A234-D4E0-0260E8E0B17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A4A0569-EA1C-F288-09FF-32F2DD13382A}"/>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6" name="Footer Placeholder 5">
            <a:extLst>
              <a:ext uri="{FF2B5EF4-FFF2-40B4-BE49-F238E27FC236}">
                <a16:creationId xmlns:a16="http://schemas.microsoft.com/office/drawing/2014/main" id="{C43D1349-ED58-48CA-EACD-1212503630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7C4E05-B559-E072-8310-97CC06A9B879}"/>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2949288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5E830-9942-0498-284A-831B3567C6F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8DDBDCA-453F-3228-34A7-B5788B9396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3CD3E3C-12B0-8A67-7FDA-3C011ADABF4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7A57226-ED1E-E56C-08AB-94D8FEED8D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1BD838B-AFD3-F424-0347-960F53BD512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1D31DC2-B3F7-E373-4AAF-4ED3A486B7C4}"/>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8" name="Footer Placeholder 7">
            <a:extLst>
              <a:ext uri="{FF2B5EF4-FFF2-40B4-BE49-F238E27FC236}">
                <a16:creationId xmlns:a16="http://schemas.microsoft.com/office/drawing/2014/main" id="{CFF0BB7F-D507-A292-1B6F-C0F3745C73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1A6A15-02BA-5DD1-DDBE-02EB121EF7C4}"/>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1201925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5C51-8C26-0F2D-9217-24839A6FBE3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52FB5CB-73EF-5B38-5635-2903882FB6F6}"/>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4" name="Footer Placeholder 3">
            <a:extLst>
              <a:ext uri="{FF2B5EF4-FFF2-40B4-BE49-F238E27FC236}">
                <a16:creationId xmlns:a16="http://schemas.microsoft.com/office/drawing/2014/main" id="{B2502312-FABF-DC6F-CF03-4909D0FA1C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527748-7347-8AC0-0635-2EFBCABCC60D}"/>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3025402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853FFF-4C1E-A6F3-344C-9D0D8C012702}"/>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3" name="Footer Placeholder 2">
            <a:extLst>
              <a:ext uri="{FF2B5EF4-FFF2-40B4-BE49-F238E27FC236}">
                <a16:creationId xmlns:a16="http://schemas.microsoft.com/office/drawing/2014/main" id="{F5AA3944-1CC8-4B9A-042E-5AA555E0C5F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6C73BA-27FB-C497-252A-A0B866CE6CE0}"/>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4158850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DC8EC-CEAC-4870-251F-2E684A450CD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5316608-DB52-96BA-F560-F72A7E0583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D1F1BA4-30DF-3BDC-35A7-1775D5BF87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23D8EA1-0C86-283F-B5ED-6F42E247036B}"/>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6" name="Footer Placeholder 5">
            <a:extLst>
              <a:ext uri="{FF2B5EF4-FFF2-40B4-BE49-F238E27FC236}">
                <a16:creationId xmlns:a16="http://schemas.microsoft.com/office/drawing/2014/main" id="{33627155-5231-4D8D-02C9-01D988614A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25ABD6-2C49-B9A5-167E-45FE1171A04C}"/>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366279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25C5D-363B-F849-DE5E-9645FE304E2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C9D7007-22FE-2741-CC41-EBAF2C3EB2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E21DB6-CB2E-2C7C-405C-C96ED6133A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CDF3F3B-A3C8-844A-4109-F5E358A397C1}"/>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6" name="Footer Placeholder 5">
            <a:extLst>
              <a:ext uri="{FF2B5EF4-FFF2-40B4-BE49-F238E27FC236}">
                <a16:creationId xmlns:a16="http://schemas.microsoft.com/office/drawing/2014/main" id="{EF22FB85-3597-11EA-A54F-71B565FF4D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14B9B9-3219-C97E-A329-C97FFE14EB0E}"/>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467076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8492F-761D-86F7-BEBA-D352102498B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FED4E2-D354-7C15-BE26-14BAC2B5585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87290E-3F6F-DD45-15B3-C332BC1AED41}"/>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5" name="Footer Placeholder 4">
            <a:extLst>
              <a:ext uri="{FF2B5EF4-FFF2-40B4-BE49-F238E27FC236}">
                <a16:creationId xmlns:a16="http://schemas.microsoft.com/office/drawing/2014/main" id="{1B289377-E657-DCB2-312C-442039E6F9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FD7F63-6F5B-9F15-BA01-F31C107F6EB5}"/>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870073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7DD78D-4B1E-F459-B055-E5EA15D1512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2642B88-A4B7-D1F7-C6F2-45EAE1EF116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D7CBEAE-7502-F283-EC5A-40CB8B8D6E63}"/>
              </a:ext>
            </a:extLst>
          </p:cNvPr>
          <p:cNvSpPr>
            <a:spLocks noGrp="1"/>
          </p:cNvSpPr>
          <p:nvPr>
            <p:ph type="dt" sz="half" idx="10"/>
          </p:nvPr>
        </p:nvSpPr>
        <p:spPr/>
        <p:txBody>
          <a:bodyPr/>
          <a:lstStyle/>
          <a:p>
            <a:fld id="{1B00894A-1771-174D-B58F-C99B1B3C1FF0}" type="datetimeFigureOut">
              <a:rPr lang="en-US" smtClean="0"/>
              <a:t>7/29/25</a:t>
            </a:fld>
            <a:endParaRPr lang="en-US"/>
          </a:p>
        </p:txBody>
      </p:sp>
      <p:sp>
        <p:nvSpPr>
          <p:cNvPr id="5" name="Footer Placeholder 4">
            <a:extLst>
              <a:ext uri="{FF2B5EF4-FFF2-40B4-BE49-F238E27FC236}">
                <a16:creationId xmlns:a16="http://schemas.microsoft.com/office/drawing/2014/main" id="{0713A05D-5AE4-52E6-9DE7-E9600FEF6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887EB8-606D-F1D9-7660-D3C341C77CF0}"/>
              </a:ext>
            </a:extLst>
          </p:cNvPr>
          <p:cNvSpPr>
            <a:spLocks noGrp="1"/>
          </p:cNvSpPr>
          <p:nvPr>
            <p:ph type="sldNum" sz="quarter" idx="12"/>
          </p:nvPr>
        </p:nvSpPr>
        <p:spPr/>
        <p:txBody>
          <a:bodyPr/>
          <a:lstStyle/>
          <a:p>
            <a:fld id="{B0D17F53-96CC-BE4C-B88F-B1B3E5A8B7A6}" type="slidenum">
              <a:rPr lang="en-US" smtClean="0"/>
              <a:t>‹#›</a:t>
            </a:fld>
            <a:endParaRPr lang="en-US"/>
          </a:p>
        </p:txBody>
      </p:sp>
    </p:spTree>
    <p:extLst>
      <p:ext uri="{BB962C8B-B14F-4D97-AF65-F5344CB8AC3E}">
        <p14:creationId xmlns:p14="http://schemas.microsoft.com/office/powerpoint/2010/main" val="3231402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AD7C7E-63A2-550A-0223-9EBB94C5B2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EBB166-A162-B073-58B4-CDD8A8F66A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F8A5169-3E88-8D59-1AE8-2194FF02CF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00894A-1771-174D-B58F-C99B1B3C1FF0}" type="datetimeFigureOut">
              <a:rPr lang="en-US" smtClean="0"/>
              <a:t>7/29/25</a:t>
            </a:fld>
            <a:endParaRPr lang="en-US"/>
          </a:p>
        </p:txBody>
      </p:sp>
      <p:sp>
        <p:nvSpPr>
          <p:cNvPr id="5" name="Footer Placeholder 4">
            <a:extLst>
              <a:ext uri="{FF2B5EF4-FFF2-40B4-BE49-F238E27FC236}">
                <a16:creationId xmlns:a16="http://schemas.microsoft.com/office/drawing/2014/main" id="{FE63DB2C-B991-4D1F-0AC7-B9DF3A7077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23E922-67D7-04C0-986F-4B648E907F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D17F53-96CC-BE4C-B88F-B1B3E5A8B7A6}" type="slidenum">
              <a:rPr lang="en-US" smtClean="0"/>
              <a:t>‹#›</a:t>
            </a:fld>
            <a:endParaRPr lang="en-US"/>
          </a:p>
        </p:txBody>
      </p:sp>
    </p:spTree>
    <p:extLst>
      <p:ext uri="{BB962C8B-B14F-4D97-AF65-F5344CB8AC3E}">
        <p14:creationId xmlns:p14="http://schemas.microsoft.com/office/powerpoint/2010/main" val="18025827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svg"/><Relationship Id="rId7"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jpeg"/><Relationship Id="rId11" Type="http://schemas.openxmlformats.org/officeDocument/2006/relationships/image" Target="../media/image19.pn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bioconda.github.io/" TargetMode="External"/><Relationship Id="rId2" Type="http://schemas.openxmlformats.org/officeDocument/2006/relationships/hyperlink" Target="http://conda.pydata.org/docs/intro.html"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2.png"/><Relationship Id="rId4" Type="http://schemas.openxmlformats.org/officeDocument/2006/relationships/hyperlink" Target="https://www.docker.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9.jpg"/><Relationship Id="rId1" Type="http://schemas.openxmlformats.org/officeDocument/2006/relationships/slideLayout" Target="../slideLayouts/slideLayout2.xml"/><Relationship Id="rId6" Type="http://schemas.openxmlformats.org/officeDocument/2006/relationships/hyperlink" Target="https://www.linkedin.com/in/khalidakram/" TargetMode="External"/><Relationship Id="rId5" Type="http://schemas.openxmlformats.org/officeDocument/2006/relationships/image" Target="../media/image3.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1A7865D-629D-1D0B-639F-BE0F13A7083D}"/>
              </a:ext>
            </a:extLst>
          </p:cNvPr>
          <p:cNvSpPr>
            <a:spLocks noGrp="1"/>
          </p:cNvSpPr>
          <p:nvPr>
            <p:ph type="ctrTitle"/>
          </p:nvPr>
        </p:nvSpPr>
        <p:spPr>
          <a:xfrm>
            <a:off x="531541" y="34957"/>
            <a:ext cx="9144000" cy="1286060"/>
          </a:xfrm>
        </p:spPr>
        <p:txBody>
          <a:bodyPr/>
          <a:lstStyle/>
          <a:p>
            <a:r>
              <a:rPr lang="en-US" dirty="0">
                <a:solidFill>
                  <a:srgbClr val="002060"/>
                </a:solidFill>
              </a:rPr>
              <a:t>CRISPResso2</a:t>
            </a:r>
          </a:p>
        </p:txBody>
      </p:sp>
      <p:pic>
        <p:nvPicPr>
          <p:cNvPr id="7" name="Picture 2">
            <a:extLst>
              <a:ext uri="{FF2B5EF4-FFF2-40B4-BE49-F238E27FC236}">
                <a16:creationId xmlns:a16="http://schemas.microsoft.com/office/drawing/2014/main" id="{6AA43D14-F627-6141-2780-60EF794986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758" y="1731337"/>
            <a:ext cx="4200350" cy="446874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241CE602-884D-48E6-3843-94FEA6A733D8}"/>
              </a:ext>
            </a:extLst>
          </p:cNvPr>
          <p:cNvSpPr txBox="1"/>
          <p:nvPr/>
        </p:nvSpPr>
        <p:spPr>
          <a:xfrm>
            <a:off x="6159632" y="2950045"/>
            <a:ext cx="4306957" cy="2123658"/>
          </a:xfrm>
          <a:prstGeom prst="rect">
            <a:avLst/>
          </a:prstGeom>
          <a:noFill/>
        </p:spPr>
        <p:txBody>
          <a:bodyPr wrap="square" rtlCol="0">
            <a:spAutoFit/>
          </a:bodyPr>
          <a:lstStyle/>
          <a:p>
            <a:endParaRPr lang="en-US" b="1" dirty="0"/>
          </a:p>
          <a:p>
            <a:r>
              <a:rPr lang="en-US" sz="2400" b="1" dirty="0"/>
              <a:t>Khalid Akram</a:t>
            </a:r>
          </a:p>
          <a:p>
            <a:r>
              <a:rPr lang="en-US" sz="1800" dirty="0"/>
              <a:t>4</a:t>
            </a:r>
            <a:r>
              <a:rPr lang="en-US" sz="1800" baseline="30000" dirty="0"/>
              <a:t>th</a:t>
            </a:r>
            <a:r>
              <a:rPr lang="en-US" sz="1800" dirty="0"/>
              <a:t> year </a:t>
            </a:r>
            <a:r>
              <a:rPr lang="en-US" sz="1800" dirty="0" err="1"/>
              <a:t>Ph.D</a:t>
            </a:r>
            <a:r>
              <a:rPr lang="en-US" sz="1800" dirty="0"/>
              <a:t> Biotechnology,</a:t>
            </a:r>
          </a:p>
          <a:p>
            <a:r>
              <a:rPr lang="en-US" sz="1800" dirty="0"/>
              <a:t>Genome Engineering Laboratory, University of Westminster, London.</a:t>
            </a:r>
          </a:p>
          <a:p>
            <a:endParaRPr lang="en-US" b="1" dirty="0"/>
          </a:p>
          <a:p>
            <a:r>
              <a:rPr lang="en-US" dirty="0"/>
              <a:t>Tuesday 29</a:t>
            </a:r>
            <a:r>
              <a:rPr lang="en-US" baseline="30000" dirty="0"/>
              <a:t>th</a:t>
            </a:r>
            <a:r>
              <a:rPr lang="en-US" dirty="0"/>
              <a:t> July 2025</a:t>
            </a:r>
          </a:p>
        </p:txBody>
      </p:sp>
      <p:grpSp>
        <p:nvGrpSpPr>
          <p:cNvPr id="2" name="Group 1">
            <a:extLst>
              <a:ext uri="{FF2B5EF4-FFF2-40B4-BE49-F238E27FC236}">
                <a16:creationId xmlns:a16="http://schemas.microsoft.com/office/drawing/2014/main" id="{5BA5FE50-4907-9911-0C40-6872ECEAF99F}"/>
              </a:ext>
            </a:extLst>
          </p:cNvPr>
          <p:cNvGrpSpPr/>
          <p:nvPr/>
        </p:nvGrpSpPr>
        <p:grpSpPr>
          <a:xfrm>
            <a:off x="8137067" y="341201"/>
            <a:ext cx="4025681" cy="825137"/>
            <a:chOff x="8137067" y="341201"/>
            <a:chExt cx="4025681" cy="825137"/>
          </a:xfrm>
        </p:grpSpPr>
        <p:pic>
          <p:nvPicPr>
            <p:cNvPr id="9" name="Picture 8" descr="Text&#10;&#10;Description automatically generated with medium confidence">
              <a:extLst>
                <a:ext uri="{FF2B5EF4-FFF2-40B4-BE49-F238E27FC236}">
                  <a16:creationId xmlns:a16="http://schemas.microsoft.com/office/drawing/2014/main" id="{31F1FA14-691E-F9B5-52B0-E4F9558CDB00}"/>
                </a:ext>
              </a:extLst>
            </p:cNvPr>
            <p:cNvPicPr>
              <a:picLocks noChangeAspect="1"/>
            </p:cNvPicPr>
            <p:nvPr/>
          </p:nvPicPr>
          <p:blipFill>
            <a:blip r:embed="rId3"/>
            <a:stretch>
              <a:fillRect/>
            </a:stretch>
          </p:blipFill>
          <p:spPr>
            <a:xfrm>
              <a:off x="8137067" y="344946"/>
              <a:ext cx="2329522" cy="821392"/>
            </a:xfrm>
            <a:prstGeom prst="rect">
              <a:avLst/>
            </a:prstGeom>
          </p:spPr>
        </p:pic>
        <p:pic>
          <p:nvPicPr>
            <p:cNvPr id="10" name="Picture 4" descr="Image preview">
              <a:extLst>
                <a:ext uri="{FF2B5EF4-FFF2-40B4-BE49-F238E27FC236}">
                  <a16:creationId xmlns:a16="http://schemas.microsoft.com/office/drawing/2014/main" id="{F2854494-45D2-86BE-7373-18BAA60615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24969" y="341201"/>
              <a:ext cx="1637779" cy="82139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577635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D93C9-BF76-42E0-C7D8-D00C78CE9A46}"/>
              </a:ext>
            </a:extLst>
          </p:cNvPr>
          <p:cNvSpPr>
            <a:spLocks noGrp="1"/>
          </p:cNvSpPr>
          <p:nvPr>
            <p:ph type="title"/>
          </p:nvPr>
        </p:nvSpPr>
        <p:spPr>
          <a:xfrm>
            <a:off x="349102" y="6013413"/>
            <a:ext cx="3691270" cy="576199"/>
          </a:xfrm>
        </p:spPr>
        <p:txBody>
          <a:bodyPr>
            <a:normAutofit/>
          </a:bodyPr>
          <a:lstStyle/>
          <a:p>
            <a:r>
              <a:rPr lang="en-US" sz="3200" b="1" i="1" dirty="0">
                <a:solidFill>
                  <a:srgbClr val="143C61"/>
                </a:solidFill>
              </a:rPr>
              <a:t>the journey so far ...</a:t>
            </a:r>
          </a:p>
        </p:txBody>
      </p:sp>
      <p:sp>
        <p:nvSpPr>
          <p:cNvPr id="3" name="Content Placeholder 2">
            <a:extLst>
              <a:ext uri="{FF2B5EF4-FFF2-40B4-BE49-F238E27FC236}">
                <a16:creationId xmlns:a16="http://schemas.microsoft.com/office/drawing/2014/main" id="{63EF6699-B551-70C1-9C29-A216420D0F28}"/>
              </a:ext>
            </a:extLst>
          </p:cNvPr>
          <p:cNvSpPr>
            <a:spLocks noGrp="1"/>
          </p:cNvSpPr>
          <p:nvPr>
            <p:ph idx="1"/>
          </p:nvPr>
        </p:nvSpPr>
        <p:spPr>
          <a:xfrm>
            <a:off x="349102" y="382683"/>
            <a:ext cx="8667307" cy="5288089"/>
          </a:xfrm>
        </p:spPr>
        <p:txBody>
          <a:bodyPr>
            <a:normAutofit fontScale="55000" lnSpcReduction="20000"/>
          </a:bodyPr>
          <a:lstStyle/>
          <a:p>
            <a:pPr marL="0" indent="0">
              <a:buNone/>
            </a:pPr>
            <a:r>
              <a:rPr lang="en-US" sz="2900" b="1" dirty="0">
                <a:solidFill>
                  <a:srgbClr val="0070C0"/>
                </a:solidFill>
              </a:rPr>
              <a:t>1992 – 2017 Freelance Software Engineer / Technical Team lead</a:t>
            </a:r>
          </a:p>
          <a:p>
            <a:pPr marL="0" indent="0">
              <a:lnSpc>
                <a:spcPct val="120000"/>
              </a:lnSpc>
              <a:buNone/>
            </a:pPr>
            <a:r>
              <a:rPr lang="en-US" sz="2000" dirty="0"/>
              <a:t>Java / C/C++ / Perl / HTML/CSS, SQL, full stack developer, SCRUM Master. Clients: </a:t>
            </a:r>
            <a:r>
              <a:rPr lang="en-US" sz="2000" dirty="0" err="1"/>
              <a:t>Economist.com</a:t>
            </a:r>
            <a:r>
              <a:rPr lang="en-US" sz="2000" dirty="0"/>
              <a:t>, Royal Bank of Scotland, Credit Suisse, TAG Worldwide, Ocado, Royal Navy. Experiments with Blockchain/Crypto and FX.</a:t>
            </a:r>
          </a:p>
          <a:p>
            <a:pPr marL="0" indent="0">
              <a:buNone/>
            </a:pPr>
            <a:endParaRPr lang="en-US" sz="1400" dirty="0"/>
          </a:p>
          <a:p>
            <a:pPr marL="0" indent="0">
              <a:buNone/>
            </a:pPr>
            <a:r>
              <a:rPr lang="en-US" sz="2900" b="1" dirty="0">
                <a:solidFill>
                  <a:srgbClr val="0070C0"/>
                </a:solidFill>
              </a:rPr>
              <a:t>2018 – 2022 BSc Biological Sciences </a:t>
            </a:r>
          </a:p>
          <a:p>
            <a:pPr marL="0" indent="0">
              <a:lnSpc>
                <a:spcPct val="120000"/>
              </a:lnSpc>
              <a:buNone/>
            </a:pPr>
            <a:r>
              <a:rPr lang="en-US" sz="2000" dirty="0"/>
              <a:t>CRISPR/Cas9, </a:t>
            </a:r>
            <a:r>
              <a:rPr lang="en-US" sz="2000" b="1" dirty="0">
                <a:solidFill>
                  <a:srgbClr val="FF0000"/>
                </a:solidFill>
              </a:rPr>
              <a:t>sickle cell disease</a:t>
            </a:r>
            <a:r>
              <a:rPr lang="en-US" sz="2000" dirty="0"/>
              <a:t> cure (in 2018 first human trials were being considered), editing mosquito DNA to change </a:t>
            </a:r>
            <a:r>
              <a:rPr lang="en-US" sz="2000" b="1" dirty="0">
                <a:solidFill>
                  <a:srgbClr val="FF0000"/>
                </a:solidFill>
              </a:rPr>
              <a:t>eye </a:t>
            </a:r>
            <a:r>
              <a:rPr lang="en-US" sz="2000" b="1" dirty="0" err="1">
                <a:solidFill>
                  <a:srgbClr val="FF0000"/>
                </a:solidFill>
              </a:rPr>
              <a:t>colour</a:t>
            </a:r>
            <a:r>
              <a:rPr lang="en-US" sz="2000" dirty="0"/>
              <a:t>, Dr He </a:t>
            </a:r>
            <a:r>
              <a:rPr lang="en-US" sz="2000" dirty="0" err="1"/>
              <a:t>Jianku</a:t>
            </a:r>
            <a:r>
              <a:rPr lang="en-US" sz="2000" dirty="0"/>
              <a:t> twins controversy, introduced to Dr Kalpana and the Genome Engineering Laboratory)</a:t>
            </a:r>
          </a:p>
          <a:p>
            <a:pPr marL="0" indent="0">
              <a:lnSpc>
                <a:spcPct val="120000"/>
              </a:lnSpc>
              <a:buNone/>
            </a:pPr>
            <a:endParaRPr lang="en-US" sz="1400" dirty="0"/>
          </a:p>
          <a:p>
            <a:pPr marL="0" indent="0">
              <a:buNone/>
            </a:pPr>
            <a:r>
              <a:rPr lang="en-US" sz="2900" b="1" dirty="0">
                <a:solidFill>
                  <a:srgbClr val="0070C0"/>
                </a:solidFill>
              </a:rPr>
              <a:t>2020 – 2021 The Gene Editors of The Future </a:t>
            </a:r>
            <a:r>
              <a:rPr lang="en-US" sz="2900" b="1" dirty="0" err="1">
                <a:solidFill>
                  <a:srgbClr val="0070C0"/>
                </a:solidFill>
              </a:rPr>
              <a:t>programme</a:t>
            </a:r>
            <a:r>
              <a:rPr lang="en-US" sz="2900" b="1" dirty="0">
                <a:solidFill>
                  <a:srgbClr val="0070C0"/>
                </a:solidFill>
              </a:rPr>
              <a:t> (first iteration)</a:t>
            </a:r>
          </a:p>
          <a:p>
            <a:pPr marL="0" indent="0">
              <a:lnSpc>
                <a:spcPct val="120000"/>
              </a:lnSpc>
              <a:buNone/>
            </a:pPr>
            <a:r>
              <a:rPr lang="en-US" sz="2000" dirty="0"/>
              <a:t>Designed guides with a plan to </a:t>
            </a:r>
            <a:r>
              <a:rPr lang="en-US" sz="2000" b="1" dirty="0">
                <a:solidFill>
                  <a:srgbClr val="FF0000"/>
                </a:solidFill>
              </a:rPr>
              <a:t>target multiple sites </a:t>
            </a:r>
            <a:r>
              <a:rPr lang="en-US" sz="2000" dirty="0"/>
              <a:t>in the Q-arm of chromosome 14. Covid prevented us from working in the laboratory during that period.</a:t>
            </a:r>
          </a:p>
          <a:p>
            <a:pPr marL="0" indent="0">
              <a:lnSpc>
                <a:spcPct val="120000"/>
              </a:lnSpc>
              <a:buNone/>
            </a:pPr>
            <a:endParaRPr lang="en-US" sz="2000" dirty="0"/>
          </a:p>
          <a:p>
            <a:pPr marL="0" indent="0">
              <a:buNone/>
            </a:pPr>
            <a:r>
              <a:rPr lang="en-US" sz="2900" b="1" dirty="0">
                <a:solidFill>
                  <a:srgbClr val="0070C0"/>
                </a:solidFill>
              </a:rPr>
              <a:t>2021-2022 – final year project</a:t>
            </a:r>
          </a:p>
          <a:p>
            <a:pPr marL="0" indent="0">
              <a:buNone/>
            </a:pPr>
            <a:r>
              <a:rPr lang="en-US" sz="2000" dirty="0"/>
              <a:t>Developed a CRISPR based tool for </a:t>
            </a:r>
            <a:r>
              <a:rPr lang="en-US" sz="2000" b="1" dirty="0">
                <a:solidFill>
                  <a:srgbClr val="FF0000"/>
                </a:solidFill>
              </a:rPr>
              <a:t>detection and diagnosis</a:t>
            </a:r>
            <a:r>
              <a:rPr lang="en-US" sz="2000" dirty="0"/>
              <a:t> of Influenza A virus</a:t>
            </a:r>
          </a:p>
          <a:p>
            <a:pPr marL="0" indent="0">
              <a:buNone/>
            </a:pPr>
            <a:endParaRPr lang="en-US" sz="1600" dirty="0"/>
          </a:p>
          <a:p>
            <a:pPr marL="0" indent="0">
              <a:buNone/>
            </a:pPr>
            <a:r>
              <a:rPr lang="en-US" sz="2900" b="1" dirty="0">
                <a:solidFill>
                  <a:srgbClr val="0070C0"/>
                </a:solidFill>
              </a:rPr>
              <a:t>2022 – present – PhD Biotechnology </a:t>
            </a:r>
          </a:p>
          <a:p>
            <a:pPr marL="0" indent="0">
              <a:lnSpc>
                <a:spcPct val="120000"/>
              </a:lnSpc>
              <a:buNone/>
            </a:pPr>
            <a:r>
              <a:rPr lang="en-GB" sz="2000" dirty="0"/>
              <a:t>Investigating the genomic and functional consequences of CRISPR/Cas9-mediated </a:t>
            </a:r>
            <a:r>
              <a:rPr lang="en-GB" sz="2000" b="1" i="1" dirty="0">
                <a:solidFill>
                  <a:srgbClr val="FF0000"/>
                </a:solidFill>
              </a:rPr>
              <a:t>ZFP36L1</a:t>
            </a:r>
            <a:r>
              <a:rPr lang="en-GB" sz="2000" b="1" dirty="0">
                <a:solidFill>
                  <a:srgbClr val="FF0000"/>
                </a:solidFill>
              </a:rPr>
              <a:t> knockout </a:t>
            </a:r>
            <a:r>
              <a:rPr lang="en-GB" sz="2000" dirty="0"/>
              <a:t>in MCF-7 breast cancer cells. My research focuses on how loss of this RNA-binding protein (known for regulating mRNA stability) impacts replication stress, mutational burden, and genome integrity, particularly under treatment of replication stress inducing agents. Using whole-genome sequencing, bioinformatics, and cell culture models, I explore </a:t>
            </a:r>
            <a:r>
              <a:rPr lang="en-GB" sz="2000" i="1" dirty="0"/>
              <a:t>ZFP36L1</a:t>
            </a:r>
            <a:r>
              <a:rPr lang="en-GB" sz="2000" dirty="0"/>
              <a:t>’s role as a potential genome guardian and cancer vulnerability factor.</a:t>
            </a:r>
            <a:r>
              <a:rPr lang="en-US" sz="2000" dirty="0"/>
              <a:t>.</a:t>
            </a:r>
          </a:p>
        </p:txBody>
      </p:sp>
      <p:pic>
        <p:nvPicPr>
          <p:cNvPr id="1026" name="Picture 2" descr="How to become a software engineer">
            <a:extLst>
              <a:ext uri="{FF2B5EF4-FFF2-40B4-BE49-F238E27FC236}">
                <a16:creationId xmlns:a16="http://schemas.microsoft.com/office/drawing/2014/main" id="{5FFC3D4A-2514-7EC8-C4E5-49EA0D31D0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9820404" y="82058"/>
            <a:ext cx="2022493" cy="11373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ckle cell disease: What you should know | NIH MedlinePlus Magazine">
            <a:extLst>
              <a:ext uri="{FF2B5EF4-FFF2-40B4-BE49-F238E27FC236}">
                <a16:creationId xmlns:a16="http://schemas.microsoft.com/office/drawing/2014/main" id="{02292162-3723-2F91-1A5E-5056959DB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20404" y="1377863"/>
            <a:ext cx="2022493" cy="12114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What is CRISPR/Cas9? | ADC Education &amp; Practice Edition">
            <a:extLst>
              <a:ext uri="{FF2B5EF4-FFF2-40B4-BE49-F238E27FC236}">
                <a16:creationId xmlns:a16="http://schemas.microsoft.com/office/drawing/2014/main" id="{ADB7EA2A-71F6-351D-5D93-C99136CFF6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9820403" y="2747754"/>
            <a:ext cx="2030485" cy="113738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Influenza A Virus: An Overview">
            <a:extLst>
              <a:ext uri="{FF2B5EF4-FFF2-40B4-BE49-F238E27FC236}">
                <a16:creationId xmlns:a16="http://schemas.microsoft.com/office/drawing/2014/main" id="{6DD0FC57-76CA-31AA-564F-A7A7CDA134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0403" y="4043558"/>
            <a:ext cx="1989714" cy="10420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Breast Cancer Awareness Month 2024 - MHC">
            <a:extLst>
              <a:ext uri="{FF2B5EF4-FFF2-40B4-BE49-F238E27FC236}">
                <a16:creationId xmlns:a16="http://schemas.microsoft.com/office/drawing/2014/main" id="{6D0A78B2-03EB-98B8-9ABB-0B1D1F4154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20403" y="5243982"/>
            <a:ext cx="2161887" cy="15388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042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73B8B-8C1E-1FB9-34AF-2DB2E29B1E50}"/>
              </a:ext>
            </a:extLst>
          </p:cNvPr>
          <p:cNvSpPr>
            <a:spLocks noGrp="1"/>
          </p:cNvSpPr>
          <p:nvPr>
            <p:ph type="title"/>
          </p:nvPr>
        </p:nvSpPr>
        <p:spPr>
          <a:xfrm>
            <a:off x="309562" y="311540"/>
            <a:ext cx="5591175" cy="1325563"/>
          </a:xfrm>
        </p:spPr>
        <p:txBody>
          <a:bodyPr>
            <a:normAutofit/>
          </a:bodyPr>
          <a:lstStyle/>
          <a:p>
            <a:r>
              <a:rPr lang="en-US" sz="3600" b="1" dirty="0">
                <a:solidFill>
                  <a:srgbClr val="143C61"/>
                </a:solidFill>
              </a:rPr>
              <a:t>What is CRISPResso2?</a:t>
            </a:r>
          </a:p>
        </p:txBody>
      </p:sp>
      <p:sp>
        <p:nvSpPr>
          <p:cNvPr id="3" name="Content Placeholder 2">
            <a:extLst>
              <a:ext uri="{FF2B5EF4-FFF2-40B4-BE49-F238E27FC236}">
                <a16:creationId xmlns:a16="http://schemas.microsoft.com/office/drawing/2014/main" id="{62472DDC-5FBD-01B5-AF30-E4F13ED2C1E3}"/>
              </a:ext>
            </a:extLst>
          </p:cNvPr>
          <p:cNvSpPr>
            <a:spLocks noGrp="1"/>
          </p:cNvSpPr>
          <p:nvPr>
            <p:ph idx="1"/>
          </p:nvPr>
        </p:nvSpPr>
        <p:spPr>
          <a:xfrm>
            <a:off x="504714" y="1428287"/>
            <a:ext cx="4311316" cy="4667250"/>
          </a:xfrm>
        </p:spPr>
        <p:txBody>
          <a:bodyPr>
            <a:noAutofit/>
          </a:bodyPr>
          <a:lstStyle/>
          <a:p>
            <a:r>
              <a:rPr lang="en-GB" sz="1800" b="1" dirty="0"/>
              <a:t>CRISPResso2</a:t>
            </a:r>
            <a:r>
              <a:rPr lang="en-GB" sz="1800" dirty="0"/>
              <a:t> is a bioinformatics tool for analysing CRISPR genome editing outcomes using sequencing data.</a:t>
            </a:r>
          </a:p>
          <a:p>
            <a:r>
              <a:rPr lang="en-GB" sz="1800" dirty="0"/>
              <a:t>Quantifies editing efficiency, including insertions, deletions (indels), and nucleotide substitutions.</a:t>
            </a:r>
          </a:p>
          <a:p>
            <a:r>
              <a:rPr lang="en-GB" sz="1800" dirty="0"/>
              <a:t>Provides high-resolution visualization of edits at the single-nucleotide level.</a:t>
            </a:r>
          </a:p>
          <a:p>
            <a:r>
              <a:rPr lang="en-GB" sz="1800" dirty="0"/>
              <a:t>Supports analysis of both single-locus and pooled amplicon experiments.</a:t>
            </a:r>
          </a:p>
          <a:p>
            <a:r>
              <a:rPr lang="en-GB" sz="1800" dirty="0"/>
              <a:t>Compatible with various CRISPR systems, including Cas9 and base editors.</a:t>
            </a:r>
          </a:p>
          <a:p>
            <a:r>
              <a:rPr lang="en-GB" sz="1800" dirty="0"/>
              <a:t>Widely used to assess the precision and effectiveness of gene editing in targeted genomic regions.</a:t>
            </a:r>
          </a:p>
          <a:p>
            <a:endParaRPr lang="en-US" sz="1800" dirty="0"/>
          </a:p>
        </p:txBody>
      </p:sp>
      <p:sp>
        <p:nvSpPr>
          <p:cNvPr id="7" name="TextBox 6">
            <a:extLst>
              <a:ext uri="{FF2B5EF4-FFF2-40B4-BE49-F238E27FC236}">
                <a16:creationId xmlns:a16="http://schemas.microsoft.com/office/drawing/2014/main" id="{41CB3388-87BB-BA75-9666-6BBF7F1E3833}"/>
              </a:ext>
            </a:extLst>
          </p:cNvPr>
          <p:cNvSpPr txBox="1"/>
          <p:nvPr/>
        </p:nvSpPr>
        <p:spPr>
          <a:xfrm>
            <a:off x="6885384" y="1399964"/>
            <a:ext cx="5081587" cy="5355312"/>
          </a:xfrm>
          <a:prstGeom prst="rect">
            <a:avLst/>
          </a:prstGeom>
          <a:noFill/>
        </p:spPr>
        <p:txBody>
          <a:bodyPr wrap="square" rtlCol="0">
            <a:spAutoFit/>
          </a:bodyPr>
          <a:lstStyle/>
          <a:p>
            <a:r>
              <a:rPr lang="en-GB" b="1" dirty="0"/>
              <a:t>Did my CRISPR experiment produce edits at the target site?</a:t>
            </a:r>
            <a:br>
              <a:rPr lang="en-GB" dirty="0"/>
            </a:br>
            <a:r>
              <a:rPr lang="en-GB" dirty="0"/>
              <a:t>(i.e., was there any evidence of genome editing?)</a:t>
            </a:r>
          </a:p>
          <a:p>
            <a:endParaRPr lang="en-GB" b="1" dirty="0"/>
          </a:p>
          <a:p>
            <a:r>
              <a:rPr lang="en-GB" b="1" dirty="0"/>
              <a:t>What was the editing efficiency?</a:t>
            </a:r>
            <a:br>
              <a:rPr lang="en-GB" dirty="0"/>
            </a:br>
            <a:r>
              <a:rPr lang="en-GB" dirty="0"/>
              <a:t>(Percentage of reads containing insertions, deletions, or substitutions)</a:t>
            </a:r>
          </a:p>
          <a:p>
            <a:endParaRPr lang="en-GB" b="1" dirty="0"/>
          </a:p>
          <a:p>
            <a:r>
              <a:rPr lang="en-GB" b="1" dirty="0"/>
              <a:t>What types of edits occurred?</a:t>
            </a:r>
            <a:br>
              <a:rPr lang="en-GB" dirty="0"/>
            </a:br>
            <a:r>
              <a:rPr lang="en-GB" dirty="0"/>
              <a:t>(Breakdown of indels, substitutions, and their frequencies)</a:t>
            </a:r>
          </a:p>
          <a:p>
            <a:endParaRPr lang="en-GB" b="1" dirty="0"/>
          </a:p>
          <a:p>
            <a:r>
              <a:rPr lang="en-GB" b="1" dirty="0"/>
              <a:t>Were there frameshift vs. in-frame mutations?</a:t>
            </a:r>
            <a:br>
              <a:rPr lang="en-GB" dirty="0"/>
            </a:br>
            <a:r>
              <a:rPr lang="en-GB" dirty="0"/>
              <a:t>(Useful for coding regions to infer functional consequences)</a:t>
            </a:r>
          </a:p>
          <a:p>
            <a:endParaRPr lang="en-GB" b="1" dirty="0"/>
          </a:p>
          <a:p>
            <a:r>
              <a:rPr lang="en-GB" b="1" dirty="0"/>
              <a:t>What is the distribution of editing outcomes across the cell population?</a:t>
            </a:r>
            <a:br>
              <a:rPr lang="en-GB" dirty="0"/>
            </a:br>
            <a:r>
              <a:rPr lang="en-GB" dirty="0"/>
              <a:t>(Visualization of heterogeneity in editing)</a:t>
            </a:r>
          </a:p>
        </p:txBody>
      </p:sp>
      <p:sp>
        <p:nvSpPr>
          <p:cNvPr id="12" name="Title 1">
            <a:extLst>
              <a:ext uri="{FF2B5EF4-FFF2-40B4-BE49-F238E27FC236}">
                <a16:creationId xmlns:a16="http://schemas.microsoft.com/office/drawing/2014/main" id="{778C17A7-9978-00A3-8A02-EF5D9D466E2C}"/>
              </a:ext>
            </a:extLst>
          </p:cNvPr>
          <p:cNvSpPr txBox="1">
            <a:spLocks/>
          </p:cNvSpPr>
          <p:nvPr/>
        </p:nvSpPr>
        <p:spPr>
          <a:xfrm>
            <a:off x="6885384" y="102724"/>
            <a:ext cx="491251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solidFill>
                  <a:srgbClr val="143C61"/>
                </a:solidFill>
              </a:rPr>
              <a:t>What questions can it help to answer?</a:t>
            </a:r>
          </a:p>
        </p:txBody>
      </p:sp>
    </p:spTree>
    <p:extLst>
      <p:ext uri="{BB962C8B-B14F-4D97-AF65-F5344CB8AC3E}">
        <p14:creationId xmlns:p14="http://schemas.microsoft.com/office/powerpoint/2010/main" val="2213247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6D7A6-1035-DE32-761E-5780FAE23F8B}"/>
              </a:ext>
            </a:extLst>
          </p:cNvPr>
          <p:cNvSpPr>
            <a:spLocks noGrp="1"/>
          </p:cNvSpPr>
          <p:nvPr>
            <p:ph type="title"/>
          </p:nvPr>
        </p:nvSpPr>
        <p:spPr/>
        <p:txBody>
          <a:bodyPr/>
          <a:lstStyle/>
          <a:p>
            <a:r>
              <a:rPr lang="en-US" b="1" dirty="0">
                <a:solidFill>
                  <a:srgbClr val="143C61"/>
                </a:solidFill>
              </a:rPr>
              <a:t>Developers of CRISPResso2</a:t>
            </a:r>
          </a:p>
        </p:txBody>
      </p:sp>
      <p:pic>
        <p:nvPicPr>
          <p:cNvPr id="1026" name="Picture 2" descr="LUCA._circle">
            <a:extLst>
              <a:ext uri="{FF2B5EF4-FFF2-40B4-BE49-F238E27FC236}">
                <a16:creationId xmlns:a16="http://schemas.microsoft.com/office/drawing/2014/main" id="{CD210DFD-2716-977C-06B5-2C726332E8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813275"/>
            <a:ext cx="3369604" cy="32314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94A0EC-8FA8-2EEB-C2CC-681824DABBFA}"/>
              </a:ext>
            </a:extLst>
          </p:cNvPr>
          <p:cNvSpPr txBox="1"/>
          <p:nvPr/>
        </p:nvSpPr>
        <p:spPr>
          <a:xfrm>
            <a:off x="838200" y="5167312"/>
            <a:ext cx="3525834" cy="1477328"/>
          </a:xfrm>
          <a:prstGeom prst="rect">
            <a:avLst/>
          </a:prstGeom>
          <a:noFill/>
        </p:spPr>
        <p:txBody>
          <a:bodyPr wrap="square" rtlCol="0">
            <a:spAutoFit/>
          </a:bodyPr>
          <a:lstStyle/>
          <a:p>
            <a:pPr algn="ctr"/>
            <a:r>
              <a:rPr lang="en-GB" b="1" i="0" u="none" strike="noStrike" dirty="0">
                <a:solidFill>
                  <a:srgbClr val="222222"/>
                </a:solidFill>
                <a:effectLst/>
                <a:latin typeface="Open Sans" panose="020B0606030504020204" pitchFamily="34" charset="0"/>
              </a:rPr>
              <a:t>Luca </a:t>
            </a:r>
            <a:r>
              <a:rPr lang="en-GB" b="1" i="0" u="none" strike="noStrike" dirty="0" err="1">
                <a:solidFill>
                  <a:srgbClr val="222222"/>
                </a:solidFill>
                <a:effectLst/>
                <a:latin typeface="Open Sans" panose="020B0606030504020204" pitchFamily="34" charset="0"/>
              </a:rPr>
              <a:t>Pinello</a:t>
            </a:r>
            <a:endParaRPr lang="en-GB" b="1" dirty="0">
              <a:solidFill>
                <a:srgbClr val="222222"/>
              </a:solidFill>
              <a:latin typeface="Open Sans" panose="020B0606030504020204" pitchFamily="34" charset="0"/>
            </a:endParaRPr>
          </a:p>
          <a:p>
            <a:pPr algn="ctr"/>
            <a:r>
              <a:rPr lang="en-GB" b="1" i="0" u="none" strike="noStrike" dirty="0">
                <a:solidFill>
                  <a:srgbClr val="222222"/>
                </a:solidFill>
                <a:effectLst/>
                <a:latin typeface="Open Sans" panose="020B0606030504020204" pitchFamily="34" charset="0"/>
              </a:rPr>
              <a:t> Ph.D., Associate Professor</a:t>
            </a:r>
          </a:p>
          <a:p>
            <a:pPr algn="ctr"/>
            <a:r>
              <a:rPr lang="en-GB" b="1" dirty="0">
                <a:solidFill>
                  <a:srgbClr val="222222"/>
                </a:solidFill>
                <a:latin typeface="Open Sans" panose="020B0606030504020204" pitchFamily="34" charset="0"/>
              </a:rPr>
              <a:t>Massachusetts General Hospital and HMS</a:t>
            </a:r>
            <a:endParaRPr lang="en-GB" b="1" i="0" u="none" strike="noStrike" dirty="0">
              <a:solidFill>
                <a:srgbClr val="222222"/>
              </a:solidFill>
              <a:effectLst/>
              <a:latin typeface="Open Sans" panose="020B0606030504020204" pitchFamily="34" charset="0"/>
            </a:endParaRPr>
          </a:p>
          <a:p>
            <a:pPr algn="ctr"/>
            <a:r>
              <a:rPr lang="en-US" dirty="0"/>
              <a:t>(</a:t>
            </a:r>
            <a:r>
              <a:rPr lang="en-US" dirty="0" err="1"/>
              <a:t>CRISPResso</a:t>
            </a:r>
            <a:r>
              <a:rPr lang="en-US" dirty="0"/>
              <a:t>)</a:t>
            </a:r>
          </a:p>
        </p:txBody>
      </p:sp>
      <p:pic>
        <p:nvPicPr>
          <p:cNvPr id="1028" name="Picture 4" descr="Kendell Clement portrait">
            <a:extLst>
              <a:ext uri="{FF2B5EF4-FFF2-40B4-BE49-F238E27FC236}">
                <a16:creationId xmlns:a16="http://schemas.microsoft.com/office/drawing/2014/main" id="{03AA880C-F0BC-110D-0486-F9E8F3255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6773" y="1813274"/>
            <a:ext cx="3924867" cy="323145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7D10904-FE7C-A35F-3445-57B3C94EAF05}"/>
              </a:ext>
            </a:extLst>
          </p:cNvPr>
          <p:cNvSpPr txBox="1"/>
          <p:nvPr/>
        </p:nvSpPr>
        <p:spPr>
          <a:xfrm>
            <a:off x="7046289" y="5167311"/>
            <a:ext cx="3525834" cy="1477328"/>
          </a:xfrm>
          <a:prstGeom prst="rect">
            <a:avLst/>
          </a:prstGeom>
          <a:noFill/>
        </p:spPr>
        <p:txBody>
          <a:bodyPr wrap="square" rtlCol="0">
            <a:spAutoFit/>
          </a:bodyPr>
          <a:lstStyle/>
          <a:p>
            <a:pPr algn="ctr"/>
            <a:r>
              <a:rPr lang="en-GB" b="1" i="0" u="none" strike="noStrike" dirty="0">
                <a:solidFill>
                  <a:srgbClr val="222222"/>
                </a:solidFill>
                <a:effectLst/>
                <a:latin typeface="Open Sans" panose="020B0606030504020204" pitchFamily="34" charset="0"/>
              </a:rPr>
              <a:t>Kendell Clement</a:t>
            </a:r>
          </a:p>
          <a:p>
            <a:pPr algn="ctr"/>
            <a:r>
              <a:rPr lang="en-GB" b="1" i="0" dirty="0">
                <a:solidFill>
                  <a:srgbClr val="333333"/>
                </a:solidFill>
                <a:effectLst/>
                <a:latin typeface="Open Sans" panose="020B0606030504020204" pitchFamily="34" charset="0"/>
              </a:rPr>
              <a:t>Assistant Professor</a:t>
            </a:r>
            <a:r>
              <a:rPr lang="en-GB" b="0" i="0" dirty="0">
                <a:solidFill>
                  <a:srgbClr val="333333"/>
                </a:solidFill>
                <a:effectLst/>
                <a:latin typeface="Open Sans" panose="020B0606030504020204" pitchFamily="34" charset="0"/>
              </a:rPr>
              <a:t>,</a:t>
            </a:r>
          </a:p>
          <a:p>
            <a:pPr algn="ctr"/>
            <a:r>
              <a:rPr lang="en-GB" b="0" i="0" dirty="0">
                <a:solidFill>
                  <a:srgbClr val="333333"/>
                </a:solidFill>
                <a:effectLst/>
                <a:latin typeface="Open Sans" panose="020B0606030504020204" pitchFamily="34" charset="0"/>
              </a:rPr>
              <a:t>Biomedical Informatics</a:t>
            </a:r>
            <a:endParaRPr lang="en-GB" b="1" i="0" u="none" strike="noStrike" dirty="0">
              <a:solidFill>
                <a:srgbClr val="222222"/>
              </a:solidFill>
              <a:effectLst/>
              <a:latin typeface="Open Sans" panose="020B0606030504020204" pitchFamily="34" charset="0"/>
            </a:endParaRPr>
          </a:p>
          <a:p>
            <a:pPr algn="ctr"/>
            <a:r>
              <a:rPr lang="en-GB" dirty="0">
                <a:solidFill>
                  <a:srgbClr val="333333"/>
                </a:solidFill>
                <a:latin typeface="Open Sans" panose="020B0606030504020204" pitchFamily="34" charset="0"/>
              </a:rPr>
              <a:t>University of Utah,</a:t>
            </a:r>
          </a:p>
          <a:p>
            <a:pPr algn="ctr"/>
            <a:r>
              <a:rPr lang="en-US" dirty="0"/>
              <a:t>(CRISPResso2)</a:t>
            </a:r>
          </a:p>
        </p:txBody>
      </p:sp>
    </p:spTree>
    <p:extLst>
      <p:ext uri="{BB962C8B-B14F-4D97-AF65-F5344CB8AC3E}">
        <p14:creationId xmlns:p14="http://schemas.microsoft.com/office/powerpoint/2010/main" val="373438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Arrow: Straight with solid fill">
            <a:extLst>
              <a:ext uri="{FF2B5EF4-FFF2-40B4-BE49-F238E27FC236}">
                <a16:creationId xmlns:a16="http://schemas.microsoft.com/office/drawing/2014/main" id="{B1631948-2FF9-C7D1-C65B-AFFAE9F8DA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4221495" y="2271447"/>
            <a:ext cx="1095375" cy="461665"/>
          </a:xfrm>
          <a:prstGeom prst="rect">
            <a:avLst/>
          </a:prstGeom>
        </p:spPr>
      </p:pic>
      <p:pic>
        <p:nvPicPr>
          <p:cNvPr id="7" name="Picture 4" descr="Ordering the MiSeq System">
            <a:extLst>
              <a:ext uri="{FF2B5EF4-FFF2-40B4-BE49-F238E27FC236}">
                <a16:creationId xmlns:a16="http://schemas.microsoft.com/office/drawing/2014/main" id="{81E43BA7-2784-9B7B-5F9E-57A3573843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0152" y="1568160"/>
            <a:ext cx="2172570" cy="1738056"/>
          </a:xfrm>
          <a:prstGeom prst="rect">
            <a:avLst/>
          </a:prstGeom>
          <a:noFill/>
          <a:extLst>
            <a:ext uri="{909E8E84-426E-40DD-AFC4-6F175D3DCCD1}">
              <a14:hiddenFill xmlns:a14="http://schemas.microsoft.com/office/drawing/2010/main">
                <a:solidFill>
                  <a:srgbClr val="FFFFFF"/>
                </a:solidFill>
              </a14:hiddenFill>
            </a:ext>
          </a:extLst>
        </p:spPr>
      </p:pic>
      <p:pic>
        <p:nvPicPr>
          <p:cNvPr id="8" name="Graphic 7" descr="Arrow: Straight with solid fill">
            <a:extLst>
              <a:ext uri="{FF2B5EF4-FFF2-40B4-BE49-F238E27FC236}">
                <a16:creationId xmlns:a16="http://schemas.microsoft.com/office/drawing/2014/main" id="{692AEA4E-A26F-73C0-1621-6C31C17C05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6200000">
            <a:off x="10210197" y="3316100"/>
            <a:ext cx="626031" cy="492542"/>
          </a:xfrm>
          <a:prstGeom prst="rect">
            <a:avLst/>
          </a:prstGeom>
        </p:spPr>
      </p:pic>
      <p:pic>
        <p:nvPicPr>
          <p:cNvPr id="9" name="Picture 8" descr="FASTQ format">
            <a:extLst>
              <a:ext uri="{FF2B5EF4-FFF2-40B4-BE49-F238E27FC236}">
                <a16:creationId xmlns:a16="http://schemas.microsoft.com/office/drawing/2014/main" id="{1A42CABA-FCE3-22A3-E7C1-F59FAFBA7A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40152" y="4041275"/>
            <a:ext cx="3166120" cy="189457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A5E6A85-9724-82EE-96C1-926B0352A418}"/>
              </a:ext>
            </a:extLst>
          </p:cNvPr>
          <p:cNvSpPr txBox="1"/>
          <p:nvPr/>
        </p:nvSpPr>
        <p:spPr>
          <a:xfrm>
            <a:off x="5477945" y="933384"/>
            <a:ext cx="2551852" cy="369332"/>
          </a:xfrm>
          <a:prstGeom prst="rect">
            <a:avLst/>
          </a:prstGeom>
          <a:noFill/>
        </p:spPr>
        <p:txBody>
          <a:bodyPr wrap="none" rtlCol="0">
            <a:spAutoFit/>
          </a:bodyPr>
          <a:lstStyle/>
          <a:p>
            <a:r>
              <a:rPr lang="en-US" b="1" dirty="0">
                <a:solidFill>
                  <a:srgbClr val="002060"/>
                </a:solidFill>
              </a:rPr>
              <a:t>2. DNA Extraction/PCR</a:t>
            </a:r>
          </a:p>
        </p:txBody>
      </p:sp>
      <p:sp>
        <p:nvSpPr>
          <p:cNvPr id="11" name="TextBox 10">
            <a:extLst>
              <a:ext uri="{FF2B5EF4-FFF2-40B4-BE49-F238E27FC236}">
                <a16:creationId xmlns:a16="http://schemas.microsoft.com/office/drawing/2014/main" id="{9623ED58-E417-4A05-9D03-D79DE04A731D}"/>
              </a:ext>
            </a:extLst>
          </p:cNvPr>
          <p:cNvSpPr txBox="1"/>
          <p:nvPr/>
        </p:nvSpPr>
        <p:spPr>
          <a:xfrm>
            <a:off x="1831768" y="961421"/>
            <a:ext cx="3114226" cy="584775"/>
          </a:xfrm>
          <a:prstGeom prst="rect">
            <a:avLst/>
          </a:prstGeom>
          <a:noFill/>
        </p:spPr>
        <p:txBody>
          <a:bodyPr wrap="square" rtlCol="0">
            <a:spAutoFit/>
          </a:bodyPr>
          <a:lstStyle/>
          <a:p>
            <a:r>
              <a:rPr lang="en-US" sz="1600" b="1" dirty="0">
                <a:solidFill>
                  <a:srgbClr val="143C61"/>
                </a:solidFill>
              </a:rPr>
              <a:t>1. Delivery of Cas + gRNA into target cells</a:t>
            </a:r>
          </a:p>
        </p:txBody>
      </p:sp>
      <p:sp>
        <p:nvSpPr>
          <p:cNvPr id="12" name="TextBox 11">
            <a:extLst>
              <a:ext uri="{FF2B5EF4-FFF2-40B4-BE49-F238E27FC236}">
                <a16:creationId xmlns:a16="http://schemas.microsoft.com/office/drawing/2014/main" id="{DFCF0D5F-8FEC-EEF5-F3CC-F211E8AE8D58}"/>
              </a:ext>
            </a:extLst>
          </p:cNvPr>
          <p:cNvSpPr txBox="1"/>
          <p:nvPr/>
        </p:nvSpPr>
        <p:spPr>
          <a:xfrm>
            <a:off x="9175966" y="6034133"/>
            <a:ext cx="2272673" cy="369332"/>
          </a:xfrm>
          <a:prstGeom prst="rect">
            <a:avLst/>
          </a:prstGeom>
          <a:noFill/>
        </p:spPr>
        <p:txBody>
          <a:bodyPr wrap="none" rtlCol="0">
            <a:spAutoFit/>
          </a:bodyPr>
          <a:lstStyle/>
          <a:p>
            <a:r>
              <a:rPr lang="en-US" b="1" dirty="0">
                <a:solidFill>
                  <a:srgbClr val="002060"/>
                </a:solidFill>
              </a:rPr>
              <a:t>4. </a:t>
            </a:r>
            <a:r>
              <a:rPr lang="en-US" b="1" i="1" dirty="0">
                <a:solidFill>
                  <a:srgbClr val="002060"/>
                </a:solidFill>
              </a:rPr>
              <a:t>.</a:t>
            </a:r>
            <a:r>
              <a:rPr lang="en-US" b="1" i="1" dirty="0" err="1">
                <a:solidFill>
                  <a:srgbClr val="002060"/>
                </a:solidFill>
              </a:rPr>
              <a:t>fastq</a:t>
            </a:r>
            <a:r>
              <a:rPr lang="en-US" b="1" dirty="0">
                <a:solidFill>
                  <a:srgbClr val="002060"/>
                </a:solidFill>
              </a:rPr>
              <a:t> format files</a:t>
            </a:r>
          </a:p>
        </p:txBody>
      </p:sp>
      <p:sp>
        <p:nvSpPr>
          <p:cNvPr id="15" name="TextBox 14">
            <a:extLst>
              <a:ext uri="{FF2B5EF4-FFF2-40B4-BE49-F238E27FC236}">
                <a16:creationId xmlns:a16="http://schemas.microsoft.com/office/drawing/2014/main" id="{F14B5899-E7BF-EB3D-8C3C-874B1E0507D4}"/>
              </a:ext>
            </a:extLst>
          </p:cNvPr>
          <p:cNvSpPr txBox="1"/>
          <p:nvPr/>
        </p:nvSpPr>
        <p:spPr>
          <a:xfrm>
            <a:off x="8702272" y="933384"/>
            <a:ext cx="3302571" cy="369332"/>
          </a:xfrm>
          <a:prstGeom prst="rect">
            <a:avLst/>
          </a:prstGeom>
          <a:noFill/>
        </p:spPr>
        <p:txBody>
          <a:bodyPr wrap="none" rtlCol="0">
            <a:spAutoFit/>
          </a:bodyPr>
          <a:lstStyle/>
          <a:p>
            <a:r>
              <a:rPr lang="en-US" b="1" dirty="0">
                <a:solidFill>
                  <a:srgbClr val="002060"/>
                </a:solidFill>
              </a:rPr>
              <a:t>3. Sequencing (e.g. </a:t>
            </a:r>
            <a:r>
              <a:rPr lang="en-US" b="1" dirty="0" err="1">
                <a:solidFill>
                  <a:srgbClr val="002060"/>
                </a:solidFill>
              </a:rPr>
              <a:t>Ampliseq</a:t>
            </a:r>
            <a:r>
              <a:rPr lang="en-US" b="1" dirty="0">
                <a:solidFill>
                  <a:srgbClr val="002060"/>
                </a:solidFill>
              </a:rPr>
              <a:t>)</a:t>
            </a:r>
          </a:p>
        </p:txBody>
      </p:sp>
      <p:grpSp>
        <p:nvGrpSpPr>
          <p:cNvPr id="21" name="Group 20">
            <a:extLst>
              <a:ext uri="{FF2B5EF4-FFF2-40B4-BE49-F238E27FC236}">
                <a16:creationId xmlns:a16="http://schemas.microsoft.com/office/drawing/2014/main" id="{7151DCA9-C276-3CDB-7370-624E0AE76593}"/>
              </a:ext>
            </a:extLst>
          </p:cNvPr>
          <p:cNvGrpSpPr/>
          <p:nvPr/>
        </p:nvGrpSpPr>
        <p:grpSpPr>
          <a:xfrm>
            <a:off x="5477945" y="1958662"/>
            <a:ext cx="2170595" cy="790794"/>
            <a:chOff x="5127102" y="3553905"/>
            <a:chExt cx="2830030" cy="1031040"/>
          </a:xfrm>
          <a:effectLst>
            <a:outerShdw blurRad="50800" dist="38100" dir="2700000" algn="tl" rotWithShape="0">
              <a:prstClr val="black">
                <a:alpha val="40000"/>
              </a:prstClr>
            </a:outerShdw>
          </a:effectLst>
        </p:grpSpPr>
        <p:pic>
          <p:nvPicPr>
            <p:cNvPr id="2050" name="Picture 2" descr="Eppendorf™ PCR Clean Colorless Safe-Lock Centrifuge Tubes">
              <a:extLst>
                <a:ext uri="{FF2B5EF4-FFF2-40B4-BE49-F238E27FC236}">
                  <a16:creationId xmlns:a16="http://schemas.microsoft.com/office/drawing/2014/main" id="{7E9895C2-9685-ECD2-5168-F561AE7C6A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127102" y="3553905"/>
              <a:ext cx="509553" cy="10310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Eppendorf™ PCR Clean Colorless Safe-Lock Centrifuge Tubes">
              <a:extLst>
                <a:ext uri="{FF2B5EF4-FFF2-40B4-BE49-F238E27FC236}">
                  <a16:creationId xmlns:a16="http://schemas.microsoft.com/office/drawing/2014/main" id="{7B4D1D83-38C8-2A35-64FF-42C5067B3FA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5586447" y="3553905"/>
              <a:ext cx="509553" cy="10310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Eppendorf™ PCR Clean Colorless Safe-Lock Centrifuge Tubes">
              <a:extLst>
                <a:ext uri="{FF2B5EF4-FFF2-40B4-BE49-F238E27FC236}">
                  <a16:creationId xmlns:a16="http://schemas.microsoft.com/office/drawing/2014/main" id="{0C8074CA-34D8-5B0B-1CE6-CD46E6272E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6055422" y="3553905"/>
              <a:ext cx="509553" cy="103104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Eppendorf™ PCR Clean Colorless Safe-Lock Centrifuge Tubes">
              <a:extLst>
                <a:ext uri="{FF2B5EF4-FFF2-40B4-BE49-F238E27FC236}">
                  <a16:creationId xmlns:a16="http://schemas.microsoft.com/office/drawing/2014/main" id="{191EC3C1-DC17-200D-BC79-E9526CC825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6514767" y="3553905"/>
              <a:ext cx="509553" cy="103104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Eppendorf™ PCR Clean Colorless Safe-Lock Centrifuge Tubes">
              <a:extLst>
                <a:ext uri="{FF2B5EF4-FFF2-40B4-BE49-F238E27FC236}">
                  <a16:creationId xmlns:a16="http://schemas.microsoft.com/office/drawing/2014/main" id="{ACA12A11-422A-6CF5-57EF-960003A1BED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6988234" y="3553905"/>
              <a:ext cx="509553" cy="10310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Eppendorf™ PCR Clean Colorless Safe-Lock Centrifuge Tubes">
              <a:extLst>
                <a:ext uri="{FF2B5EF4-FFF2-40B4-BE49-F238E27FC236}">
                  <a16:creationId xmlns:a16="http://schemas.microsoft.com/office/drawing/2014/main" id="{5242BBDC-7C1B-A0E7-BE86-C81E9A95A6D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flipH="1">
              <a:off x="7447579" y="3553905"/>
              <a:ext cx="509553" cy="1031040"/>
            </a:xfrm>
            <a:prstGeom prst="rect">
              <a:avLst/>
            </a:prstGeom>
            <a:noFill/>
            <a:extLst>
              <a:ext uri="{909E8E84-426E-40DD-AFC4-6F175D3DCCD1}">
                <a14:hiddenFill xmlns:a14="http://schemas.microsoft.com/office/drawing/2010/main">
                  <a:solidFill>
                    <a:srgbClr val="FFFFFF"/>
                  </a:solidFill>
                </a14:hiddenFill>
              </a:ext>
            </a:extLst>
          </p:spPr>
        </p:pic>
      </p:grpSp>
      <p:pic>
        <p:nvPicPr>
          <p:cNvPr id="2052" name="Picture 4">
            <a:extLst>
              <a:ext uri="{FF2B5EF4-FFF2-40B4-BE49-F238E27FC236}">
                <a16:creationId xmlns:a16="http://schemas.microsoft.com/office/drawing/2014/main" id="{8EBAB3EA-DD2E-7626-0E5E-EF06A1C313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1123" y="3491224"/>
            <a:ext cx="2073684" cy="2206188"/>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F2A1DA65-66DB-21C9-F14E-ACA9A340565C}"/>
              </a:ext>
            </a:extLst>
          </p:cNvPr>
          <p:cNvSpPr txBox="1"/>
          <p:nvPr/>
        </p:nvSpPr>
        <p:spPr>
          <a:xfrm>
            <a:off x="4535823" y="6070314"/>
            <a:ext cx="3388748" cy="369332"/>
          </a:xfrm>
          <a:prstGeom prst="rect">
            <a:avLst/>
          </a:prstGeom>
          <a:noFill/>
        </p:spPr>
        <p:txBody>
          <a:bodyPr wrap="none" rtlCol="0">
            <a:spAutoFit/>
          </a:bodyPr>
          <a:lstStyle/>
          <a:p>
            <a:r>
              <a:rPr lang="en-US" b="1" dirty="0">
                <a:solidFill>
                  <a:srgbClr val="002060"/>
                </a:solidFill>
              </a:rPr>
              <a:t>5. Analysis using CRISPResso2</a:t>
            </a:r>
          </a:p>
        </p:txBody>
      </p:sp>
      <p:pic>
        <p:nvPicPr>
          <p:cNvPr id="2054" name="Picture 6">
            <a:extLst>
              <a:ext uri="{FF2B5EF4-FFF2-40B4-BE49-F238E27FC236}">
                <a16:creationId xmlns:a16="http://schemas.microsoft.com/office/drawing/2014/main" id="{2ED12570-70B1-97CD-A900-D6479154D7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927" y="3816053"/>
            <a:ext cx="2694088" cy="208052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E9781C64-EC44-7704-CC99-91B0318AFB48}"/>
              </a:ext>
            </a:extLst>
          </p:cNvPr>
          <p:cNvSpPr txBox="1"/>
          <p:nvPr/>
        </p:nvSpPr>
        <p:spPr>
          <a:xfrm>
            <a:off x="402434" y="6071302"/>
            <a:ext cx="2869503" cy="369332"/>
          </a:xfrm>
          <a:prstGeom prst="rect">
            <a:avLst/>
          </a:prstGeom>
          <a:noFill/>
        </p:spPr>
        <p:txBody>
          <a:bodyPr wrap="none" rtlCol="0">
            <a:spAutoFit/>
          </a:bodyPr>
          <a:lstStyle/>
          <a:p>
            <a:r>
              <a:rPr lang="en-US" b="1" dirty="0">
                <a:solidFill>
                  <a:srgbClr val="002060"/>
                </a:solidFill>
              </a:rPr>
              <a:t>6. Reports &amp; </a:t>
            </a:r>
            <a:r>
              <a:rPr lang="en-US" b="1" dirty="0" err="1">
                <a:solidFill>
                  <a:srgbClr val="002060"/>
                </a:solidFill>
              </a:rPr>
              <a:t>Visualisation</a:t>
            </a:r>
            <a:endParaRPr lang="en-US" b="1" dirty="0">
              <a:solidFill>
                <a:srgbClr val="002060"/>
              </a:solidFill>
            </a:endParaRPr>
          </a:p>
        </p:txBody>
      </p:sp>
      <p:sp>
        <p:nvSpPr>
          <p:cNvPr id="2" name="TextBox 1">
            <a:extLst>
              <a:ext uri="{FF2B5EF4-FFF2-40B4-BE49-F238E27FC236}">
                <a16:creationId xmlns:a16="http://schemas.microsoft.com/office/drawing/2014/main" id="{3C4D4951-635B-B1D9-FC3E-3A2AB1DB4AFD}"/>
              </a:ext>
            </a:extLst>
          </p:cNvPr>
          <p:cNvSpPr txBox="1"/>
          <p:nvPr/>
        </p:nvSpPr>
        <p:spPr>
          <a:xfrm>
            <a:off x="1763968" y="127758"/>
            <a:ext cx="9166127" cy="523220"/>
          </a:xfrm>
          <a:prstGeom prst="rect">
            <a:avLst/>
          </a:prstGeom>
          <a:noFill/>
        </p:spPr>
        <p:txBody>
          <a:bodyPr wrap="square" rtlCol="0">
            <a:spAutoFit/>
          </a:bodyPr>
          <a:lstStyle/>
          <a:p>
            <a:r>
              <a:rPr lang="en-GB" sz="2800" b="1" dirty="0"/>
              <a:t>CRISPResso2 in the Genome Editing Workflow</a:t>
            </a:r>
            <a:endParaRPr lang="en-US" sz="2800" b="1" dirty="0">
              <a:solidFill>
                <a:srgbClr val="143C61"/>
              </a:solidFill>
            </a:endParaRPr>
          </a:p>
        </p:txBody>
      </p:sp>
      <p:pic>
        <p:nvPicPr>
          <p:cNvPr id="3" name="Picture 2">
            <a:extLst>
              <a:ext uri="{FF2B5EF4-FFF2-40B4-BE49-F238E27FC236}">
                <a16:creationId xmlns:a16="http://schemas.microsoft.com/office/drawing/2014/main" id="{B30912F3-8A52-9C5F-514D-7EE6D6206001}"/>
              </a:ext>
            </a:extLst>
          </p:cNvPr>
          <p:cNvPicPr>
            <a:picLocks noChangeAspect="1"/>
          </p:cNvPicPr>
          <p:nvPr/>
        </p:nvPicPr>
        <p:blipFill>
          <a:blip r:embed="rId9"/>
          <a:stretch>
            <a:fillRect/>
          </a:stretch>
        </p:blipFill>
        <p:spPr>
          <a:xfrm>
            <a:off x="187157" y="593366"/>
            <a:ext cx="2049844" cy="1434891"/>
          </a:xfrm>
          <a:prstGeom prst="rect">
            <a:avLst/>
          </a:prstGeom>
        </p:spPr>
      </p:pic>
      <p:pic>
        <p:nvPicPr>
          <p:cNvPr id="14" name="Graphic 13" descr="Arrow: Straight with solid fill">
            <a:extLst>
              <a:ext uri="{FF2B5EF4-FFF2-40B4-BE49-F238E27FC236}">
                <a16:creationId xmlns:a16="http://schemas.microsoft.com/office/drawing/2014/main" id="{5FB5C4BD-97D3-E983-6B88-6B0828CD0CB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0800000">
            <a:off x="7733858" y="2243495"/>
            <a:ext cx="1095375" cy="461665"/>
          </a:xfrm>
          <a:prstGeom prst="rect">
            <a:avLst/>
          </a:prstGeom>
        </p:spPr>
      </p:pic>
      <p:pic>
        <p:nvPicPr>
          <p:cNvPr id="26" name="Graphic 25" descr="Arrow: Straight with solid fill">
            <a:extLst>
              <a:ext uri="{FF2B5EF4-FFF2-40B4-BE49-F238E27FC236}">
                <a16:creationId xmlns:a16="http://schemas.microsoft.com/office/drawing/2014/main" id="{EB5784F6-4A98-D5EB-656E-47ADC022CE4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602832" y="4632426"/>
            <a:ext cx="1095375" cy="461665"/>
          </a:xfrm>
          <a:prstGeom prst="rect">
            <a:avLst/>
          </a:prstGeom>
        </p:spPr>
      </p:pic>
      <p:pic>
        <p:nvPicPr>
          <p:cNvPr id="27" name="Graphic 26" descr="Arrow: Straight with solid fill">
            <a:extLst>
              <a:ext uri="{FF2B5EF4-FFF2-40B4-BE49-F238E27FC236}">
                <a16:creationId xmlns:a16="http://schemas.microsoft.com/office/drawing/2014/main" id="{30BF8AC1-908B-81F2-7479-EABB00C490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78101" y="4590926"/>
            <a:ext cx="1095375" cy="461665"/>
          </a:xfrm>
          <a:prstGeom prst="rect">
            <a:avLst/>
          </a:prstGeom>
        </p:spPr>
      </p:pic>
      <p:pic>
        <p:nvPicPr>
          <p:cNvPr id="4" name="Picture 2" descr="6-well | No. 0 Coverslip | 20 mm Glass Diameter | Uncoated • MatTek Life  Sciences">
            <a:extLst>
              <a:ext uri="{FF2B5EF4-FFF2-40B4-BE49-F238E27FC236}">
                <a16:creationId xmlns:a16="http://schemas.microsoft.com/office/drawing/2014/main" id="{AFA67CEB-A601-AF3A-773D-958B5E15BD5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9895" y="1664439"/>
            <a:ext cx="1941644" cy="194164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CR CRISPR/Cas9 Lentivirus (Integrating)">
            <a:extLst>
              <a:ext uri="{FF2B5EF4-FFF2-40B4-BE49-F238E27FC236}">
                <a16:creationId xmlns:a16="http://schemas.microsoft.com/office/drawing/2014/main" id="{976CF383-5535-D238-BD83-41932DE4664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997" y="1833089"/>
            <a:ext cx="1642259" cy="1215030"/>
          </a:xfrm>
          <a:prstGeom prst="rect">
            <a:avLst/>
          </a:prstGeom>
          <a:noFill/>
          <a:extLst>
            <a:ext uri="{909E8E84-426E-40DD-AFC4-6F175D3DCCD1}">
              <a14:hiddenFill xmlns:a14="http://schemas.microsoft.com/office/drawing/2010/main">
                <a:solidFill>
                  <a:srgbClr val="FFFFFF"/>
                </a:solidFill>
              </a14:hiddenFill>
            </a:ext>
          </a:extLst>
        </p:spPr>
      </p:pic>
      <p:pic>
        <p:nvPicPr>
          <p:cNvPr id="13" name="Graphic 12" descr="Arrow: Straight with solid fill">
            <a:extLst>
              <a:ext uri="{FF2B5EF4-FFF2-40B4-BE49-F238E27FC236}">
                <a16:creationId xmlns:a16="http://schemas.microsoft.com/office/drawing/2014/main" id="{8195993C-D586-8DB0-A3DB-BC391AA4939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rot="11749161">
            <a:off x="1327006" y="1808572"/>
            <a:ext cx="1249843" cy="461665"/>
          </a:xfrm>
          <a:prstGeom prst="rect">
            <a:avLst/>
          </a:prstGeom>
        </p:spPr>
      </p:pic>
    </p:spTree>
    <p:extLst>
      <p:ext uri="{BB962C8B-B14F-4D97-AF65-F5344CB8AC3E}">
        <p14:creationId xmlns:p14="http://schemas.microsoft.com/office/powerpoint/2010/main" val="1729460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0D742-2B1A-0BB8-427E-82B73EC7C145}"/>
              </a:ext>
            </a:extLst>
          </p:cNvPr>
          <p:cNvSpPr>
            <a:spLocks noGrp="1"/>
          </p:cNvSpPr>
          <p:nvPr>
            <p:ph type="title"/>
          </p:nvPr>
        </p:nvSpPr>
        <p:spPr>
          <a:xfrm>
            <a:off x="204457" y="129734"/>
            <a:ext cx="5481119" cy="721291"/>
          </a:xfrm>
        </p:spPr>
        <p:txBody>
          <a:bodyPr/>
          <a:lstStyle/>
          <a:p>
            <a:r>
              <a:rPr lang="en-US" dirty="0"/>
              <a:t>Format of </a:t>
            </a:r>
            <a:r>
              <a:rPr lang="en-US" b="1" i="1" dirty="0"/>
              <a:t>.</a:t>
            </a:r>
            <a:r>
              <a:rPr lang="en-US" b="1" i="1" dirty="0" err="1"/>
              <a:t>fastq</a:t>
            </a:r>
            <a:r>
              <a:rPr lang="en-US" dirty="0"/>
              <a:t> file</a:t>
            </a:r>
          </a:p>
        </p:txBody>
      </p:sp>
      <p:pic>
        <p:nvPicPr>
          <p:cNvPr id="4" name="Picture 3" descr="FASTQ format">
            <a:extLst>
              <a:ext uri="{FF2B5EF4-FFF2-40B4-BE49-F238E27FC236}">
                <a16:creationId xmlns:a16="http://schemas.microsoft.com/office/drawing/2014/main" id="{CC0FC938-F8F0-510C-DE24-59DD0EF55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4484" y="247307"/>
            <a:ext cx="3166120" cy="18945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F94F7C3-443B-F08F-07BA-D01CE1978FE4}"/>
              </a:ext>
            </a:extLst>
          </p:cNvPr>
          <p:cNvSpPr txBox="1"/>
          <p:nvPr/>
        </p:nvSpPr>
        <p:spPr>
          <a:xfrm>
            <a:off x="281397" y="1012954"/>
            <a:ext cx="5281204" cy="5478423"/>
          </a:xfrm>
          <a:prstGeom prst="rect">
            <a:avLst/>
          </a:prstGeom>
          <a:noFill/>
        </p:spPr>
        <p:txBody>
          <a:bodyPr wrap="square" rtlCol="0">
            <a:spAutoFit/>
          </a:bodyPr>
          <a:lstStyle/>
          <a:p>
            <a:r>
              <a:rPr lang="en-US" sz="1400" b="1" dirty="0">
                <a:solidFill>
                  <a:schemeClr val="accent1"/>
                </a:solidFill>
              </a:rPr>
              <a:t>Line 1: Header</a:t>
            </a:r>
          </a:p>
          <a:p>
            <a:endParaRPr lang="en-US" sz="1400" dirty="0"/>
          </a:p>
          <a:p>
            <a:r>
              <a:rPr lang="en-US" sz="1400" dirty="0"/>
              <a:t>@HWI-ST227:389:C4WA2ACXX:7:1204:2272:59979</a:t>
            </a:r>
          </a:p>
          <a:p>
            <a:endParaRPr lang="en-US" sz="1400" dirty="0"/>
          </a:p>
          <a:p>
            <a:r>
              <a:rPr lang="en-US" sz="1400" b="1" dirty="0">
                <a:solidFill>
                  <a:schemeClr val="accent1"/>
                </a:solidFill>
              </a:rPr>
              <a:t>Line 2: Sequence</a:t>
            </a:r>
          </a:p>
          <a:p>
            <a:endParaRPr lang="en-US" sz="1400" dirty="0"/>
          </a:p>
          <a:p>
            <a:r>
              <a:rPr lang="en-US" sz="1400" dirty="0"/>
              <a:t>GAGGAAGAGCTCCCTGCCTCTCTCCTCCTTAAAGGAAAGTGGGCGGAAT</a:t>
            </a:r>
          </a:p>
          <a:p>
            <a:endParaRPr lang="en-US" sz="1400" dirty="0"/>
          </a:p>
          <a:p>
            <a:r>
              <a:rPr lang="en-US" sz="1400" b="1" dirty="0">
                <a:solidFill>
                  <a:schemeClr val="accent1"/>
                </a:solidFill>
              </a:rPr>
              <a:t>Line 3: </a:t>
            </a:r>
            <a:r>
              <a:rPr lang="en-US" sz="1400" b="1" dirty="0" err="1">
                <a:solidFill>
                  <a:schemeClr val="accent1"/>
                </a:solidFill>
              </a:rPr>
              <a:t>Seperator</a:t>
            </a:r>
            <a:r>
              <a:rPr lang="en-US" sz="1400" b="1" dirty="0">
                <a:solidFill>
                  <a:schemeClr val="accent1"/>
                </a:solidFill>
              </a:rPr>
              <a:t> Line</a:t>
            </a:r>
          </a:p>
          <a:p>
            <a:endParaRPr lang="en-US" sz="1400" b="1" dirty="0">
              <a:solidFill>
                <a:schemeClr val="bg1">
                  <a:lumMod val="50000"/>
                </a:schemeClr>
              </a:solidFill>
            </a:endParaRPr>
          </a:p>
          <a:p>
            <a:r>
              <a:rPr lang="en-US" sz="1400" dirty="0"/>
              <a:t>+ </a:t>
            </a:r>
          </a:p>
          <a:p>
            <a:endParaRPr lang="en-US" sz="1400" b="1" dirty="0">
              <a:solidFill>
                <a:schemeClr val="bg1">
                  <a:lumMod val="50000"/>
                </a:schemeClr>
              </a:solidFill>
            </a:endParaRPr>
          </a:p>
          <a:p>
            <a:r>
              <a:rPr lang="en-US" sz="1400" b="1" dirty="0">
                <a:solidFill>
                  <a:schemeClr val="accent1"/>
                </a:solidFill>
              </a:rPr>
              <a:t>Line 4: Quality Scores (Phred score conversion – reliability of base read)</a:t>
            </a:r>
          </a:p>
          <a:p>
            <a:endParaRPr lang="en-US" sz="1400" b="1" dirty="0">
              <a:solidFill>
                <a:schemeClr val="bg1">
                  <a:lumMod val="50000"/>
                </a:schemeClr>
              </a:solidFill>
            </a:endParaRPr>
          </a:p>
          <a:p>
            <a:r>
              <a:rPr lang="en-US" sz="1400" dirty="0"/>
              <a:t>FFFGGHGHHGHHGHIJJJJJJJJJJJJJJJJJJJJJJJJJJJJHHHHHFFFEEEEDDD</a:t>
            </a:r>
          </a:p>
          <a:p>
            <a:endParaRPr lang="en-US" sz="1400" dirty="0"/>
          </a:p>
          <a:p>
            <a:r>
              <a:rPr lang="en-GB" sz="1400" dirty="0"/>
              <a:t>Each character represents a </a:t>
            </a:r>
            <a:r>
              <a:rPr lang="en-GB" sz="1400" b="1" dirty="0"/>
              <a:t>score between 0 and ~40+</a:t>
            </a:r>
            <a:r>
              <a:rPr lang="en-GB" sz="1400" dirty="0"/>
              <a:t>, indicating the confidence of each base call. High-quality base = high score e.g., ‘F’ or ‘J’, Low-quality base = low score e.g., ‘!’ or ‘#’</a:t>
            </a:r>
            <a:r>
              <a:rPr lang="en-US" sz="1400" dirty="0"/>
              <a:t>. </a:t>
            </a:r>
            <a:r>
              <a:rPr lang="en-GB" sz="1400" dirty="0"/>
              <a:t>ASCII characters encoding the </a:t>
            </a:r>
            <a:r>
              <a:rPr lang="en-GB" sz="1400" b="1" dirty="0"/>
              <a:t>Phred quality score</a:t>
            </a:r>
            <a:r>
              <a:rPr lang="en-GB" sz="1400" dirty="0"/>
              <a:t> of each base in Line 2</a:t>
            </a:r>
            <a:endParaRPr lang="en-US" sz="1400" dirty="0"/>
          </a:p>
          <a:p>
            <a:endParaRPr lang="en-US" sz="1400" dirty="0"/>
          </a:p>
          <a:p>
            <a:endParaRPr lang="en-US" sz="1400" dirty="0"/>
          </a:p>
        </p:txBody>
      </p:sp>
      <p:sp>
        <p:nvSpPr>
          <p:cNvPr id="6" name="TextBox 5">
            <a:extLst>
              <a:ext uri="{FF2B5EF4-FFF2-40B4-BE49-F238E27FC236}">
                <a16:creationId xmlns:a16="http://schemas.microsoft.com/office/drawing/2014/main" id="{E707EF2F-C74B-F2B0-D797-18A5216E5BBD}"/>
              </a:ext>
            </a:extLst>
          </p:cNvPr>
          <p:cNvSpPr txBox="1"/>
          <p:nvPr/>
        </p:nvSpPr>
        <p:spPr>
          <a:xfrm>
            <a:off x="8859586" y="4716123"/>
            <a:ext cx="3051018" cy="1754326"/>
          </a:xfrm>
          <a:prstGeom prst="rect">
            <a:avLst/>
          </a:prstGeom>
          <a:noFill/>
          <a:ln w="12700">
            <a:solidFill>
              <a:schemeClr val="tx1"/>
            </a:solidFill>
          </a:ln>
        </p:spPr>
        <p:txBody>
          <a:bodyPr wrap="square" rtlCol="0">
            <a:spAutoFit/>
          </a:bodyPr>
          <a:lstStyle/>
          <a:p>
            <a:r>
              <a:rPr lang="en-US" b="1" dirty="0"/>
              <a:t>Phred scores:</a:t>
            </a:r>
          </a:p>
          <a:p>
            <a:endParaRPr lang="en-US" dirty="0"/>
          </a:p>
          <a:p>
            <a:r>
              <a:rPr lang="en-GB" sz="1200" dirty="0"/>
              <a:t>I, J, K: High quality scores (Phred 40-42)</a:t>
            </a:r>
          </a:p>
          <a:p>
            <a:endParaRPr lang="en-GB" sz="1200" dirty="0"/>
          </a:p>
          <a:p>
            <a:r>
              <a:rPr lang="en-GB" sz="1200" dirty="0"/>
              <a:t>F, G, H: Very good quality (Phred 37-39)</a:t>
            </a:r>
          </a:p>
          <a:p>
            <a:endParaRPr lang="en-GB" sz="1200" dirty="0"/>
          </a:p>
          <a:p>
            <a:r>
              <a:rPr lang="en-GB" sz="1200" dirty="0"/>
              <a:t>B,C,D: Moderate quality (Phred 33-35)</a:t>
            </a:r>
          </a:p>
          <a:p>
            <a:endParaRPr lang="en-GB" sz="1200" dirty="0"/>
          </a:p>
        </p:txBody>
      </p:sp>
      <p:pic>
        <p:nvPicPr>
          <p:cNvPr id="3" name="Picture 2">
            <a:extLst>
              <a:ext uri="{FF2B5EF4-FFF2-40B4-BE49-F238E27FC236}">
                <a16:creationId xmlns:a16="http://schemas.microsoft.com/office/drawing/2014/main" id="{95448C68-107E-CE2F-757C-D0EF00B6B99A}"/>
              </a:ext>
            </a:extLst>
          </p:cNvPr>
          <p:cNvPicPr>
            <a:picLocks noChangeAspect="1"/>
          </p:cNvPicPr>
          <p:nvPr/>
        </p:nvPicPr>
        <p:blipFill>
          <a:blip r:embed="rId3"/>
          <a:stretch>
            <a:fillRect/>
          </a:stretch>
        </p:blipFill>
        <p:spPr>
          <a:xfrm>
            <a:off x="6223058" y="2437944"/>
            <a:ext cx="5687545" cy="1754327"/>
          </a:xfrm>
          <a:prstGeom prst="rect">
            <a:avLst/>
          </a:prstGeom>
        </p:spPr>
      </p:pic>
    </p:spTree>
    <p:extLst>
      <p:ext uri="{BB962C8B-B14F-4D97-AF65-F5344CB8AC3E}">
        <p14:creationId xmlns:p14="http://schemas.microsoft.com/office/powerpoint/2010/main" val="1947473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DE91E98-5558-5383-5A9B-B10F6C7CDE95}"/>
              </a:ext>
            </a:extLst>
          </p:cNvPr>
          <p:cNvSpPr txBox="1"/>
          <p:nvPr/>
        </p:nvSpPr>
        <p:spPr>
          <a:xfrm>
            <a:off x="148889" y="13266"/>
            <a:ext cx="9568542" cy="646331"/>
          </a:xfrm>
          <a:prstGeom prst="rect">
            <a:avLst/>
          </a:prstGeom>
          <a:noFill/>
        </p:spPr>
        <p:txBody>
          <a:bodyPr wrap="square" rtlCol="0">
            <a:spAutoFit/>
          </a:bodyPr>
          <a:lstStyle/>
          <a:p>
            <a:r>
              <a:rPr lang="en-US" sz="3600" b="1" dirty="0">
                <a:solidFill>
                  <a:srgbClr val="143C61"/>
                </a:solidFill>
              </a:rPr>
              <a:t>Processing of .</a:t>
            </a:r>
            <a:r>
              <a:rPr lang="en-US" sz="3600" b="1" dirty="0" err="1">
                <a:solidFill>
                  <a:srgbClr val="143C61"/>
                </a:solidFill>
              </a:rPr>
              <a:t>fastq</a:t>
            </a:r>
            <a:r>
              <a:rPr lang="en-US" sz="3600" b="1" dirty="0">
                <a:solidFill>
                  <a:srgbClr val="143C61"/>
                </a:solidFill>
              </a:rPr>
              <a:t> files by CRISPResso2</a:t>
            </a:r>
          </a:p>
        </p:txBody>
      </p:sp>
      <p:pic>
        <p:nvPicPr>
          <p:cNvPr id="5" name="Picture 4" descr="FASTQ format">
            <a:extLst>
              <a:ext uri="{FF2B5EF4-FFF2-40B4-BE49-F238E27FC236}">
                <a16:creationId xmlns:a16="http://schemas.microsoft.com/office/drawing/2014/main" id="{9E03A714-D3CD-2A09-97CA-3B2A58202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970" y="1114779"/>
            <a:ext cx="2632499" cy="157525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E8EAF65-52E9-D037-00C1-02A2E5A850E0}"/>
              </a:ext>
            </a:extLst>
          </p:cNvPr>
          <p:cNvSpPr txBox="1"/>
          <p:nvPr/>
        </p:nvSpPr>
        <p:spPr>
          <a:xfrm>
            <a:off x="459970" y="2803559"/>
            <a:ext cx="2722505" cy="369332"/>
          </a:xfrm>
          <a:prstGeom prst="rect">
            <a:avLst/>
          </a:prstGeom>
          <a:noFill/>
        </p:spPr>
        <p:txBody>
          <a:bodyPr wrap="square" rtlCol="0">
            <a:spAutoFit/>
          </a:bodyPr>
          <a:lstStyle/>
          <a:p>
            <a:r>
              <a:rPr lang="en-US" dirty="0"/>
              <a:t>Sequencing reads (.</a:t>
            </a:r>
            <a:r>
              <a:rPr lang="en-US" dirty="0" err="1"/>
              <a:t>fastq</a:t>
            </a:r>
            <a:r>
              <a:rPr lang="en-US" dirty="0"/>
              <a:t>)</a:t>
            </a:r>
          </a:p>
        </p:txBody>
      </p:sp>
      <p:sp>
        <p:nvSpPr>
          <p:cNvPr id="7" name="TextBox 6">
            <a:extLst>
              <a:ext uri="{FF2B5EF4-FFF2-40B4-BE49-F238E27FC236}">
                <a16:creationId xmlns:a16="http://schemas.microsoft.com/office/drawing/2014/main" id="{88F0BD83-5F95-F0A4-263D-9C02D405303F}"/>
              </a:ext>
            </a:extLst>
          </p:cNvPr>
          <p:cNvSpPr txBox="1"/>
          <p:nvPr/>
        </p:nvSpPr>
        <p:spPr>
          <a:xfrm>
            <a:off x="5207131" y="612636"/>
            <a:ext cx="2174056" cy="369332"/>
          </a:xfrm>
          <a:prstGeom prst="rect">
            <a:avLst/>
          </a:prstGeom>
          <a:noFill/>
        </p:spPr>
        <p:txBody>
          <a:bodyPr wrap="square" rtlCol="0">
            <a:spAutoFit/>
          </a:bodyPr>
          <a:lstStyle/>
          <a:p>
            <a:r>
              <a:rPr lang="en-US" b="1" dirty="0"/>
              <a:t>2. Alignment</a:t>
            </a:r>
          </a:p>
        </p:txBody>
      </p:sp>
      <p:cxnSp>
        <p:nvCxnSpPr>
          <p:cNvPr id="9" name="Straight Connector 8">
            <a:extLst>
              <a:ext uri="{FF2B5EF4-FFF2-40B4-BE49-F238E27FC236}">
                <a16:creationId xmlns:a16="http://schemas.microsoft.com/office/drawing/2014/main" id="{A10D2D54-8CCD-A384-6A6C-EEF32D5C4D92}"/>
              </a:ext>
            </a:extLst>
          </p:cNvPr>
          <p:cNvCxnSpPr/>
          <p:nvPr/>
        </p:nvCxnSpPr>
        <p:spPr>
          <a:xfrm>
            <a:off x="5235056" y="1898457"/>
            <a:ext cx="3967162" cy="0"/>
          </a:xfrm>
          <a:prstGeom prst="line">
            <a:avLst/>
          </a:prstGeom>
          <a:ln w="152400"/>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72F452C-E822-ACE2-2B1D-357FF7C5E63C}"/>
              </a:ext>
            </a:extLst>
          </p:cNvPr>
          <p:cNvSpPr txBox="1"/>
          <p:nvPr/>
        </p:nvSpPr>
        <p:spPr>
          <a:xfrm>
            <a:off x="5301044" y="1938206"/>
            <a:ext cx="3967162" cy="369332"/>
          </a:xfrm>
          <a:prstGeom prst="rect">
            <a:avLst/>
          </a:prstGeom>
          <a:noFill/>
        </p:spPr>
        <p:txBody>
          <a:bodyPr wrap="square" rtlCol="0">
            <a:spAutoFit/>
          </a:bodyPr>
          <a:lstStyle/>
          <a:p>
            <a:r>
              <a:rPr lang="en-US" dirty="0">
                <a:latin typeface="Courier" pitchFamily="2" charset="0"/>
              </a:rPr>
              <a:t>ACGTACGTGAGCTGATCTGATCGATCT</a:t>
            </a:r>
          </a:p>
        </p:txBody>
      </p:sp>
      <p:sp>
        <p:nvSpPr>
          <p:cNvPr id="11" name="TextBox 10">
            <a:extLst>
              <a:ext uri="{FF2B5EF4-FFF2-40B4-BE49-F238E27FC236}">
                <a16:creationId xmlns:a16="http://schemas.microsoft.com/office/drawing/2014/main" id="{FDBE2763-1EA2-C9C1-EFC4-051EADC91AED}"/>
              </a:ext>
            </a:extLst>
          </p:cNvPr>
          <p:cNvSpPr txBox="1"/>
          <p:nvPr/>
        </p:nvSpPr>
        <p:spPr>
          <a:xfrm>
            <a:off x="9494939" y="1727288"/>
            <a:ext cx="2178269" cy="338554"/>
          </a:xfrm>
          <a:prstGeom prst="rect">
            <a:avLst/>
          </a:prstGeom>
          <a:noFill/>
        </p:spPr>
        <p:txBody>
          <a:bodyPr wrap="square" rtlCol="0">
            <a:spAutoFit/>
          </a:bodyPr>
          <a:lstStyle/>
          <a:p>
            <a:r>
              <a:rPr lang="en-US" sz="1600" dirty="0"/>
              <a:t>Reference amplicon</a:t>
            </a:r>
          </a:p>
        </p:txBody>
      </p:sp>
      <p:cxnSp>
        <p:nvCxnSpPr>
          <p:cNvPr id="15" name="Straight Connector 14">
            <a:extLst>
              <a:ext uri="{FF2B5EF4-FFF2-40B4-BE49-F238E27FC236}">
                <a16:creationId xmlns:a16="http://schemas.microsoft.com/office/drawing/2014/main" id="{25A18F6D-D7F7-68C0-4D04-4468ED86CDE2}"/>
              </a:ext>
            </a:extLst>
          </p:cNvPr>
          <p:cNvCxnSpPr/>
          <p:nvPr/>
        </p:nvCxnSpPr>
        <p:spPr>
          <a:xfrm>
            <a:off x="5235056" y="1534848"/>
            <a:ext cx="1837637" cy="0"/>
          </a:xfrm>
          <a:prstGeom prst="line">
            <a:avLst/>
          </a:prstGeom>
          <a:ln w="8255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EB543DA0-5177-E21D-0421-A009D8631C01}"/>
              </a:ext>
            </a:extLst>
          </p:cNvPr>
          <p:cNvSpPr txBox="1"/>
          <p:nvPr/>
        </p:nvSpPr>
        <p:spPr>
          <a:xfrm>
            <a:off x="5301044" y="1509251"/>
            <a:ext cx="1949187" cy="369332"/>
          </a:xfrm>
          <a:prstGeom prst="rect">
            <a:avLst/>
          </a:prstGeom>
          <a:noFill/>
        </p:spPr>
        <p:txBody>
          <a:bodyPr wrap="square" rtlCol="0">
            <a:spAutoFit/>
          </a:bodyPr>
          <a:lstStyle/>
          <a:p>
            <a:r>
              <a:rPr lang="en-US" dirty="0">
                <a:latin typeface="Courier" pitchFamily="2" charset="0"/>
              </a:rPr>
              <a:t>ACGTACGTGAGC</a:t>
            </a:r>
          </a:p>
        </p:txBody>
      </p:sp>
      <p:sp>
        <p:nvSpPr>
          <p:cNvPr id="18" name="TextBox 17">
            <a:extLst>
              <a:ext uri="{FF2B5EF4-FFF2-40B4-BE49-F238E27FC236}">
                <a16:creationId xmlns:a16="http://schemas.microsoft.com/office/drawing/2014/main" id="{728B4BC8-3680-D7C3-FA1F-315739DCA26A}"/>
              </a:ext>
            </a:extLst>
          </p:cNvPr>
          <p:cNvSpPr txBox="1"/>
          <p:nvPr/>
        </p:nvSpPr>
        <p:spPr>
          <a:xfrm>
            <a:off x="5207131" y="1102553"/>
            <a:ext cx="1114068" cy="400110"/>
          </a:xfrm>
          <a:prstGeom prst="rect">
            <a:avLst/>
          </a:prstGeom>
          <a:noFill/>
        </p:spPr>
        <p:txBody>
          <a:bodyPr wrap="square" rtlCol="0">
            <a:spAutoFit/>
          </a:bodyPr>
          <a:lstStyle/>
          <a:p>
            <a:r>
              <a:rPr lang="en-US" sz="2000" b="1" dirty="0">
                <a:solidFill>
                  <a:srgbClr val="FF0000"/>
                </a:solidFill>
              </a:rPr>
              <a:t>sgRNA</a:t>
            </a:r>
          </a:p>
        </p:txBody>
      </p:sp>
      <p:sp>
        <p:nvSpPr>
          <p:cNvPr id="19" name="Rectangle 18">
            <a:extLst>
              <a:ext uri="{FF2B5EF4-FFF2-40B4-BE49-F238E27FC236}">
                <a16:creationId xmlns:a16="http://schemas.microsoft.com/office/drawing/2014/main" id="{82CE6F37-75AD-8170-0DD4-979E1D739CD7}"/>
              </a:ext>
            </a:extLst>
          </p:cNvPr>
          <p:cNvSpPr/>
          <p:nvPr/>
        </p:nvSpPr>
        <p:spPr>
          <a:xfrm>
            <a:off x="6504200" y="1401276"/>
            <a:ext cx="1601623" cy="2087579"/>
          </a:xfrm>
          <a:prstGeom prst="rect">
            <a:avLst/>
          </a:prstGeom>
          <a:noFill/>
          <a:ln w="25400">
            <a:solidFill>
              <a:schemeClr val="accent5">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B140C0FB-4F28-E905-0C92-5133FBB9C6A6}"/>
              </a:ext>
            </a:extLst>
          </p:cNvPr>
          <p:cNvCxnSpPr/>
          <p:nvPr/>
        </p:nvCxnSpPr>
        <p:spPr>
          <a:xfrm>
            <a:off x="5301044" y="2520627"/>
            <a:ext cx="1601967" cy="0"/>
          </a:xfrm>
          <a:prstGeom prst="line">
            <a:avLst/>
          </a:prstGeom>
          <a:ln w="136525"/>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68DF117-51A6-A776-562D-A26D5227C2F9}"/>
              </a:ext>
            </a:extLst>
          </p:cNvPr>
          <p:cNvCxnSpPr/>
          <p:nvPr/>
        </p:nvCxnSpPr>
        <p:spPr>
          <a:xfrm>
            <a:off x="7600251" y="2520627"/>
            <a:ext cx="1601967" cy="0"/>
          </a:xfrm>
          <a:prstGeom prst="line">
            <a:avLst/>
          </a:prstGeom>
          <a:ln w="136525"/>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495F6D9D-203A-42CD-B893-E24BAE16F417}"/>
              </a:ext>
            </a:extLst>
          </p:cNvPr>
          <p:cNvSpPr txBox="1"/>
          <p:nvPr/>
        </p:nvSpPr>
        <p:spPr>
          <a:xfrm>
            <a:off x="5301044" y="2541546"/>
            <a:ext cx="1751263" cy="369332"/>
          </a:xfrm>
          <a:prstGeom prst="rect">
            <a:avLst/>
          </a:prstGeom>
          <a:noFill/>
        </p:spPr>
        <p:txBody>
          <a:bodyPr wrap="square" rtlCol="0">
            <a:spAutoFit/>
          </a:bodyPr>
          <a:lstStyle/>
          <a:p>
            <a:r>
              <a:rPr lang="en-US" dirty="0">
                <a:latin typeface="Courier" pitchFamily="2" charset="0"/>
              </a:rPr>
              <a:t>ACGTACGTGAG</a:t>
            </a:r>
          </a:p>
        </p:txBody>
      </p:sp>
      <p:sp>
        <p:nvSpPr>
          <p:cNvPr id="26" name="TextBox 25">
            <a:extLst>
              <a:ext uri="{FF2B5EF4-FFF2-40B4-BE49-F238E27FC236}">
                <a16:creationId xmlns:a16="http://schemas.microsoft.com/office/drawing/2014/main" id="{41A31EB1-D180-AC8F-52F6-E4BCE44FEEAA}"/>
              </a:ext>
            </a:extLst>
          </p:cNvPr>
          <p:cNvSpPr txBox="1"/>
          <p:nvPr/>
        </p:nvSpPr>
        <p:spPr>
          <a:xfrm>
            <a:off x="7382494" y="2548952"/>
            <a:ext cx="1903783" cy="369332"/>
          </a:xfrm>
          <a:prstGeom prst="rect">
            <a:avLst/>
          </a:prstGeom>
          <a:noFill/>
        </p:spPr>
        <p:txBody>
          <a:bodyPr wrap="square" rtlCol="0">
            <a:spAutoFit/>
          </a:bodyPr>
          <a:lstStyle/>
          <a:p>
            <a:r>
              <a:rPr lang="en-US" dirty="0">
                <a:latin typeface="Courier" pitchFamily="2" charset="0"/>
              </a:rPr>
              <a:t> CTGATCGATCT</a:t>
            </a:r>
          </a:p>
        </p:txBody>
      </p:sp>
      <p:sp>
        <p:nvSpPr>
          <p:cNvPr id="27" name="TextBox 26">
            <a:extLst>
              <a:ext uri="{FF2B5EF4-FFF2-40B4-BE49-F238E27FC236}">
                <a16:creationId xmlns:a16="http://schemas.microsoft.com/office/drawing/2014/main" id="{CE6F81E9-412D-6999-9F36-9DE3426A33FC}"/>
              </a:ext>
            </a:extLst>
          </p:cNvPr>
          <p:cNvSpPr txBox="1"/>
          <p:nvPr/>
        </p:nvSpPr>
        <p:spPr>
          <a:xfrm>
            <a:off x="9494939" y="2348869"/>
            <a:ext cx="2367170" cy="338554"/>
          </a:xfrm>
          <a:prstGeom prst="rect">
            <a:avLst/>
          </a:prstGeom>
          <a:noFill/>
        </p:spPr>
        <p:txBody>
          <a:bodyPr wrap="square" rtlCol="0">
            <a:spAutoFit/>
          </a:bodyPr>
          <a:lstStyle/>
          <a:p>
            <a:r>
              <a:rPr lang="en-US" sz="1600" dirty="0"/>
              <a:t>Aligned sequence</a:t>
            </a:r>
          </a:p>
        </p:txBody>
      </p:sp>
      <p:sp>
        <p:nvSpPr>
          <p:cNvPr id="32" name="TextBox 31">
            <a:extLst>
              <a:ext uri="{FF2B5EF4-FFF2-40B4-BE49-F238E27FC236}">
                <a16:creationId xmlns:a16="http://schemas.microsoft.com/office/drawing/2014/main" id="{B716CE6D-A546-0D29-4896-A53BCB53F788}"/>
              </a:ext>
            </a:extLst>
          </p:cNvPr>
          <p:cNvSpPr txBox="1"/>
          <p:nvPr/>
        </p:nvSpPr>
        <p:spPr>
          <a:xfrm>
            <a:off x="8280218" y="3194116"/>
            <a:ext cx="2445369" cy="338554"/>
          </a:xfrm>
          <a:prstGeom prst="rect">
            <a:avLst/>
          </a:prstGeom>
          <a:noFill/>
        </p:spPr>
        <p:txBody>
          <a:bodyPr wrap="square" rtlCol="0">
            <a:spAutoFit/>
          </a:bodyPr>
          <a:lstStyle/>
          <a:p>
            <a:r>
              <a:rPr lang="en-US" sz="1600" dirty="0"/>
              <a:t>Quantification window</a:t>
            </a:r>
          </a:p>
        </p:txBody>
      </p:sp>
      <p:sp>
        <p:nvSpPr>
          <p:cNvPr id="34" name="TextBox 33">
            <a:extLst>
              <a:ext uri="{FF2B5EF4-FFF2-40B4-BE49-F238E27FC236}">
                <a16:creationId xmlns:a16="http://schemas.microsoft.com/office/drawing/2014/main" id="{4B76C0A3-82E7-72B0-CAED-7CBF05B53250}"/>
              </a:ext>
            </a:extLst>
          </p:cNvPr>
          <p:cNvSpPr txBox="1"/>
          <p:nvPr/>
        </p:nvSpPr>
        <p:spPr>
          <a:xfrm>
            <a:off x="5242920" y="3762478"/>
            <a:ext cx="2816111" cy="923330"/>
          </a:xfrm>
          <a:prstGeom prst="rect">
            <a:avLst/>
          </a:prstGeom>
          <a:noFill/>
        </p:spPr>
        <p:txBody>
          <a:bodyPr wrap="square" rtlCol="0">
            <a:spAutoFit/>
          </a:bodyPr>
          <a:lstStyle/>
          <a:p>
            <a:r>
              <a:rPr lang="en-US" b="1" dirty="0"/>
              <a:t>3. Are edits present within the quantification window?</a:t>
            </a:r>
          </a:p>
        </p:txBody>
      </p:sp>
      <p:pic>
        <p:nvPicPr>
          <p:cNvPr id="38" name="Graphic 37" descr="Line arrow: Clockwise curve outline">
            <a:extLst>
              <a:ext uri="{FF2B5EF4-FFF2-40B4-BE49-F238E27FC236}">
                <a16:creationId xmlns:a16="http://schemas.microsoft.com/office/drawing/2014/main" id="{37D5C20C-6C8E-E10A-0C18-4A0941D02E4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7175663" flipV="1">
            <a:off x="6374213" y="5493247"/>
            <a:ext cx="914400" cy="868598"/>
          </a:xfrm>
          <a:prstGeom prst="rect">
            <a:avLst/>
          </a:prstGeom>
        </p:spPr>
      </p:pic>
      <p:sp>
        <p:nvSpPr>
          <p:cNvPr id="39" name="TextBox 38">
            <a:extLst>
              <a:ext uri="{FF2B5EF4-FFF2-40B4-BE49-F238E27FC236}">
                <a16:creationId xmlns:a16="http://schemas.microsoft.com/office/drawing/2014/main" id="{738EDDB4-C8ED-B569-84B2-E2A225028540}"/>
              </a:ext>
            </a:extLst>
          </p:cNvPr>
          <p:cNvSpPr txBox="1"/>
          <p:nvPr/>
        </p:nvSpPr>
        <p:spPr>
          <a:xfrm>
            <a:off x="6189143" y="5062486"/>
            <a:ext cx="630113" cy="369332"/>
          </a:xfrm>
          <a:prstGeom prst="rect">
            <a:avLst/>
          </a:prstGeom>
          <a:noFill/>
          <a:ln>
            <a:solidFill>
              <a:schemeClr val="accent5">
                <a:lumMod val="50000"/>
              </a:schemeClr>
            </a:solidFill>
          </a:ln>
        </p:spPr>
        <p:txBody>
          <a:bodyPr wrap="square" rtlCol="0">
            <a:spAutoFit/>
          </a:bodyPr>
          <a:lstStyle/>
          <a:p>
            <a:pPr algn="ctr"/>
            <a:r>
              <a:rPr lang="en-US" dirty="0"/>
              <a:t>NO</a:t>
            </a:r>
          </a:p>
        </p:txBody>
      </p:sp>
      <p:sp>
        <p:nvSpPr>
          <p:cNvPr id="40" name="TextBox 39">
            <a:extLst>
              <a:ext uri="{FF2B5EF4-FFF2-40B4-BE49-F238E27FC236}">
                <a16:creationId xmlns:a16="http://schemas.microsoft.com/office/drawing/2014/main" id="{4972A5FB-8351-2C78-0C64-6772EA4F1EF6}"/>
              </a:ext>
            </a:extLst>
          </p:cNvPr>
          <p:cNvSpPr txBox="1"/>
          <p:nvPr/>
        </p:nvSpPr>
        <p:spPr>
          <a:xfrm>
            <a:off x="7142132" y="5927546"/>
            <a:ext cx="1103379" cy="646331"/>
          </a:xfrm>
          <a:prstGeom prst="rect">
            <a:avLst/>
          </a:prstGeom>
          <a:noFill/>
        </p:spPr>
        <p:txBody>
          <a:bodyPr wrap="square" rtlCol="0">
            <a:spAutoFit/>
          </a:bodyPr>
          <a:lstStyle/>
          <a:p>
            <a:r>
              <a:rPr lang="en-US" dirty="0"/>
              <a:t>Read not</a:t>
            </a:r>
          </a:p>
          <a:p>
            <a:r>
              <a:rPr lang="en-US" dirty="0"/>
              <a:t>modified</a:t>
            </a:r>
          </a:p>
        </p:txBody>
      </p:sp>
      <p:pic>
        <p:nvPicPr>
          <p:cNvPr id="41" name="Graphic 40" descr="Line arrow: Clockwise curve outline">
            <a:extLst>
              <a:ext uri="{FF2B5EF4-FFF2-40B4-BE49-F238E27FC236}">
                <a16:creationId xmlns:a16="http://schemas.microsoft.com/office/drawing/2014/main" id="{BAA5D25E-6F76-9A44-ECB8-A2B9BB18AB9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9031277">
            <a:off x="8784555" y="4187930"/>
            <a:ext cx="914400" cy="947003"/>
          </a:xfrm>
          <a:prstGeom prst="rect">
            <a:avLst/>
          </a:prstGeom>
        </p:spPr>
      </p:pic>
      <p:sp>
        <p:nvSpPr>
          <p:cNvPr id="42" name="TextBox 41">
            <a:extLst>
              <a:ext uri="{FF2B5EF4-FFF2-40B4-BE49-F238E27FC236}">
                <a16:creationId xmlns:a16="http://schemas.microsoft.com/office/drawing/2014/main" id="{617A54D2-61BA-8AAF-D583-FAA9CC476003}"/>
              </a:ext>
            </a:extLst>
          </p:cNvPr>
          <p:cNvSpPr txBox="1"/>
          <p:nvPr/>
        </p:nvSpPr>
        <p:spPr>
          <a:xfrm>
            <a:off x="8034288" y="4333253"/>
            <a:ext cx="630113" cy="369332"/>
          </a:xfrm>
          <a:prstGeom prst="rect">
            <a:avLst/>
          </a:prstGeom>
          <a:noFill/>
          <a:ln>
            <a:solidFill>
              <a:schemeClr val="accent5">
                <a:lumMod val="50000"/>
              </a:schemeClr>
            </a:solidFill>
          </a:ln>
        </p:spPr>
        <p:txBody>
          <a:bodyPr wrap="square" rtlCol="0">
            <a:spAutoFit/>
          </a:bodyPr>
          <a:lstStyle/>
          <a:p>
            <a:pPr algn="ctr"/>
            <a:r>
              <a:rPr lang="en-US" dirty="0"/>
              <a:t>YES</a:t>
            </a:r>
          </a:p>
        </p:txBody>
      </p:sp>
      <p:sp>
        <p:nvSpPr>
          <p:cNvPr id="43" name="TextBox 42">
            <a:extLst>
              <a:ext uri="{FF2B5EF4-FFF2-40B4-BE49-F238E27FC236}">
                <a16:creationId xmlns:a16="http://schemas.microsoft.com/office/drawing/2014/main" id="{4BF096D3-C377-9E90-720F-B47BB733E8FF}"/>
              </a:ext>
            </a:extLst>
          </p:cNvPr>
          <p:cNvSpPr txBox="1"/>
          <p:nvPr/>
        </p:nvSpPr>
        <p:spPr>
          <a:xfrm>
            <a:off x="9165742" y="4975456"/>
            <a:ext cx="1103379" cy="646331"/>
          </a:xfrm>
          <a:prstGeom prst="rect">
            <a:avLst/>
          </a:prstGeom>
          <a:noFill/>
        </p:spPr>
        <p:txBody>
          <a:bodyPr wrap="square" rtlCol="0">
            <a:spAutoFit/>
          </a:bodyPr>
          <a:lstStyle/>
          <a:p>
            <a:r>
              <a:rPr lang="en-US" dirty="0"/>
              <a:t>Read is</a:t>
            </a:r>
          </a:p>
          <a:p>
            <a:r>
              <a:rPr lang="en-US" dirty="0"/>
              <a:t>modified</a:t>
            </a:r>
          </a:p>
        </p:txBody>
      </p:sp>
      <p:sp>
        <p:nvSpPr>
          <p:cNvPr id="44" name="TextBox 43">
            <a:extLst>
              <a:ext uri="{FF2B5EF4-FFF2-40B4-BE49-F238E27FC236}">
                <a16:creationId xmlns:a16="http://schemas.microsoft.com/office/drawing/2014/main" id="{3127482C-E705-B821-3EE6-41A24564784C}"/>
              </a:ext>
            </a:extLst>
          </p:cNvPr>
          <p:cNvSpPr txBox="1"/>
          <p:nvPr/>
        </p:nvSpPr>
        <p:spPr>
          <a:xfrm>
            <a:off x="416260" y="3720594"/>
            <a:ext cx="3426397" cy="369332"/>
          </a:xfrm>
          <a:prstGeom prst="rect">
            <a:avLst/>
          </a:prstGeom>
          <a:noFill/>
        </p:spPr>
        <p:txBody>
          <a:bodyPr wrap="square" rtlCol="0">
            <a:spAutoFit/>
          </a:bodyPr>
          <a:lstStyle/>
          <a:p>
            <a:r>
              <a:rPr lang="en-US" b="1" dirty="0"/>
              <a:t>4. Summary of Editing</a:t>
            </a:r>
          </a:p>
        </p:txBody>
      </p:sp>
      <p:pic>
        <p:nvPicPr>
          <p:cNvPr id="47" name="Picture 6">
            <a:extLst>
              <a:ext uri="{FF2B5EF4-FFF2-40B4-BE49-F238E27FC236}">
                <a16:creationId xmlns:a16="http://schemas.microsoft.com/office/drawing/2014/main" id="{9B2B95E4-A505-0054-13A6-C43384A893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7466" y="4317765"/>
            <a:ext cx="2885191" cy="222810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F6DA20D-26FB-B9A2-96EC-7B80DE7C74F9}"/>
              </a:ext>
            </a:extLst>
          </p:cNvPr>
          <p:cNvSpPr txBox="1"/>
          <p:nvPr/>
        </p:nvSpPr>
        <p:spPr>
          <a:xfrm>
            <a:off x="512216" y="631925"/>
            <a:ext cx="2174056" cy="369332"/>
          </a:xfrm>
          <a:prstGeom prst="rect">
            <a:avLst/>
          </a:prstGeom>
          <a:noFill/>
        </p:spPr>
        <p:txBody>
          <a:bodyPr wrap="square" rtlCol="0">
            <a:spAutoFit/>
          </a:bodyPr>
          <a:lstStyle/>
          <a:p>
            <a:r>
              <a:rPr lang="en-US" b="1" dirty="0"/>
              <a:t>1. Data</a:t>
            </a:r>
          </a:p>
        </p:txBody>
      </p:sp>
    </p:spTree>
    <p:extLst>
      <p:ext uri="{BB962C8B-B14F-4D97-AF65-F5344CB8AC3E}">
        <p14:creationId xmlns:p14="http://schemas.microsoft.com/office/powerpoint/2010/main" val="2086945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B75C9-48E5-415F-1E5C-548A6364D166}"/>
              </a:ext>
            </a:extLst>
          </p:cNvPr>
          <p:cNvSpPr>
            <a:spLocks noGrp="1"/>
          </p:cNvSpPr>
          <p:nvPr>
            <p:ph type="title"/>
          </p:nvPr>
        </p:nvSpPr>
        <p:spPr>
          <a:xfrm>
            <a:off x="2862417" y="-57110"/>
            <a:ext cx="6619875" cy="1325563"/>
          </a:xfrm>
        </p:spPr>
        <p:txBody>
          <a:bodyPr/>
          <a:lstStyle/>
          <a:p>
            <a:r>
              <a:rPr lang="en-US" dirty="0">
                <a:solidFill>
                  <a:srgbClr val="002060"/>
                </a:solidFill>
              </a:rPr>
              <a:t>Inputs to CRISPResso2</a:t>
            </a:r>
          </a:p>
        </p:txBody>
      </p:sp>
      <p:pic>
        <p:nvPicPr>
          <p:cNvPr id="4" name="Picture 4">
            <a:extLst>
              <a:ext uri="{FF2B5EF4-FFF2-40B4-BE49-F238E27FC236}">
                <a16:creationId xmlns:a16="http://schemas.microsoft.com/office/drawing/2014/main" id="{4C027E7C-7E17-17C6-DB51-BD306C0874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05937" y="1727474"/>
            <a:ext cx="2350103" cy="25002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CEE4AC2-980F-F518-C900-9EFB848CD1FA}"/>
              </a:ext>
            </a:extLst>
          </p:cNvPr>
          <p:cNvSpPr txBox="1"/>
          <p:nvPr/>
        </p:nvSpPr>
        <p:spPr>
          <a:xfrm>
            <a:off x="9312898" y="4227744"/>
            <a:ext cx="2443142" cy="523220"/>
          </a:xfrm>
          <a:prstGeom prst="rect">
            <a:avLst/>
          </a:prstGeom>
          <a:noFill/>
        </p:spPr>
        <p:txBody>
          <a:bodyPr wrap="square">
            <a:spAutoFit/>
          </a:bodyPr>
          <a:lstStyle/>
          <a:p>
            <a:r>
              <a:rPr lang="en-US" sz="2800" dirty="0"/>
              <a:t>CRISPResso2</a:t>
            </a:r>
          </a:p>
        </p:txBody>
      </p:sp>
      <p:sp>
        <p:nvSpPr>
          <p:cNvPr id="3" name="TextBox 2">
            <a:extLst>
              <a:ext uri="{FF2B5EF4-FFF2-40B4-BE49-F238E27FC236}">
                <a16:creationId xmlns:a16="http://schemas.microsoft.com/office/drawing/2014/main" id="{E45BE96F-75D1-7E8D-580C-74D4F6EA1BA7}"/>
              </a:ext>
            </a:extLst>
          </p:cNvPr>
          <p:cNvSpPr txBox="1"/>
          <p:nvPr/>
        </p:nvSpPr>
        <p:spPr>
          <a:xfrm>
            <a:off x="341641" y="2239485"/>
            <a:ext cx="2006319" cy="430887"/>
          </a:xfrm>
          <a:prstGeom prst="rect">
            <a:avLst/>
          </a:prstGeom>
          <a:noFill/>
          <a:ln w="22225">
            <a:solidFill>
              <a:schemeClr val="accent1"/>
            </a:solidFill>
          </a:ln>
        </p:spPr>
        <p:txBody>
          <a:bodyPr wrap="square" rtlCol="0">
            <a:spAutoFit/>
          </a:bodyPr>
          <a:lstStyle/>
          <a:p>
            <a:r>
              <a:rPr lang="en-US" sz="2200" dirty="0"/>
              <a:t>Cas9</a:t>
            </a:r>
          </a:p>
        </p:txBody>
      </p:sp>
      <p:sp>
        <p:nvSpPr>
          <p:cNvPr id="5" name="TextBox 4">
            <a:extLst>
              <a:ext uri="{FF2B5EF4-FFF2-40B4-BE49-F238E27FC236}">
                <a16:creationId xmlns:a16="http://schemas.microsoft.com/office/drawing/2014/main" id="{92FA764D-50D3-4C36-1815-4152D57F5C24}"/>
              </a:ext>
            </a:extLst>
          </p:cNvPr>
          <p:cNvSpPr txBox="1"/>
          <p:nvPr/>
        </p:nvSpPr>
        <p:spPr>
          <a:xfrm>
            <a:off x="341640" y="3018171"/>
            <a:ext cx="2006320" cy="430887"/>
          </a:xfrm>
          <a:prstGeom prst="rect">
            <a:avLst/>
          </a:prstGeom>
          <a:noFill/>
          <a:ln>
            <a:solidFill>
              <a:schemeClr val="accent1"/>
            </a:solidFill>
          </a:ln>
        </p:spPr>
        <p:txBody>
          <a:bodyPr wrap="square" rtlCol="0">
            <a:spAutoFit/>
          </a:bodyPr>
          <a:lstStyle/>
          <a:p>
            <a:r>
              <a:rPr lang="en-US" sz="2200" dirty="0"/>
              <a:t>Cpf1</a:t>
            </a:r>
          </a:p>
        </p:txBody>
      </p:sp>
      <p:sp>
        <p:nvSpPr>
          <p:cNvPr id="7" name="TextBox 6">
            <a:extLst>
              <a:ext uri="{FF2B5EF4-FFF2-40B4-BE49-F238E27FC236}">
                <a16:creationId xmlns:a16="http://schemas.microsoft.com/office/drawing/2014/main" id="{5283BAC0-3098-D6B0-BB60-EF18EF1C7926}"/>
              </a:ext>
            </a:extLst>
          </p:cNvPr>
          <p:cNvSpPr txBox="1"/>
          <p:nvPr/>
        </p:nvSpPr>
        <p:spPr>
          <a:xfrm>
            <a:off x="341638" y="3796857"/>
            <a:ext cx="2006319" cy="430887"/>
          </a:xfrm>
          <a:prstGeom prst="rect">
            <a:avLst/>
          </a:prstGeom>
          <a:noFill/>
          <a:ln>
            <a:solidFill>
              <a:schemeClr val="accent1"/>
            </a:solidFill>
          </a:ln>
        </p:spPr>
        <p:txBody>
          <a:bodyPr wrap="square" rtlCol="0">
            <a:spAutoFit/>
          </a:bodyPr>
          <a:lstStyle/>
          <a:p>
            <a:r>
              <a:rPr lang="en-US" sz="2200" dirty="0"/>
              <a:t>Base editors</a:t>
            </a:r>
          </a:p>
        </p:txBody>
      </p:sp>
      <p:sp>
        <p:nvSpPr>
          <p:cNvPr id="9" name="TextBox 8">
            <a:extLst>
              <a:ext uri="{FF2B5EF4-FFF2-40B4-BE49-F238E27FC236}">
                <a16:creationId xmlns:a16="http://schemas.microsoft.com/office/drawing/2014/main" id="{C8C1891F-3F11-4DE0-DA21-C38EB2318790}"/>
              </a:ext>
            </a:extLst>
          </p:cNvPr>
          <p:cNvSpPr txBox="1"/>
          <p:nvPr/>
        </p:nvSpPr>
        <p:spPr>
          <a:xfrm>
            <a:off x="341634" y="4581233"/>
            <a:ext cx="2006319" cy="430887"/>
          </a:xfrm>
          <a:prstGeom prst="rect">
            <a:avLst/>
          </a:prstGeom>
          <a:noFill/>
          <a:ln>
            <a:solidFill>
              <a:schemeClr val="accent1"/>
            </a:solidFill>
          </a:ln>
        </p:spPr>
        <p:txBody>
          <a:bodyPr wrap="square" rtlCol="0">
            <a:spAutoFit/>
          </a:bodyPr>
          <a:lstStyle/>
          <a:p>
            <a:r>
              <a:rPr lang="en-US" sz="2200" dirty="0"/>
              <a:t>Prime editors</a:t>
            </a:r>
          </a:p>
        </p:txBody>
      </p:sp>
      <p:sp>
        <p:nvSpPr>
          <p:cNvPr id="10" name="TextBox 9">
            <a:extLst>
              <a:ext uri="{FF2B5EF4-FFF2-40B4-BE49-F238E27FC236}">
                <a16:creationId xmlns:a16="http://schemas.microsoft.com/office/drawing/2014/main" id="{79220DEA-55F3-DE4B-7800-E04E444A803D}"/>
              </a:ext>
            </a:extLst>
          </p:cNvPr>
          <p:cNvSpPr txBox="1"/>
          <p:nvPr/>
        </p:nvSpPr>
        <p:spPr>
          <a:xfrm>
            <a:off x="341634" y="5328266"/>
            <a:ext cx="2006320" cy="430887"/>
          </a:xfrm>
          <a:prstGeom prst="rect">
            <a:avLst/>
          </a:prstGeom>
          <a:noFill/>
          <a:ln>
            <a:solidFill>
              <a:schemeClr val="accent1"/>
            </a:solidFill>
          </a:ln>
        </p:spPr>
        <p:txBody>
          <a:bodyPr wrap="square" rtlCol="0">
            <a:spAutoFit/>
          </a:bodyPr>
          <a:lstStyle/>
          <a:p>
            <a:r>
              <a:rPr lang="en-US" sz="2200" dirty="0"/>
              <a:t>Custom</a:t>
            </a:r>
          </a:p>
        </p:txBody>
      </p:sp>
      <p:sp>
        <p:nvSpPr>
          <p:cNvPr id="11" name="TextBox 10">
            <a:extLst>
              <a:ext uri="{FF2B5EF4-FFF2-40B4-BE49-F238E27FC236}">
                <a16:creationId xmlns:a16="http://schemas.microsoft.com/office/drawing/2014/main" id="{39DD8EB8-EC8C-7B76-426A-FE50357B15E7}"/>
              </a:ext>
            </a:extLst>
          </p:cNvPr>
          <p:cNvSpPr txBox="1"/>
          <p:nvPr/>
        </p:nvSpPr>
        <p:spPr>
          <a:xfrm>
            <a:off x="341638" y="1398772"/>
            <a:ext cx="2520779" cy="461665"/>
          </a:xfrm>
          <a:prstGeom prst="rect">
            <a:avLst/>
          </a:prstGeom>
          <a:noFill/>
        </p:spPr>
        <p:txBody>
          <a:bodyPr wrap="square" rtlCol="0">
            <a:spAutoFit/>
          </a:bodyPr>
          <a:lstStyle/>
          <a:p>
            <a:r>
              <a:rPr lang="en-US" sz="2400" b="1" dirty="0"/>
              <a:t>Editing Type</a:t>
            </a:r>
          </a:p>
        </p:txBody>
      </p:sp>
      <p:sp>
        <p:nvSpPr>
          <p:cNvPr id="12" name="TextBox 11">
            <a:extLst>
              <a:ext uri="{FF2B5EF4-FFF2-40B4-BE49-F238E27FC236}">
                <a16:creationId xmlns:a16="http://schemas.microsoft.com/office/drawing/2014/main" id="{A849D07D-963F-8E0B-B528-5416FEC2662F}"/>
              </a:ext>
            </a:extLst>
          </p:cNvPr>
          <p:cNvSpPr txBox="1"/>
          <p:nvPr/>
        </p:nvSpPr>
        <p:spPr>
          <a:xfrm>
            <a:off x="3629346" y="1412480"/>
            <a:ext cx="1483373" cy="461665"/>
          </a:xfrm>
          <a:prstGeom prst="rect">
            <a:avLst/>
          </a:prstGeom>
          <a:noFill/>
        </p:spPr>
        <p:txBody>
          <a:bodyPr wrap="square" rtlCol="0">
            <a:spAutoFit/>
          </a:bodyPr>
          <a:lstStyle/>
          <a:p>
            <a:r>
              <a:rPr lang="en-US" sz="2400" b="1" dirty="0"/>
              <a:t>Data</a:t>
            </a:r>
          </a:p>
        </p:txBody>
      </p:sp>
      <p:pic>
        <p:nvPicPr>
          <p:cNvPr id="13" name="Picture 12" descr="FASTQ format">
            <a:extLst>
              <a:ext uri="{FF2B5EF4-FFF2-40B4-BE49-F238E27FC236}">
                <a16:creationId xmlns:a16="http://schemas.microsoft.com/office/drawing/2014/main" id="{D93D686B-6364-A2A0-150C-9CD5A5AABF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9346" y="1936414"/>
            <a:ext cx="2006319" cy="120055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FASTQ format">
            <a:extLst>
              <a:ext uri="{FF2B5EF4-FFF2-40B4-BE49-F238E27FC236}">
                <a16:creationId xmlns:a16="http://schemas.microsoft.com/office/drawing/2014/main" id="{41455FC3-F15D-6537-E60C-B87EB592F7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6003" y="1936413"/>
            <a:ext cx="2006319" cy="120055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82437CE-5F9A-203B-851B-C8B37E781B78}"/>
              </a:ext>
            </a:extLst>
          </p:cNvPr>
          <p:cNvSpPr txBox="1"/>
          <p:nvPr/>
        </p:nvSpPr>
        <p:spPr>
          <a:xfrm>
            <a:off x="3708476" y="3229184"/>
            <a:ext cx="1561930" cy="400110"/>
          </a:xfrm>
          <a:prstGeom prst="rect">
            <a:avLst/>
          </a:prstGeom>
          <a:noFill/>
        </p:spPr>
        <p:txBody>
          <a:bodyPr wrap="square">
            <a:spAutoFit/>
          </a:bodyPr>
          <a:lstStyle/>
          <a:p>
            <a:r>
              <a:rPr lang="en-US" sz="2000" dirty="0" err="1"/>
              <a:t>Fastq</a:t>
            </a:r>
            <a:r>
              <a:rPr lang="en-US" sz="2000" dirty="0"/>
              <a:t> File 1</a:t>
            </a:r>
          </a:p>
        </p:txBody>
      </p:sp>
      <p:sp>
        <p:nvSpPr>
          <p:cNvPr id="16" name="TextBox 15">
            <a:extLst>
              <a:ext uri="{FF2B5EF4-FFF2-40B4-BE49-F238E27FC236}">
                <a16:creationId xmlns:a16="http://schemas.microsoft.com/office/drawing/2014/main" id="{38E305D1-56E8-AD48-EFA8-61C6912054D2}"/>
              </a:ext>
            </a:extLst>
          </p:cNvPr>
          <p:cNvSpPr txBox="1"/>
          <p:nvPr/>
        </p:nvSpPr>
        <p:spPr>
          <a:xfrm>
            <a:off x="5885619" y="3251150"/>
            <a:ext cx="1561930" cy="400110"/>
          </a:xfrm>
          <a:prstGeom prst="rect">
            <a:avLst/>
          </a:prstGeom>
          <a:noFill/>
        </p:spPr>
        <p:txBody>
          <a:bodyPr wrap="square">
            <a:spAutoFit/>
          </a:bodyPr>
          <a:lstStyle/>
          <a:p>
            <a:r>
              <a:rPr lang="en-US" sz="2000" dirty="0" err="1"/>
              <a:t>Fastq</a:t>
            </a:r>
            <a:r>
              <a:rPr lang="en-US" sz="2000" dirty="0"/>
              <a:t> File 2</a:t>
            </a:r>
          </a:p>
        </p:txBody>
      </p:sp>
      <p:sp>
        <p:nvSpPr>
          <p:cNvPr id="18" name="TextBox 17">
            <a:extLst>
              <a:ext uri="{FF2B5EF4-FFF2-40B4-BE49-F238E27FC236}">
                <a16:creationId xmlns:a16="http://schemas.microsoft.com/office/drawing/2014/main" id="{04F61586-5F75-DE57-F272-2050F5E615C8}"/>
              </a:ext>
            </a:extLst>
          </p:cNvPr>
          <p:cNvSpPr txBox="1"/>
          <p:nvPr/>
        </p:nvSpPr>
        <p:spPr>
          <a:xfrm>
            <a:off x="3331576" y="3926665"/>
            <a:ext cx="4974431" cy="738664"/>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AATGTCCCCCAATGGGAAGTTCATCTGGCACTGCCCACAGGTGAGGAGGTCATGATCCCCTTCTGGAGCTCCCAACGGGCCGTGGTCTGGTTCATCATCTGTAAGAATGGCTTCAAGAGGCTCGGCTGTGGTT</a:t>
            </a:r>
          </a:p>
        </p:txBody>
      </p:sp>
      <p:sp>
        <p:nvSpPr>
          <p:cNvPr id="19" name="TextBox 18">
            <a:extLst>
              <a:ext uri="{FF2B5EF4-FFF2-40B4-BE49-F238E27FC236}">
                <a16:creationId xmlns:a16="http://schemas.microsoft.com/office/drawing/2014/main" id="{11234805-6E80-6D81-DDED-4A36FD4B6D49}"/>
              </a:ext>
            </a:extLst>
          </p:cNvPr>
          <p:cNvSpPr txBox="1"/>
          <p:nvPr/>
        </p:nvSpPr>
        <p:spPr>
          <a:xfrm>
            <a:off x="3708476" y="4729907"/>
            <a:ext cx="1561930" cy="400110"/>
          </a:xfrm>
          <a:prstGeom prst="rect">
            <a:avLst/>
          </a:prstGeom>
          <a:noFill/>
        </p:spPr>
        <p:txBody>
          <a:bodyPr wrap="square">
            <a:spAutoFit/>
          </a:bodyPr>
          <a:lstStyle/>
          <a:p>
            <a:r>
              <a:rPr lang="en-US" sz="2000" dirty="0"/>
              <a:t>Amplicon</a:t>
            </a:r>
          </a:p>
        </p:txBody>
      </p:sp>
      <p:sp>
        <p:nvSpPr>
          <p:cNvPr id="21" name="TextBox 20">
            <a:extLst>
              <a:ext uri="{FF2B5EF4-FFF2-40B4-BE49-F238E27FC236}">
                <a16:creationId xmlns:a16="http://schemas.microsoft.com/office/drawing/2014/main" id="{D0243D8D-FC50-31EF-243B-2B4F5EFAB802}"/>
              </a:ext>
            </a:extLst>
          </p:cNvPr>
          <p:cNvSpPr txBox="1"/>
          <p:nvPr/>
        </p:nvSpPr>
        <p:spPr>
          <a:xfrm>
            <a:off x="3331576" y="5288835"/>
            <a:ext cx="3214202" cy="307777"/>
          </a:xfrm>
          <a:prstGeom prst="rect">
            <a:avLst/>
          </a:prstGeom>
          <a:noFill/>
        </p:spPr>
        <p:txBody>
          <a:bodyPr wrap="square">
            <a:spAutoFit/>
          </a:bodyPr>
          <a:lstStyle/>
          <a:p>
            <a:r>
              <a:rPr lang="en-US" sz="1400" dirty="0">
                <a:latin typeface="Courier New" panose="02070309020205020404" pitchFamily="49" charset="0"/>
                <a:cs typeface="Courier New" panose="02070309020205020404" pitchFamily="49" charset="0"/>
              </a:rPr>
              <a:t>GTGCGGAGCCACTTCGAGCAGC</a:t>
            </a:r>
          </a:p>
        </p:txBody>
      </p:sp>
      <p:pic>
        <p:nvPicPr>
          <p:cNvPr id="22" name="Graphic 21" descr="Arrow: Straight with solid fill">
            <a:extLst>
              <a:ext uri="{FF2B5EF4-FFF2-40B4-BE49-F238E27FC236}">
                <a16:creationId xmlns:a16="http://schemas.microsoft.com/office/drawing/2014/main" id="{1C7F31AF-8A91-8951-792E-6FCFAD4362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8523476" y="3097900"/>
            <a:ext cx="1095375" cy="914400"/>
          </a:xfrm>
          <a:prstGeom prst="rect">
            <a:avLst/>
          </a:prstGeom>
        </p:spPr>
      </p:pic>
      <p:sp>
        <p:nvSpPr>
          <p:cNvPr id="23" name="TextBox 22">
            <a:extLst>
              <a:ext uri="{FF2B5EF4-FFF2-40B4-BE49-F238E27FC236}">
                <a16:creationId xmlns:a16="http://schemas.microsoft.com/office/drawing/2014/main" id="{8A0DACF3-032B-5576-2F56-E117C332E6A4}"/>
              </a:ext>
            </a:extLst>
          </p:cNvPr>
          <p:cNvSpPr txBox="1"/>
          <p:nvPr/>
        </p:nvSpPr>
        <p:spPr>
          <a:xfrm>
            <a:off x="3708476" y="5553468"/>
            <a:ext cx="1561930" cy="400110"/>
          </a:xfrm>
          <a:prstGeom prst="rect">
            <a:avLst/>
          </a:prstGeom>
          <a:noFill/>
        </p:spPr>
        <p:txBody>
          <a:bodyPr wrap="square">
            <a:spAutoFit/>
          </a:bodyPr>
          <a:lstStyle/>
          <a:p>
            <a:r>
              <a:rPr lang="en-US" sz="2000" dirty="0"/>
              <a:t>sgRNA</a:t>
            </a:r>
          </a:p>
        </p:txBody>
      </p:sp>
      <p:sp>
        <p:nvSpPr>
          <p:cNvPr id="8" name="TextBox 7">
            <a:extLst>
              <a:ext uri="{FF2B5EF4-FFF2-40B4-BE49-F238E27FC236}">
                <a16:creationId xmlns:a16="http://schemas.microsoft.com/office/drawing/2014/main" id="{5FD51C1F-6552-F4EF-4F76-2FE78FDA5B08}"/>
              </a:ext>
            </a:extLst>
          </p:cNvPr>
          <p:cNvSpPr txBox="1"/>
          <p:nvPr/>
        </p:nvSpPr>
        <p:spPr>
          <a:xfrm>
            <a:off x="2783975" y="2156058"/>
            <a:ext cx="499691" cy="400110"/>
          </a:xfrm>
          <a:prstGeom prst="rect">
            <a:avLst/>
          </a:prstGeom>
          <a:noFill/>
        </p:spPr>
        <p:txBody>
          <a:bodyPr wrap="square" rtlCol="0">
            <a:spAutoFit/>
          </a:bodyPr>
          <a:lstStyle/>
          <a:p>
            <a:r>
              <a:rPr lang="en-US" sz="2000" b="1" dirty="0">
                <a:solidFill>
                  <a:srgbClr val="0070C0"/>
                </a:solidFill>
              </a:rPr>
              <a:t>1.</a:t>
            </a:r>
          </a:p>
        </p:txBody>
      </p:sp>
      <p:sp>
        <p:nvSpPr>
          <p:cNvPr id="17" name="TextBox 16">
            <a:extLst>
              <a:ext uri="{FF2B5EF4-FFF2-40B4-BE49-F238E27FC236}">
                <a16:creationId xmlns:a16="http://schemas.microsoft.com/office/drawing/2014/main" id="{93DE4BF6-A95D-42E0-691D-4AD0EE02F5B1}"/>
              </a:ext>
            </a:extLst>
          </p:cNvPr>
          <p:cNvSpPr txBox="1"/>
          <p:nvPr/>
        </p:nvSpPr>
        <p:spPr>
          <a:xfrm>
            <a:off x="2783974" y="3854241"/>
            <a:ext cx="499691" cy="400110"/>
          </a:xfrm>
          <a:prstGeom prst="rect">
            <a:avLst/>
          </a:prstGeom>
          <a:noFill/>
        </p:spPr>
        <p:txBody>
          <a:bodyPr wrap="square" rtlCol="0">
            <a:spAutoFit/>
          </a:bodyPr>
          <a:lstStyle/>
          <a:p>
            <a:r>
              <a:rPr lang="en-US" sz="2000" b="1" dirty="0">
                <a:solidFill>
                  <a:srgbClr val="0070C0"/>
                </a:solidFill>
              </a:rPr>
              <a:t>2.</a:t>
            </a:r>
          </a:p>
        </p:txBody>
      </p:sp>
      <p:sp>
        <p:nvSpPr>
          <p:cNvPr id="20" name="TextBox 19">
            <a:extLst>
              <a:ext uri="{FF2B5EF4-FFF2-40B4-BE49-F238E27FC236}">
                <a16:creationId xmlns:a16="http://schemas.microsoft.com/office/drawing/2014/main" id="{244AAC58-FE54-C801-6699-61DB83733F88}"/>
              </a:ext>
            </a:extLst>
          </p:cNvPr>
          <p:cNvSpPr txBox="1"/>
          <p:nvPr/>
        </p:nvSpPr>
        <p:spPr>
          <a:xfrm>
            <a:off x="2783973" y="5186749"/>
            <a:ext cx="499691" cy="400110"/>
          </a:xfrm>
          <a:prstGeom prst="rect">
            <a:avLst/>
          </a:prstGeom>
          <a:noFill/>
        </p:spPr>
        <p:txBody>
          <a:bodyPr wrap="square" rtlCol="0">
            <a:spAutoFit/>
          </a:bodyPr>
          <a:lstStyle/>
          <a:p>
            <a:r>
              <a:rPr lang="en-US" sz="2000" b="1" dirty="0">
                <a:solidFill>
                  <a:srgbClr val="0070C0"/>
                </a:solidFill>
              </a:rPr>
              <a:t>3.</a:t>
            </a:r>
          </a:p>
        </p:txBody>
      </p:sp>
    </p:spTree>
    <p:extLst>
      <p:ext uri="{BB962C8B-B14F-4D97-AF65-F5344CB8AC3E}">
        <p14:creationId xmlns:p14="http://schemas.microsoft.com/office/powerpoint/2010/main" val="920595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DB44B-5F5B-133D-400D-B757F58811C0}"/>
              </a:ext>
            </a:extLst>
          </p:cNvPr>
          <p:cNvSpPr>
            <a:spLocks noGrp="1"/>
          </p:cNvSpPr>
          <p:nvPr>
            <p:ph type="title"/>
          </p:nvPr>
        </p:nvSpPr>
        <p:spPr>
          <a:xfrm>
            <a:off x="838200" y="365126"/>
            <a:ext cx="10515600" cy="759510"/>
          </a:xfrm>
        </p:spPr>
        <p:txBody>
          <a:bodyPr/>
          <a:lstStyle/>
          <a:p>
            <a:r>
              <a:rPr lang="en-US" dirty="0">
                <a:solidFill>
                  <a:srgbClr val="002060"/>
                </a:solidFill>
              </a:rPr>
              <a:t>Outputs from CRISPResso2</a:t>
            </a:r>
          </a:p>
        </p:txBody>
      </p:sp>
      <p:pic>
        <p:nvPicPr>
          <p:cNvPr id="4" name="Picture 4">
            <a:extLst>
              <a:ext uri="{FF2B5EF4-FFF2-40B4-BE49-F238E27FC236}">
                <a16:creationId xmlns:a16="http://schemas.microsoft.com/office/drawing/2014/main" id="{E054DF4C-5BE3-8BF0-E352-62F95C3262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592" y="2921486"/>
            <a:ext cx="1387210" cy="14758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0A3FCC7-F461-846B-2353-BFBDDDBB1D2F}"/>
              </a:ext>
            </a:extLst>
          </p:cNvPr>
          <p:cNvSpPr txBox="1"/>
          <p:nvPr/>
        </p:nvSpPr>
        <p:spPr>
          <a:xfrm>
            <a:off x="262073" y="4567493"/>
            <a:ext cx="2791369" cy="584775"/>
          </a:xfrm>
          <a:prstGeom prst="rect">
            <a:avLst/>
          </a:prstGeom>
          <a:noFill/>
        </p:spPr>
        <p:txBody>
          <a:bodyPr wrap="square">
            <a:spAutoFit/>
          </a:bodyPr>
          <a:lstStyle/>
          <a:p>
            <a:r>
              <a:rPr lang="en-US" sz="3200" dirty="0"/>
              <a:t>CRISPResso2</a:t>
            </a:r>
          </a:p>
        </p:txBody>
      </p:sp>
      <p:pic>
        <p:nvPicPr>
          <p:cNvPr id="3" name="Graphic 2" descr="Arrow: Straight with solid fill">
            <a:extLst>
              <a:ext uri="{FF2B5EF4-FFF2-40B4-BE49-F238E27FC236}">
                <a16:creationId xmlns:a16="http://schemas.microsoft.com/office/drawing/2014/main" id="{88B82741-3C64-AD29-1B91-724F62815AF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2251071" y="3423536"/>
            <a:ext cx="1095375" cy="914400"/>
          </a:xfrm>
          <a:prstGeom prst="rect">
            <a:avLst/>
          </a:prstGeom>
        </p:spPr>
      </p:pic>
      <p:pic>
        <p:nvPicPr>
          <p:cNvPr id="8" name="Picture 7">
            <a:extLst>
              <a:ext uri="{FF2B5EF4-FFF2-40B4-BE49-F238E27FC236}">
                <a16:creationId xmlns:a16="http://schemas.microsoft.com/office/drawing/2014/main" id="{720FB9A0-E0F7-6565-C45A-CE2189086AD1}"/>
              </a:ext>
            </a:extLst>
          </p:cNvPr>
          <p:cNvPicPr>
            <a:picLocks noChangeAspect="1"/>
          </p:cNvPicPr>
          <p:nvPr/>
        </p:nvPicPr>
        <p:blipFill>
          <a:blip r:embed="rId5"/>
          <a:stretch>
            <a:fillRect/>
          </a:stretch>
        </p:blipFill>
        <p:spPr>
          <a:xfrm>
            <a:off x="3393658" y="2041682"/>
            <a:ext cx="4141649" cy="3678107"/>
          </a:xfrm>
          <a:prstGeom prst="rect">
            <a:avLst/>
          </a:prstGeom>
        </p:spPr>
      </p:pic>
      <p:pic>
        <p:nvPicPr>
          <p:cNvPr id="9" name="Picture 8">
            <a:extLst>
              <a:ext uri="{FF2B5EF4-FFF2-40B4-BE49-F238E27FC236}">
                <a16:creationId xmlns:a16="http://schemas.microsoft.com/office/drawing/2014/main" id="{884A293E-F982-6DF2-DF7D-148076197CFA}"/>
              </a:ext>
            </a:extLst>
          </p:cNvPr>
          <p:cNvPicPr>
            <a:picLocks noChangeAspect="1"/>
          </p:cNvPicPr>
          <p:nvPr/>
        </p:nvPicPr>
        <p:blipFill>
          <a:blip r:embed="rId6"/>
          <a:stretch>
            <a:fillRect/>
          </a:stretch>
        </p:blipFill>
        <p:spPr>
          <a:xfrm>
            <a:off x="7376763" y="2338970"/>
            <a:ext cx="4553164" cy="3083529"/>
          </a:xfrm>
          <a:prstGeom prst="rect">
            <a:avLst/>
          </a:prstGeom>
        </p:spPr>
      </p:pic>
      <p:sp>
        <p:nvSpPr>
          <p:cNvPr id="10" name="TextBox 9">
            <a:extLst>
              <a:ext uri="{FF2B5EF4-FFF2-40B4-BE49-F238E27FC236}">
                <a16:creationId xmlns:a16="http://schemas.microsoft.com/office/drawing/2014/main" id="{733F3095-0FF6-8D1F-3802-697869C58044}"/>
              </a:ext>
            </a:extLst>
          </p:cNvPr>
          <p:cNvSpPr txBox="1"/>
          <p:nvPr/>
        </p:nvSpPr>
        <p:spPr>
          <a:xfrm>
            <a:off x="5080883" y="5784988"/>
            <a:ext cx="1957806" cy="707886"/>
          </a:xfrm>
          <a:prstGeom prst="rect">
            <a:avLst/>
          </a:prstGeom>
          <a:noFill/>
        </p:spPr>
        <p:txBody>
          <a:bodyPr wrap="square">
            <a:spAutoFit/>
          </a:bodyPr>
          <a:lstStyle/>
          <a:p>
            <a:r>
              <a:rPr lang="en-US" sz="2000" dirty="0"/>
              <a:t>Mapping Statistics</a:t>
            </a:r>
          </a:p>
        </p:txBody>
      </p:sp>
      <p:sp>
        <p:nvSpPr>
          <p:cNvPr id="11" name="TextBox 10">
            <a:extLst>
              <a:ext uri="{FF2B5EF4-FFF2-40B4-BE49-F238E27FC236}">
                <a16:creationId xmlns:a16="http://schemas.microsoft.com/office/drawing/2014/main" id="{F67DD9CB-340A-4917-8D5C-793184BB599F}"/>
              </a:ext>
            </a:extLst>
          </p:cNvPr>
          <p:cNvSpPr txBox="1"/>
          <p:nvPr/>
        </p:nvSpPr>
        <p:spPr>
          <a:xfrm>
            <a:off x="9040785" y="5719787"/>
            <a:ext cx="1957806" cy="707886"/>
          </a:xfrm>
          <a:prstGeom prst="rect">
            <a:avLst/>
          </a:prstGeom>
          <a:noFill/>
        </p:spPr>
        <p:txBody>
          <a:bodyPr wrap="square">
            <a:spAutoFit/>
          </a:bodyPr>
          <a:lstStyle/>
          <a:p>
            <a:r>
              <a:rPr lang="en-US" sz="2000" dirty="0"/>
              <a:t>Quantification</a:t>
            </a:r>
          </a:p>
          <a:p>
            <a:r>
              <a:rPr lang="en-US" sz="2000" dirty="0"/>
              <a:t>of Editing</a:t>
            </a:r>
          </a:p>
        </p:txBody>
      </p:sp>
      <p:pic>
        <p:nvPicPr>
          <p:cNvPr id="6" name="Graphic 5" descr="Arrow: Straight with solid fill">
            <a:extLst>
              <a:ext uri="{FF2B5EF4-FFF2-40B4-BE49-F238E27FC236}">
                <a16:creationId xmlns:a16="http://schemas.microsoft.com/office/drawing/2014/main" id="{8A00CDF6-3E27-47EE-3F97-3764DE950E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1198750" y="2505285"/>
            <a:ext cx="500340" cy="417675"/>
          </a:xfrm>
          <a:prstGeom prst="rect">
            <a:avLst/>
          </a:prstGeom>
        </p:spPr>
      </p:pic>
      <p:pic>
        <p:nvPicPr>
          <p:cNvPr id="7" name="Picture 6" descr="FASTQ format">
            <a:extLst>
              <a:ext uri="{FF2B5EF4-FFF2-40B4-BE49-F238E27FC236}">
                <a16:creationId xmlns:a16="http://schemas.microsoft.com/office/drawing/2014/main" id="{F6681595-FABF-D30D-798D-DBA28BAA67D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442" y="1458767"/>
            <a:ext cx="1470955" cy="880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1024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71A3566-0F2A-593E-C253-9331CA842D83}"/>
              </a:ext>
            </a:extLst>
          </p:cNvPr>
          <p:cNvSpPr>
            <a:spLocks noGrp="1"/>
          </p:cNvSpPr>
          <p:nvPr>
            <p:ph type="title"/>
          </p:nvPr>
        </p:nvSpPr>
        <p:spPr>
          <a:xfrm>
            <a:off x="838200" y="365126"/>
            <a:ext cx="10515600" cy="759510"/>
          </a:xfrm>
        </p:spPr>
        <p:txBody>
          <a:bodyPr/>
          <a:lstStyle/>
          <a:p>
            <a:r>
              <a:rPr lang="en-US" dirty="0">
                <a:solidFill>
                  <a:srgbClr val="002060"/>
                </a:solidFill>
              </a:rPr>
              <a:t>Outputs from CRISPResso2</a:t>
            </a:r>
          </a:p>
        </p:txBody>
      </p:sp>
      <p:pic>
        <p:nvPicPr>
          <p:cNvPr id="5" name="Picture 4">
            <a:extLst>
              <a:ext uri="{FF2B5EF4-FFF2-40B4-BE49-F238E27FC236}">
                <a16:creationId xmlns:a16="http://schemas.microsoft.com/office/drawing/2014/main" id="{C7AC409D-69C0-58A1-79C0-1493EA87C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6327" y="136026"/>
            <a:ext cx="1858468" cy="197722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D3F8F3D-7A42-56C8-34CD-2F545742E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205" y="2339105"/>
            <a:ext cx="11917590" cy="169763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0AA1EC7-C288-BCE3-6112-FD8C56FD825E}"/>
              </a:ext>
            </a:extLst>
          </p:cNvPr>
          <p:cNvSpPr txBox="1"/>
          <p:nvPr/>
        </p:nvSpPr>
        <p:spPr>
          <a:xfrm>
            <a:off x="3212892" y="4062600"/>
            <a:ext cx="5766216" cy="830997"/>
          </a:xfrm>
          <a:prstGeom prst="rect">
            <a:avLst/>
          </a:prstGeom>
          <a:noFill/>
        </p:spPr>
        <p:txBody>
          <a:bodyPr wrap="square">
            <a:spAutoFit/>
          </a:bodyPr>
          <a:lstStyle/>
          <a:p>
            <a:r>
              <a:rPr lang="en-US" sz="2400" dirty="0"/>
              <a:t>Distribution of nucleotides in the proximity of the sgRNA and cutting site</a:t>
            </a:r>
          </a:p>
        </p:txBody>
      </p:sp>
      <p:sp>
        <p:nvSpPr>
          <p:cNvPr id="11" name="TextBox 10">
            <a:extLst>
              <a:ext uri="{FF2B5EF4-FFF2-40B4-BE49-F238E27FC236}">
                <a16:creationId xmlns:a16="http://schemas.microsoft.com/office/drawing/2014/main" id="{E9251A04-DB09-E283-2C28-0733AFF02601}"/>
              </a:ext>
            </a:extLst>
          </p:cNvPr>
          <p:cNvSpPr txBox="1"/>
          <p:nvPr/>
        </p:nvSpPr>
        <p:spPr>
          <a:xfrm>
            <a:off x="7615573" y="1066138"/>
            <a:ext cx="1879759" cy="707886"/>
          </a:xfrm>
          <a:prstGeom prst="rect">
            <a:avLst/>
          </a:prstGeom>
          <a:noFill/>
        </p:spPr>
        <p:txBody>
          <a:bodyPr wrap="square" rtlCol="0">
            <a:spAutoFit/>
          </a:bodyPr>
          <a:lstStyle/>
          <a:p>
            <a:r>
              <a:rPr lang="en-US" sz="2000" b="1" dirty="0"/>
              <a:t>Quantification</a:t>
            </a:r>
          </a:p>
          <a:p>
            <a:r>
              <a:rPr lang="en-US" sz="2000" b="1" dirty="0"/>
              <a:t>Window</a:t>
            </a:r>
          </a:p>
        </p:txBody>
      </p:sp>
      <p:pic>
        <p:nvPicPr>
          <p:cNvPr id="12" name="Graphic 11" descr="Arrow Right outline">
            <a:extLst>
              <a:ext uri="{FF2B5EF4-FFF2-40B4-BE49-F238E27FC236}">
                <a16:creationId xmlns:a16="http://schemas.microsoft.com/office/drawing/2014/main" id="{C3D23E1E-16D7-174E-E475-7413E80570C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9136526">
            <a:off x="5148742" y="1485654"/>
            <a:ext cx="2799581" cy="1040582"/>
          </a:xfrm>
          <a:prstGeom prst="rect">
            <a:avLst/>
          </a:prstGeom>
        </p:spPr>
      </p:pic>
    </p:spTree>
    <p:extLst>
      <p:ext uri="{BB962C8B-B14F-4D97-AF65-F5344CB8AC3E}">
        <p14:creationId xmlns:p14="http://schemas.microsoft.com/office/powerpoint/2010/main" val="2486030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D1CF4C-6F77-25CB-DA03-AF8C1516F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6327" y="136026"/>
            <a:ext cx="1858468" cy="197722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739EDE04-16E8-4F5F-4EE5-5A828078EA96}"/>
              </a:ext>
            </a:extLst>
          </p:cNvPr>
          <p:cNvSpPr>
            <a:spLocks noGrp="1"/>
          </p:cNvSpPr>
          <p:nvPr>
            <p:ph type="title"/>
          </p:nvPr>
        </p:nvSpPr>
        <p:spPr>
          <a:xfrm>
            <a:off x="838200" y="365126"/>
            <a:ext cx="8050967" cy="759510"/>
          </a:xfrm>
        </p:spPr>
        <p:txBody>
          <a:bodyPr/>
          <a:lstStyle/>
          <a:p>
            <a:r>
              <a:rPr lang="en-US" dirty="0">
                <a:solidFill>
                  <a:srgbClr val="002060"/>
                </a:solidFill>
              </a:rPr>
              <a:t>Outputs from CRISPResso2</a:t>
            </a:r>
          </a:p>
        </p:txBody>
      </p:sp>
      <p:pic>
        <p:nvPicPr>
          <p:cNvPr id="6" name="Picture 5">
            <a:extLst>
              <a:ext uri="{FF2B5EF4-FFF2-40B4-BE49-F238E27FC236}">
                <a16:creationId xmlns:a16="http://schemas.microsoft.com/office/drawing/2014/main" id="{FA150032-0985-FCAE-D896-9FAAC95E13D9}"/>
              </a:ext>
            </a:extLst>
          </p:cNvPr>
          <p:cNvPicPr>
            <a:picLocks noChangeAspect="1"/>
          </p:cNvPicPr>
          <p:nvPr/>
        </p:nvPicPr>
        <p:blipFill>
          <a:blip r:embed="rId3"/>
          <a:stretch>
            <a:fillRect/>
          </a:stretch>
        </p:blipFill>
        <p:spPr>
          <a:xfrm>
            <a:off x="418832" y="1424340"/>
            <a:ext cx="5078364" cy="3937833"/>
          </a:xfrm>
          <a:prstGeom prst="rect">
            <a:avLst/>
          </a:prstGeom>
        </p:spPr>
      </p:pic>
      <p:sp>
        <p:nvSpPr>
          <p:cNvPr id="7" name="TextBox 6">
            <a:extLst>
              <a:ext uri="{FF2B5EF4-FFF2-40B4-BE49-F238E27FC236}">
                <a16:creationId xmlns:a16="http://schemas.microsoft.com/office/drawing/2014/main" id="{7DE2A04F-1518-4DE3-24B3-F3D0BAEB9FE8}"/>
              </a:ext>
            </a:extLst>
          </p:cNvPr>
          <p:cNvSpPr txBox="1"/>
          <p:nvPr/>
        </p:nvSpPr>
        <p:spPr>
          <a:xfrm>
            <a:off x="1474033" y="5661877"/>
            <a:ext cx="3817495" cy="707886"/>
          </a:xfrm>
          <a:prstGeom prst="rect">
            <a:avLst/>
          </a:prstGeom>
          <a:noFill/>
        </p:spPr>
        <p:txBody>
          <a:bodyPr wrap="square">
            <a:spAutoFit/>
          </a:bodyPr>
          <a:lstStyle/>
          <a:p>
            <a:r>
              <a:rPr lang="en-US" sz="2000" dirty="0"/>
              <a:t>Distribution alleles with and without indels</a:t>
            </a:r>
          </a:p>
        </p:txBody>
      </p:sp>
      <p:pic>
        <p:nvPicPr>
          <p:cNvPr id="8" name="Picture 7">
            <a:extLst>
              <a:ext uri="{FF2B5EF4-FFF2-40B4-BE49-F238E27FC236}">
                <a16:creationId xmlns:a16="http://schemas.microsoft.com/office/drawing/2014/main" id="{8A2E5EC3-8192-5B27-71D8-DB95C9F8801C}"/>
              </a:ext>
            </a:extLst>
          </p:cNvPr>
          <p:cNvPicPr>
            <a:picLocks noChangeAspect="1"/>
          </p:cNvPicPr>
          <p:nvPr/>
        </p:nvPicPr>
        <p:blipFill>
          <a:blip r:embed="rId4"/>
          <a:stretch>
            <a:fillRect/>
          </a:stretch>
        </p:blipFill>
        <p:spPr>
          <a:xfrm>
            <a:off x="5562154" y="1302530"/>
            <a:ext cx="4940772" cy="4252939"/>
          </a:xfrm>
          <a:prstGeom prst="rect">
            <a:avLst/>
          </a:prstGeom>
        </p:spPr>
      </p:pic>
      <p:sp>
        <p:nvSpPr>
          <p:cNvPr id="9" name="TextBox 8">
            <a:extLst>
              <a:ext uri="{FF2B5EF4-FFF2-40B4-BE49-F238E27FC236}">
                <a16:creationId xmlns:a16="http://schemas.microsoft.com/office/drawing/2014/main" id="{397D69DA-14E5-DFF3-FD93-71C2FC052DB4}"/>
              </a:ext>
            </a:extLst>
          </p:cNvPr>
          <p:cNvSpPr txBox="1"/>
          <p:nvPr/>
        </p:nvSpPr>
        <p:spPr>
          <a:xfrm>
            <a:off x="5601985" y="5555469"/>
            <a:ext cx="6574364" cy="1015663"/>
          </a:xfrm>
          <a:prstGeom prst="rect">
            <a:avLst/>
          </a:prstGeom>
          <a:noFill/>
        </p:spPr>
        <p:txBody>
          <a:bodyPr wrap="square">
            <a:spAutoFit/>
          </a:bodyPr>
          <a:lstStyle/>
          <a:p>
            <a:r>
              <a:rPr lang="en-GB" sz="2000" b="0" i="0" dirty="0">
                <a:solidFill>
                  <a:srgbClr val="212529"/>
                </a:solidFill>
                <a:effectLst/>
              </a:rPr>
              <a:t>Frequency of insertions, deletions, and substitutions across the amplicon, including modifications outside of the quantification window.</a:t>
            </a:r>
            <a:endParaRPr lang="en-US" sz="2000" dirty="0"/>
          </a:p>
        </p:txBody>
      </p:sp>
    </p:spTree>
    <p:extLst>
      <p:ext uri="{BB962C8B-B14F-4D97-AF65-F5344CB8AC3E}">
        <p14:creationId xmlns:p14="http://schemas.microsoft.com/office/powerpoint/2010/main" val="1342283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7B615A-6B9E-B8EC-CAE3-8C362BAFC8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96327" y="136026"/>
            <a:ext cx="1858468" cy="197722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DB38AFC7-52FA-9376-FC2F-0BB23B01DC23}"/>
              </a:ext>
            </a:extLst>
          </p:cNvPr>
          <p:cNvSpPr>
            <a:spLocks noGrp="1"/>
          </p:cNvSpPr>
          <p:nvPr>
            <p:ph type="title"/>
          </p:nvPr>
        </p:nvSpPr>
        <p:spPr>
          <a:xfrm>
            <a:off x="838200" y="365126"/>
            <a:ext cx="8050967" cy="759510"/>
          </a:xfrm>
        </p:spPr>
        <p:txBody>
          <a:bodyPr/>
          <a:lstStyle/>
          <a:p>
            <a:r>
              <a:rPr lang="en-US" dirty="0"/>
              <a:t>Outputs from CRISPResso2</a:t>
            </a:r>
          </a:p>
        </p:txBody>
      </p:sp>
      <p:pic>
        <p:nvPicPr>
          <p:cNvPr id="6" name="Picture 5">
            <a:extLst>
              <a:ext uri="{FF2B5EF4-FFF2-40B4-BE49-F238E27FC236}">
                <a16:creationId xmlns:a16="http://schemas.microsoft.com/office/drawing/2014/main" id="{BC556A65-0E21-D5C0-6862-5ADE5B1C995F}"/>
              </a:ext>
            </a:extLst>
          </p:cNvPr>
          <p:cNvPicPr>
            <a:picLocks noChangeAspect="1"/>
          </p:cNvPicPr>
          <p:nvPr/>
        </p:nvPicPr>
        <p:blipFill>
          <a:blip r:embed="rId3"/>
          <a:stretch>
            <a:fillRect/>
          </a:stretch>
        </p:blipFill>
        <p:spPr>
          <a:xfrm>
            <a:off x="2209800" y="1124269"/>
            <a:ext cx="7772400" cy="4608995"/>
          </a:xfrm>
          <a:prstGeom prst="rect">
            <a:avLst/>
          </a:prstGeom>
        </p:spPr>
      </p:pic>
      <p:sp>
        <p:nvSpPr>
          <p:cNvPr id="8" name="TextBox 7">
            <a:extLst>
              <a:ext uri="{FF2B5EF4-FFF2-40B4-BE49-F238E27FC236}">
                <a16:creationId xmlns:a16="http://schemas.microsoft.com/office/drawing/2014/main" id="{4D5FD01E-C6F9-E924-3BE0-E82E35931ACF}"/>
              </a:ext>
            </a:extLst>
          </p:cNvPr>
          <p:cNvSpPr txBox="1"/>
          <p:nvPr/>
        </p:nvSpPr>
        <p:spPr>
          <a:xfrm>
            <a:off x="369758" y="5761485"/>
            <a:ext cx="11452484" cy="923330"/>
          </a:xfrm>
          <a:prstGeom prst="rect">
            <a:avLst/>
          </a:prstGeom>
          <a:noFill/>
        </p:spPr>
        <p:txBody>
          <a:bodyPr wrap="square">
            <a:spAutoFit/>
          </a:bodyPr>
          <a:lstStyle/>
          <a:p>
            <a:r>
              <a:rPr lang="en-GB" b="0" i="0" dirty="0">
                <a:solidFill>
                  <a:srgbClr val="212529"/>
                </a:solidFill>
                <a:effectLst/>
              </a:rPr>
              <a:t>Visualization of the distribution of identified alleles around the cleavage site for the sgRNA </a:t>
            </a:r>
            <a:r>
              <a:rPr lang="en-GB" b="1" i="0" dirty="0">
                <a:solidFill>
                  <a:srgbClr val="FF0000"/>
                </a:solidFill>
                <a:effectLst/>
              </a:rPr>
              <a:t>GTGCGGAGCCACTTCGAGCAGC</a:t>
            </a:r>
            <a:r>
              <a:rPr lang="en-GB" b="0" i="0" dirty="0">
                <a:solidFill>
                  <a:srgbClr val="212529"/>
                </a:solidFill>
                <a:effectLst/>
              </a:rPr>
              <a:t>. Substitutions are in bold. Red rectangles highlight inserted sequences. Horizontal dashed lines indicate deleted sequences. The vertical dashed line indicates the predicted cleavage site.</a:t>
            </a:r>
            <a:endParaRPr lang="en-US" dirty="0"/>
          </a:p>
        </p:txBody>
      </p:sp>
    </p:spTree>
    <p:extLst>
      <p:ext uri="{BB962C8B-B14F-4D97-AF65-F5344CB8AC3E}">
        <p14:creationId xmlns:p14="http://schemas.microsoft.com/office/powerpoint/2010/main" val="3646729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73ADE-98D4-5BF1-9256-9DA8BAAEBFAA}"/>
              </a:ext>
            </a:extLst>
          </p:cNvPr>
          <p:cNvSpPr>
            <a:spLocks noGrp="1"/>
          </p:cNvSpPr>
          <p:nvPr>
            <p:ph type="title"/>
          </p:nvPr>
        </p:nvSpPr>
        <p:spPr>
          <a:xfrm>
            <a:off x="659781" y="8286"/>
            <a:ext cx="10515600" cy="1325563"/>
          </a:xfrm>
        </p:spPr>
        <p:txBody>
          <a:bodyPr/>
          <a:lstStyle/>
          <a:p>
            <a:r>
              <a:rPr lang="en-US" dirty="0"/>
              <a:t>How to use </a:t>
            </a:r>
            <a:r>
              <a:rPr lang="en-US" dirty="0" err="1"/>
              <a:t>CRISPResso</a:t>
            </a:r>
            <a:r>
              <a:rPr lang="en-US" dirty="0"/>
              <a:t> 2 Online (Web)</a:t>
            </a:r>
          </a:p>
        </p:txBody>
      </p:sp>
      <p:pic>
        <p:nvPicPr>
          <p:cNvPr id="4" name="Content Placeholder 3">
            <a:extLst>
              <a:ext uri="{FF2B5EF4-FFF2-40B4-BE49-F238E27FC236}">
                <a16:creationId xmlns:a16="http://schemas.microsoft.com/office/drawing/2014/main" id="{D450118D-49B3-C9DE-6D22-0E19E855B630}"/>
              </a:ext>
            </a:extLst>
          </p:cNvPr>
          <p:cNvPicPr>
            <a:picLocks noGrp="1" noChangeAspect="1"/>
          </p:cNvPicPr>
          <p:nvPr>
            <p:ph idx="1"/>
          </p:nvPr>
        </p:nvPicPr>
        <p:blipFill>
          <a:blip r:embed="rId2"/>
          <a:stretch>
            <a:fillRect/>
          </a:stretch>
        </p:blipFill>
        <p:spPr>
          <a:xfrm>
            <a:off x="2255946" y="2141537"/>
            <a:ext cx="5341642" cy="4351338"/>
          </a:xfrm>
          <a:prstGeom prst="rect">
            <a:avLst/>
          </a:prstGeom>
        </p:spPr>
      </p:pic>
      <p:sp>
        <p:nvSpPr>
          <p:cNvPr id="6" name="TextBox 5">
            <a:extLst>
              <a:ext uri="{FF2B5EF4-FFF2-40B4-BE49-F238E27FC236}">
                <a16:creationId xmlns:a16="http://schemas.microsoft.com/office/drawing/2014/main" id="{DC9C9E21-8ED4-4869-4E11-30B318E6FE61}"/>
              </a:ext>
            </a:extLst>
          </p:cNvPr>
          <p:cNvSpPr txBox="1"/>
          <p:nvPr/>
        </p:nvSpPr>
        <p:spPr>
          <a:xfrm>
            <a:off x="838200" y="1546780"/>
            <a:ext cx="8177134" cy="461665"/>
          </a:xfrm>
          <a:prstGeom prst="rect">
            <a:avLst/>
          </a:prstGeom>
          <a:noFill/>
        </p:spPr>
        <p:txBody>
          <a:bodyPr wrap="square">
            <a:spAutoFit/>
          </a:bodyPr>
          <a:lstStyle/>
          <a:p>
            <a:r>
              <a:rPr lang="en-US" sz="2400" b="1" dirty="0"/>
              <a:t>https://crispresso2.pinellolab.org/</a:t>
            </a:r>
          </a:p>
        </p:txBody>
      </p:sp>
      <p:sp>
        <p:nvSpPr>
          <p:cNvPr id="7" name="TextBox 6">
            <a:extLst>
              <a:ext uri="{FF2B5EF4-FFF2-40B4-BE49-F238E27FC236}">
                <a16:creationId xmlns:a16="http://schemas.microsoft.com/office/drawing/2014/main" id="{529DBD5B-99D0-06A5-67D5-D1369CBA776A}"/>
              </a:ext>
            </a:extLst>
          </p:cNvPr>
          <p:cNvSpPr txBox="1"/>
          <p:nvPr/>
        </p:nvSpPr>
        <p:spPr>
          <a:xfrm>
            <a:off x="8709285" y="1603711"/>
            <a:ext cx="2128604" cy="369332"/>
          </a:xfrm>
          <a:prstGeom prst="rect">
            <a:avLst/>
          </a:prstGeom>
          <a:noFill/>
        </p:spPr>
        <p:txBody>
          <a:bodyPr wrap="square" rtlCol="0">
            <a:spAutoFit/>
          </a:bodyPr>
          <a:lstStyle/>
          <a:p>
            <a:r>
              <a:rPr lang="en-US" b="1" dirty="0"/>
              <a:t>Pros:</a:t>
            </a:r>
          </a:p>
        </p:txBody>
      </p:sp>
      <p:sp>
        <p:nvSpPr>
          <p:cNvPr id="8" name="TextBox 7">
            <a:extLst>
              <a:ext uri="{FF2B5EF4-FFF2-40B4-BE49-F238E27FC236}">
                <a16:creationId xmlns:a16="http://schemas.microsoft.com/office/drawing/2014/main" id="{BA9B4143-7616-B723-2522-173715A8F0D6}"/>
              </a:ext>
            </a:extLst>
          </p:cNvPr>
          <p:cNvSpPr txBox="1"/>
          <p:nvPr/>
        </p:nvSpPr>
        <p:spPr>
          <a:xfrm>
            <a:off x="8844197" y="1963714"/>
            <a:ext cx="2509603" cy="923330"/>
          </a:xfrm>
          <a:prstGeom prst="rect">
            <a:avLst/>
          </a:prstGeom>
          <a:noFill/>
        </p:spPr>
        <p:txBody>
          <a:bodyPr wrap="square" rtlCol="0">
            <a:spAutoFit/>
          </a:bodyPr>
          <a:lstStyle/>
          <a:p>
            <a:pPr marL="285750" indent="-285750">
              <a:buFontTx/>
              <a:buChar char="-"/>
            </a:pPr>
            <a:r>
              <a:rPr lang="en-US" dirty="0"/>
              <a:t>No installation</a:t>
            </a:r>
          </a:p>
          <a:p>
            <a:pPr marL="285750" indent="-285750">
              <a:buFontTx/>
              <a:buChar char="-"/>
            </a:pPr>
            <a:r>
              <a:rPr lang="en-US" dirty="0"/>
              <a:t>Easy to use</a:t>
            </a:r>
          </a:p>
          <a:p>
            <a:pPr marL="285750" indent="-285750">
              <a:buFontTx/>
              <a:buChar char="-"/>
            </a:pPr>
            <a:r>
              <a:rPr lang="en-US" dirty="0"/>
              <a:t>Great interface</a:t>
            </a:r>
          </a:p>
        </p:txBody>
      </p:sp>
      <p:sp>
        <p:nvSpPr>
          <p:cNvPr id="9" name="TextBox 8">
            <a:extLst>
              <a:ext uri="{FF2B5EF4-FFF2-40B4-BE49-F238E27FC236}">
                <a16:creationId xmlns:a16="http://schemas.microsoft.com/office/drawing/2014/main" id="{B7997A33-E5B3-BA89-51B7-A351BDE71644}"/>
              </a:ext>
            </a:extLst>
          </p:cNvPr>
          <p:cNvSpPr txBox="1"/>
          <p:nvPr/>
        </p:nvSpPr>
        <p:spPr>
          <a:xfrm>
            <a:off x="8709285" y="3027615"/>
            <a:ext cx="2128604" cy="369332"/>
          </a:xfrm>
          <a:prstGeom prst="rect">
            <a:avLst/>
          </a:prstGeom>
          <a:noFill/>
        </p:spPr>
        <p:txBody>
          <a:bodyPr wrap="square" rtlCol="0">
            <a:spAutoFit/>
          </a:bodyPr>
          <a:lstStyle/>
          <a:p>
            <a:r>
              <a:rPr lang="en-US" b="1" dirty="0"/>
              <a:t>Cons:</a:t>
            </a:r>
          </a:p>
        </p:txBody>
      </p:sp>
      <p:sp>
        <p:nvSpPr>
          <p:cNvPr id="10" name="TextBox 9">
            <a:extLst>
              <a:ext uri="{FF2B5EF4-FFF2-40B4-BE49-F238E27FC236}">
                <a16:creationId xmlns:a16="http://schemas.microsoft.com/office/drawing/2014/main" id="{21F9F75E-9B9D-2069-23DE-9D11F5012354}"/>
              </a:ext>
            </a:extLst>
          </p:cNvPr>
          <p:cNvSpPr txBox="1"/>
          <p:nvPr/>
        </p:nvSpPr>
        <p:spPr>
          <a:xfrm>
            <a:off x="8844197" y="3432588"/>
            <a:ext cx="2509603" cy="2308324"/>
          </a:xfrm>
          <a:prstGeom prst="rect">
            <a:avLst/>
          </a:prstGeom>
          <a:noFill/>
        </p:spPr>
        <p:txBody>
          <a:bodyPr wrap="square" rtlCol="0">
            <a:spAutoFit/>
          </a:bodyPr>
          <a:lstStyle/>
          <a:p>
            <a:pPr marL="285750" indent="-285750">
              <a:buFontTx/>
              <a:buChar char="-"/>
            </a:pPr>
            <a:r>
              <a:rPr lang="en-US" dirty="0"/>
              <a:t>Can’t use if offline</a:t>
            </a:r>
          </a:p>
          <a:p>
            <a:pPr marL="285750" indent="-285750">
              <a:buFontTx/>
              <a:buChar char="-"/>
            </a:pPr>
            <a:r>
              <a:rPr lang="en-US" dirty="0"/>
              <a:t>Slow if uploading large files</a:t>
            </a:r>
          </a:p>
          <a:p>
            <a:pPr marL="285750" indent="-285750">
              <a:buFontTx/>
              <a:buChar char="-"/>
            </a:pPr>
            <a:r>
              <a:rPr lang="en-US" dirty="0"/>
              <a:t>Slow if many people are using site simultaneously</a:t>
            </a:r>
          </a:p>
          <a:p>
            <a:pPr marL="285750" indent="-285750">
              <a:buFontTx/>
              <a:buChar char="-"/>
            </a:pPr>
            <a:r>
              <a:rPr lang="en-US" dirty="0"/>
              <a:t>Sometimes site is unreachable</a:t>
            </a:r>
          </a:p>
        </p:txBody>
      </p:sp>
      <p:pic>
        <p:nvPicPr>
          <p:cNvPr id="11" name="Picture 10">
            <a:extLst>
              <a:ext uri="{FF2B5EF4-FFF2-40B4-BE49-F238E27FC236}">
                <a16:creationId xmlns:a16="http://schemas.microsoft.com/office/drawing/2014/main" id="{205BFBFE-02B7-10A1-17DA-B7507564DD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53075" y="136026"/>
            <a:ext cx="1501720" cy="15976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7473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2AFA2-730D-B7BB-3E80-987E259B1BE1}"/>
              </a:ext>
            </a:extLst>
          </p:cNvPr>
          <p:cNvSpPr>
            <a:spLocks noGrp="1"/>
          </p:cNvSpPr>
          <p:nvPr>
            <p:ph type="title"/>
          </p:nvPr>
        </p:nvSpPr>
        <p:spPr/>
        <p:txBody>
          <a:bodyPr/>
          <a:lstStyle/>
          <a:p>
            <a:r>
              <a:rPr lang="en-US" dirty="0">
                <a:solidFill>
                  <a:srgbClr val="002060"/>
                </a:solidFill>
              </a:rPr>
              <a:t>How to </a:t>
            </a:r>
            <a:r>
              <a:rPr lang="en-US">
                <a:solidFill>
                  <a:srgbClr val="002060"/>
                </a:solidFill>
              </a:rPr>
              <a:t>use CRISPResso2 </a:t>
            </a:r>
            <a:r>
              <a:rPr lang="en-US" dirty="0">
                <a:solidFill>
                  <a:srgbClr val="002060"/>
                </a:solidFill>
              </a:rPr>
              <a:t>locally</a:t>
            </a:r>
            <a:br>
              <a:rPr lang="en-US" dirty="0">
                <a:solidFill>
                  <a:srgbClr val="002060"/>
                </a:solidFill>
              </a:rPr>
            </a:br>
            <a:r>
              <a:rPr lang="en-US" dirty="0">
                <a:solidFill>
                  <a:srgbClr val="002060"/>
                </a:solidFill>
              </a:rPr>
              <a:t>(on own computer)</a:t>
            </a:r>
          </a:p>
        </p:txBody>
      </p:sp>
      <p:sp>
        <p:nvSpPr>
          <p:cNvPr id="3" name="TextBox 2">
            <a:extLst>
              <a:ext uri="{FF2B5EF4-FFF2-40B4-BE49-F238E27FC236}">
                <a16:creationId xmlns:a16="http://schemas.microsoft.com/office/drawing/2014/main" id="{FB8BF800-99C0-35D2-1B2C-06A395C951BE}"/>
              </a:ext>
            </a:extLst>
          </p:cNvPr>
          <p:cNvSpPr txBox="1"/>
          <p:nvPr/>
        </p:nvSpPr>
        <p:spPr>
          <a:xfrm>
            <a:off x="8094690" y="1498779"/>
            <a:ext cx="2128604" cy="369332"/>
          </a:xfrm>
          <a:prstGeom prst="rect">
            <a:avLst/>
          </a:prstGeom>
          <a:noFill/>
        </p:spPr>
        <p:txBody>
          <a:bodyPr wrap="square" rtlCol="0">
            <a:spAutoFit/>
          </a:bodyPr>
          <a:lstStyle/>
          <a:p>
            <a:r>
              <a:rPr lang="en-US" b="1" dirty="0"/>
              <a:t>Pros:</a:t>
            </a:r>
          </a:p>
        </p:txBody>
      </p:sp>
      <p:sp>
        <p:nvSpPr>
          <p:cNvPr id="4" name="TextBox 3">
            <a:extLst>
              <a:ext uri="{FF2B5EF4-FFF2-40B4-BE49-F238E27FC236}">
                <a16:creationId xmlns:a16="http://schemas.microsoft.com/office/drawing/2014/main" id="{43DD9B61-D02F-7EE8-4FD0-54B97607697F}"/>
              </a:ext>
            </a:extLst>
          </p:cNvPr>
          <p:cNvSpPr txBox="1"/>
          <p:nvPr/>
        </p:nvSpPr>
        <p:spPr>
          <a:xfrm>
            <a:off x="8229602" y="1858782"/>
            <a:ext cx="3297834" cy="1754326"/>
          </a:xfrm>
          <a:prstGeom prst="rect">
            <a:avLst/>
          </a:prstGeom>
          <a:noFill/>
        </p:spPr>
        <p:txBody>
          <a:bodyPr wrap="square" rtlCol="0">
            <a:spAutoFit/>
          </a:bodyPr>
          <a:lstStyle/>
          <a:p>
            <a:pPr marL="285750" indent="-285750">
              <a:buFontTx/>
              <a:buChar char="-"/>
            </a:pPr>
            <a:r>
              <a:rPr lang="en-US" i="1" dirty="0"/>
              <a:t>FAST!!</a:t>
            </a:r>
          </a:p>
          <a:p>
            <a:pPr marL="285750" indent="-285750">
              <a:buFontTx/>
              <a:buChar char="-"/>
            </a:pPr>
            <a:r>
              <a:rPr lang="en-US" dirty="0"/>
              <a:t>Works offline</a:t>
            </a:r>
          </a:p>
          <a:p>
            <a:pPr marL="285750" indent="-285750">
              <a:buFontTx/>
              <a:buChar char="-"/>
            </a:pPr>
            <a:r>
              <a:rPr lang="en-US" dirty="0"/>
              <a:t>Large files are not an issue</a:t>
            </a:r>
          </a:p>
          <a:p>
            <a:pPr marL="285750" indent="-285750">
              <a:buFontTx/>
              <a:buChar char="-"/>
            </a:pPr>
            <a:r>
              <a:rPr lang="en-US" dirty="0"/>
              <a:t>Docker containers make running it a breeze.</a:t>
            </a:r>
          </a:p>
          <a:p>
            <a:pPr marL="285750" indent="-285750">
              <a:buFontTx/>
              <a:buChar char="-"/>
            </a:pPr>
            <a:r>
              <a:rPr lang="en-US" dirty="0"/>
              <a:t>Platform independent</a:t>
            </a:r>
          </a:p>
        </p:txBody>
      </p:sp>
      <p:sp>
        <p:nvSpPr>
          <p:cNvPr id="5" name="TextBox 4">
            <a:extLst>
              <a:ext uri="{FF2B5EF4-FFF2-40B4-BE49-F238E27FC236}">
                <a16:creationId xmlns:a16="http://schemas.microsoft.com/office/drawing/2014/main" id="{40425C10-83B0-17CB-B741-2B88F82DA2B8}"/>
              </a:ext>
            </a:extLst>
          </p:cNvPr>
          <p:cNvSpPr txBox="1"/>
          <p:nvPr/>
        </p:nvSpPr>
        <p:spPr>
          <a:xfrm>
            <a:off x="8094690" y="3852070"/>
            <a:ext cx="2128604" cy="369332"/>
          </a:xfrm>
          <a:prstGeom prst="rect">
            <a:avLst/>
          </a:prstGeom>
          <a:noFill/>
        </p:spPr>
        <p:txBody>
          <a:bodyPr wrap="square" rtlCol="0">
            <a:spAutoFit/>
          </a:bodyPr>
          <a:lstStyle/>
          <a:p>
            <a:r>
              <a:rPr lang="en-US" b="1" dirty="0"/>
              <a:t>Cons:</a:t>
            </a:r>
          </a:p>
        </p:txBody>
      </p:sp>
      <p:sp>
        <p:nvSpPr>
          <p:cNvPr id="6" name="TextBox 5">
            <a:extLst>
              <a:ext uri="{FF2B5EF4-FFF2-40B4-BE49-F238E27FC236}">
                <a16:creationId xmlns:a16="http://schemas.microsoft.com/office/drawing/2014/main" id="{F8DA5B44-6479-9F15-C5C2-7C524DB35C9D}"/>
              </a:ext>
            </a:extLst>
          </p:cNvPr>
          <p:cNvSpPr txBox="1"/>
          <p:nvPr/>
        </p:nvSpPr>
        <p:spPr>
          <a:xfrm>
            <a:off x="8229602" y="4257043"/>
            <a:ext cx="3297834" cy="2585323"/>
          </a:xfrm>
          <a:prstGeom prst="rect">
            <a:avLst/>
          </a:prstGeom>
          <a:noFill/>
        </p:spPr>
        <p:txBody>
          <a:bodyPr wrap="square" rtlCol="0">
            <a:spAutoFit/>
          </a:bodyPr>
          <a:lstStyle/>
          <a:p>
            <a:pPr marL="285750" indent="-285750">
              <a:buFontTx/>
              <a:buChar char="-"/>
            </a:pPr>
            <a:r>
              <a:rPr lang="en-US" dirty="0"/>
              <a:t>Need to be slightly more tech savvy</a:t>
            </a:r>
          </a:p>
          <a:p>
            <a:pPr marL="285750" indent="-285750">
              <a:buFontTx/>
              <a:buChar char="-"/>
            </a:pPr>
            <a:r>
              <a:rPr lang="en-US" dirty="0"/>
              <a:t>Command line interface can be daunting for some</a:t>
            </a:r>
          </a:p>
          <a:p>
            <a:pPr marL="285750" indent="-285750">
              <a:buFontTx/>
              <a:buChar char="-"/>
            </a:pPr>
            <a:r>
              <a:rPr lang="en-US" dirty="0"/>
              <a:t>Install Docker</a:t>
            </a:r>
          </a:p>
          <a:p>
            <a:pPr marL="285750" indent="-285750">
              <a:buFontTx/>
              <a:buChar char="-"/>
            </a:pPr>
            <a:r>
              <a:rPr lang="en-US" dirty="0"/>
              <a:t>Some command line knowledge required</a:t>
            </a:r>
          </a:p>
          <a:p>
            <a:pPr marL="285750" indent="-285750">
              <a:buFontTx/>
              <a:buChar char="-"/>
            </a:pPr>
            <a:endParaRPr lang="en-US" dirty="0"/>
          </a:p>
          <a:p>
            <a:pPr marL="285750" indent="-285750">
              <a:buFontTx/>
              <a:buChar char="-"/>
            </a:pPr>
            <a:endParaRPr lang="en-US" dirty="0"/>
          </a:p>
        </p:txBody>
      </p:sp>
      <p:sp>
        <p:nvSpPr>
          <p:cNvPr id="7" name="TextBox 6">
            <a:extLst>
              <a:ext uri="{FF2B5EF4-FFF2-40B4-BE49-F238E27FC236}">
                <a16:creationId xmlns:a16="http://schemas.microsoft.com/office/drawing/2014/main" id="{CDB1F821-9CB6-A341-FD50-DAE6A224EFC8}"/>
              </a:ext>
            </a:extLst>
          </p:cNvPr>
          <p:cNvSpPr txBox="1"/>
          <p:nvPr/>
        </p:nvSpPr>
        <p:spPr>
          <a:xfrm>
            <a:off x="838199" y="2505670"/>
            <a:ext cx="6267138" cy="923330"/>
          </a:xfrm>
          <a:prstGeom prst="rect">
            <a:avLst/>
          </a:prstGeom>
          <a:noFill/>
        </p:spPr>
        <p:txBody>
          <a:bodyPr wrap="square" rtlCol="0">
            <a:spAutoFit/>
          </a:bodyPr>
          <a:lstStyle/>
          <a:p>
            <a:r>
              <a:rPr lang="en-GB" b="0" i="0" dirty="0" err="1">
                <a:effectLst/>
                <a:latin typeface="+mj-lt"/>
              </a:rPr>
              <a:t>CRISPResso</a:t>
            </a:r>
            <a:r>
              <a:rPr lang="en-GB" b="0" i="0" dirty="0">
                <a:effectLst/>
                <a:latin typeface="+mj-lt"/>
              </a:rPr>
              <a:t> can be installed using the </a:t>
            </a:r>
            <a:r>
              <a:rPr lang="en-GB" b="0" i="0" u="none" strike="noStrike" dirty="0">
                <a:effectLst/>
                <a:latin typeface="+mj-lt"/>
                <a:hlinkClick r:id="rId2">
                  <a:extLst>
                    <a:ext uri="{A12FA001-AC4F-418D-AE19-62706E023703}">
                      <ahyp:hlinkClr xmlns:ahyp="http://schemas.microsoft.com/office/drawing/2018/hyperlinkcolor" val="tx"/>
                    </a:ext>
                  </a:extLst>
                </a:hlinkClick>
              </a:rPr>
              <a:t>conda</a:t>
            </a:r>
            <a:r>
              <a:rPr lang="en-GB" b="0" i="0" dirty="0">
                <a:effectLst/>
                <a:latin typeface="+mj-lt"/>
              </a:rPr>
              <a:t> package manager </a:t>
            </a:r>
            <a:r>
              <a:rPr lang="en-GB" b="0" i="0" u="none" strike="noStrike" dirty="0">
                <a:effectLst/>
                <a:latin typeface="+mj-lt"/>
                <a:hlinkClick r:id="rId3">
                  <a:extLst>
                    <a:ext uri="{A12FA001-AC4F-418D-AE19-62706E023703}">
                      <ahyp:hlinkClr xmlns:ahyp="http://schemas.microsoft.com/office/drawing/2018/hyperlinkcolor" val="tx"/>
                    </a:ext>
                  </a:extLst>
                </a:hlinkClick>
              </a:rPr>
              <a:t>Bioconda</a:t>
            </a:r>
            <a:r>
              <a:rPr lang="en-GB" b="0" i="0" dirty="0">
                <a:effectLst/>
                <a:latin typeface="+mj-lt"/>
              </a:rPr>
              <a:t>, or it can be run using </a:t>
            </a:r>
            <a:r>
              <a:rPr lang="en-GB" b="1" i="0" dirty="0">
                <a:effectLst/>
                <a:latin typeface="+mj-lt"/>
              </a:rPr>
              <a:t>the </a:t>
            </a:r>
            <a:r>
              <a:rPr lang="en-GB" b="1" i="0" u="none" strike="noStrike" dirty="0">
                <a:effectLst/>
                <a:latin typeface="+mj-lt"/>
                <a:hlinkClick r:id="rId4">
                  <a:extLst>
                    <a:ext uri="{A12FA001-AC4F-418D-AE19-62706E023703}">
                      <ahyp:hlinkClr xmlns:ahyp="http://schemas.microsoft.com/office/drawing/2018/hyperlinkcolor" val="tx"/>
                    </a:ext>
                  </a:extLst>
                </a:hlinkClick>
              </a:rPr>
              <a:t>Docker</a:t>
            </a:r>
            <a:r>
              <a:rPr lang="en-GB" b="1" i="0" dirty="0">
                <a:effectLst/>
                <a:latin typeface="+mj-lt"/>
              </a:rPr>
              <a:t> containerization</a:t>
            </a:r>
            <a:r>
              <a:rPr lang="en-GB" b="0" i="0" dirty="0">
                <a:effectLst/>
                <a:latin typeface="+mj-lt"/>
              </a:rPr>
              <a:t> system.</a:t>
            </a:r>
            <a:endParaRPr lang="en-US" dirty="0">
              <a:latin typeface="+mj-lt"/>
            </a:endParaRPr>
          </a:p>
        </p:txBody>
      </p:sp>
      <p:sp>
        <p:nvSpPr>
          <p:cNvPr id="8" name="TextBox 7">
            <a:extLst>
              <a:ext uri="{FF2B5EF4-FFF2-40B4-BE49-F238E27FC236}">
                <a16:creationId xmlns:a16="http://schemas.microsoft.com/office/drawing/2014/main" id="{EBFB418B-52AE-49BB-0FB8-9EA146434371}"/>
              </a:ext>
            </a:extLst>
          </p:cNvPr>
          <p:cNvSpPr txBox="1"/>
          <p:nvPr/>
        </p:nvSpPr>
        <p:spPr>
          <a:xfrm>
            <a:off x="838199" y="1718211"/>
            <a:ext cx="5652542" cy="646331"/>
          </a:xfrm>
          <a:prstGeom prst="rect">
            <a:avLst/>
          </a:prstGeom>
          <a:noFill/>
        </p:spPr>
        <p:txBody>
          <a:bodyPr wrap="square" rtlCol="0">
            <a:spAutoFit/>
          </a:bodyPr>
          <a:lstStyle/>
          <a:p>
            <a:r>
              <a:rPr lang="en-US" dirty="0"/>
              <a:t>From official documentation:</a:t>
            </a:r>
          </a:p>
          <a:p>
            <a:r>
              <a:rPr lang="en-US" b="1" dirty="0"/>
              <a:t>https://</a:t>
            </a:r>
            <a:r>
              <a:rPr lang="en-US" b="1" dirty="0" err="1"/>
              <a:t>docs.crispresso.com</a:t>
            </a:r>
            <a:r>
              <a:rPr lang="en-US" b="1" dirty="0"/>
              <a:t>/</a:t>
            </a:r>
            <a:r>
              <a:rPr lang="en-US" b="1" dirty="0" err="1"/>
              <a:t>installation.html</a:t>
            </a:r>
            <a:endParaRPr lang="en-US" b="1" dirty="0"/>
          </a:p>
        </p:txBody>
      </p:sp>
      <p:sp>
        <p:nvSpPr>
          <p:cNvPr id="9" name="TextBox 8">
            <a:extLst>
              <a:ext uri="{FF2B5EF4-FFF2-40B4-BE49-F238E27FC236}">
                <a16:creationId xmlns:a16="http://schemas.microsoft.com/office/drawing/2014/main" id="{0726DF29-C276-E4A6-63B3-EC3FE96372CA}"/>
              </a:ext>
            </a:extLst>
          </p:cNvPr>
          <p:cNvSpPr txBox="1"/>
          <p:nvPr/>
        </p:nvSpPr>
        <p:spPr>
          <a:xfrm>
            <a:off x="860057" y="3448838"/>
            <a:ext cx="6267137" cy="646331"/>
          </a:xfrm>
          <a:prstGeom prst="rect">
            <a:avLst/>
          </a:prstGeom>
          <a:noFill/>
        </p:spPr>
        <p:txBody>
          <a:bodyPr wrap="square" rtlCol="0">
            <a:spAutoFit/>
          </a:bodyPr>
          <a:lstStyle/>
          <a:p>
            <a:r>
              <a:rPr lang="en-US" b="1" dirty="0"/>
              <a:t>Running via docker is probably the easiest way, as you don’t have to worry about which packages to install</a:t>
            </a:r>
          </a:p>
        </p:txBody>
      </p:sp>
      <p:pic>
        <p:nvPicPr>
          <p:cNvPr id="10" name="Picture 9">
            <a:extLst>
              <a:ext uri="{FF2B5EF4-FFF2-40B4-BE49-F238E27FC236}">
                <a16:creationId xmlns:a16="http://schemas.microsoft.com/office/drawing/2014/main" id="{A91C0106-936A-551D-E40B-F8F1A51D094E}"/>
              </a:ext>
            </a:extLst>
          </p:cNvPr>
          <p:cNvPicPr>
            <a:picLocks noChangeAspect="1"/>
          </p:cNvPicPr>
          <p:nvPr/>
        </p:nvPicPr>
        <p:blipFill>
          <a:blip r:embed="rId5"/>
          <a:stretch>
            <a:fillRect/>
          </a:stretch>
        </p:blipFill>
        <p:spPr>
          <a:xfrm>
            <a:off x="956010" y="4116472"/>
            <a:ext cx="5625529" cy="2678148"/>
          </a:xfrm>
          <a:prstGeom prst="rect">
            <a:avLst/>
          </a:prstGeom>
        </p:spPr>
      </p:pic>
      <p:pic>
        <p:nvPicPr>
          <p:cNvPr id="11" name="Picture 10">
            <a:extLst>
              <a:ext uri="{FF2B5EF4-FFF2-40B4-BE49-F238E27FC236}">
                <a16:creationId xmlns:a16="http://schemas.microsoft.com/office/drawing/2014/main" id="{527A7989-7575-46F9-6644-5715F47E1E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47403" y="64156"/>
            <a:ext cx="1858468" cy="1977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728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BEB7A-0098-0EA7-2329-D83858F48D9B}"/>
              </a:ext>
            </a:extLst>
          </p:cNvPr>
          <p:cNvSpPr>
            <a:spLocks noGrp="1"/>
          </p:cNvSpPr>
          <p:nvPr>
            <p:ph type="title"/>
          </p:nvPr>
        </p:nvSpPr>
        <p:spPr>
          <a:xfrm>
            <a:off x="838200" y="365126"/>
            <a:ext cx="10515600" cy="748186"/>
          </a:xfrm>
        </p:spPr>
        <p:txBody>
          <a:bodyPr/>
          <a:lstStyle/>
          <a:p>
            <a:r>
              <a:rPr lang="en-US" dirty="0">
                <a:solidFill>
                  <a:srgbClr val="002060"/>
                </a:solidFill>
              </a:rPr>
              <a:t>Getting Docker up and running (on Apple Mac)</a:t>
            </a:r>
          </a:p>
        </p:txBody>
      </p:sp>
      <p:sp>
        <p:nvSpPr>
          <p:cNvPr id="4" name="TextBox 3">
            <a:extLst>
              <a:ext uri="{FF2B5EF4-FFF2-40B4-BE49-F238E27FC236}">
                <a16:creationId xmlns:a16="http://schemas.microsoft.com/office/drawing/2014/main" id="{224B738B-8379-0E19-C918-58C59ACC157D}"/>
              </a:ext>
            </a:extLst>
          </p:cNvPr>
          <p:cNvSpPr txBox="1"/>
          <p:nvPr/>
        </p:nvSpPr>
        <p:spPr>
          <a:xfrm>
            <a:off x="521947" y="1832011"/>
            <a:ext cx="5574053" cy="338554"/>
          </a:xfrm>
          <a:prstGeom prst="rect">
            <a:avLst/>
          </a:prstGeom>
          <a:noFill/>
        </p:spPr>
        <p:txBody>
          <a:bodyPr wrap="square">
            <a:spAutoFit/>
          </a:bodyPr>
          <a:lstStyle/>
          <a:p>
            <a:r>
              <a:rPr lang="en-US" sz="1600" b="1" dirty="0"/>
              <a:t>https://</a:t>
            </a:r>
            <a:r>
              <a:rPr lang="en-US" sz="1600" b="1" dirty="0" err="1"/>
              <a:t>docs.docker.com</a:t>
            </a:r>
            <a:r>
              <a:rPr lang="en-US" sz="1600" b="1" dirty="0"/>
              <a:t>/desktop/install/mac-install/</a:t>
            </a:r>
          </a:p>
        </p:txBody>
      </p:sp>
      <p:sp>
        <p:nvSpPr>
          <p:cNvPr id="5" name="TextBox 4">
            <a:extLst>
              <a:ext uri="{FF2B5EF4-FFF2-40B4-BE49-F238E27FC236}">
                <a16:creationId xmlns:a16="http://schemas.microsoft.com/office/drawing/2014/main" id="{642D5C04-D443-D42E-FF92-0B9D9810B1E6}"/>
              </a:ext>
            </a:extLst>
          </p:cNvPr>
          <p:cNvSpPr txBox="1"/>
          <p:nvPr/>
        </p:nvSpPr>
        <p:spPr>
          <a:xfrm>
            <a:off x="521947" y="1437821"/>
            <a:ext cx="3491429" cy="338554"/>
          </a:xfrm>
          <a:prstGeom prst="rect">
            <a:avLst/>
          </a:prstGeom>
          <a:noFill/>
        </p:spPr>
        <p:txBody>
          <a:bodyPr wrap="square">
            <a:spAutoFit/>
          </a:bodyPr>
          <a:lstStyle/>
          <a:p>
            <a:r>
              <a:rPr lang="en-US" sz="1600" b="1" dirty="0"/>
              <a:t>https://</a:t>
            </a:r>
            <a:r>
              <a:rPr lang="en-US" sz="1600" b="1" dirty="0" err="1"/>
              <a:t>docs.docker.com</a:t>
            </a:r>
            <a:r>
              <a:rPr lang="en-US" sz="1600" b="1" dirty="0"/>
              <a:t>/desktop/</a:t>
            </a:r>
          </a:p>
        </p:txBody>
      </p:sp>
      <p:sp>
        <p:nvSpPr>
          <p:cNvPr id="6" name="TextBox 5">
            <a:extLst>
              <a:ext uri="{FF2B5EF4-FFF2-40B4-BE49-F238E27FC236}">
                <a16:creationId xmlns:a16="http://schemas.microsoft.com/office/drawing/2014/main" id="{A60E451D-F669-F385-CF37-792910A085DB}"/>
              </a:ext>
            </a:extLst>
          </p:cNvPr>
          <p:cNvSpPr txBox="1"/>
          <p:nvPr/>
        </p:nvSpPr>
        <p:spPr>
          <a:xfrm>
            <a:off x="642214" y="2313539"/>
            <a:ext cx="5000303" cy="369332"/>
          </a:xfrm>
          <a:prstGeom prst="rect">
            <a:avLst/>
          </a:prstGeom>
          <a:noFill/>
        </p:spPr>
        <p:txBody>
          <a:bodyPr wrap="square" rtlCol="0">
            <a:spAutoFit/>
          </a:bodyPr>
          <a:lstStyle/>
          <a:p>
            <a:r>
              <a:rPr lang="en-US" dirty="0"/>
              <a:t>1. Download the installer (</a:t>
            </a:r>
            <a:r>
              <a:rPr lang="en-US" dirty="0" err="1"/>
              <a:t>Docker.dmg</a:t>
            </a:r>
            <a:r>
              <a:rPr lang="en-US" dirty="0"/>
              <a:t> for Mac)</a:t>
            </a:r>
          </a:p>
        </p:txBody>
      </p:sp>
      <p:pic>
        <p:nvPicPr>
          <p:cNvPr id="7" name="Picture 6">
            <a:extLst>
              <a:ext uri="{FF2B5EF4-FFF2-40B4-BE49-F238E27FC236}">
                <a16:creationId xmlns:a16="http://schemas.microsoft.com/office/drawing/2014/main" id="{3194FB58-242B-AFC7-E1B5-FAEDBD7B91AB}"/>
              </a:ext>
            </a:extLst>
          </p:cNvPr>
          <p:cNvPicPr>
            <a:picLocks noChangeAspect="1"/>
          </p:cNvPicPr>
          <p:nvPr/>
        </p:nvPicPr>
        <p:blipFill>
          <a:blip r:embed="rId3"/>
          <a:stretch>
            <a:fillRect/>
          </a:stretch>
        </p:blipFill>
        <p:spPr>
          <a:xfrm>
            <a:off x="642214" y="3092213"/>
            <a:ext cx="3249976" cy="1520880"/>
          </a:xfrm>
          <a:prstGeom prst="rect">
            <a:avLst/>
          </a:prstGeom>
        </p:spPr>
      </p:pic>
      <p:sp>
        <p:nvSpPr>
          <p:cNvPr id="8" name="TextBox 7">
            <a:extLst>
              <a:ext uri="{FF2B5EF4-FFF2-40B4-BE49-F238E27FC236}">
                <a16:creationId xmlns:a16="http://schemas.microsoft.com/office/drawing/2014/main" id="{270E1D58-D04C-6D3A-7800-7FB1140DBD78}"/>
              </a:ext>
            </a:extLst>
          </p:cNvPr>
          <p:cNvSpPr txBox="1"/>
          <p:nvPr/>
        </p:nvSpPr>
        <p:spPr>
          <a:xfrm>
            <a:off x="642214" y="2638049"/>
            <a:ext cx="5398266" cy="369332"/>
          </a:xfrm>
          <a:prstGeom prst="rect">
            <a:avLst/>
          </a:prstGeom>
          <a:noFill/>
        </p:spPr>
        <p:txBody>
          <a:bodyPr wrap="square" rtlCol="0">
            <a:spAutoFit/>
          </a:bodyPr>
          <a:lstStyle/>
          <a:p>
            <a:r>
              <a:rPr lang="en-US" dirty="0"/>
              <a:t>2. Double click then copy to Applications folder</a:t>
            </a:r>
          </a:p>
        </p:txBody>
      </p:sp>
      <p:pic>
        <p:nvPicPr>
          <p:cNvPr id="9" name="Picture 8">
            <a:extLst>
              <a:ext uri="{FF2B5EF4-FFF2-40B4-BE49-F238E27FC236}">
                <a16:creationId xmlns:a16="http://schemas.microsoft.com/office/drawing/2014/main" id="{F9EE2700-D25F-AD16-FC70-5B7C09AE7000}"/>
              </a:ext>
            </a:extLst>
          </p:cNvPr>
          <p:cNvPicPr>
            <a:picLocks noChangeAspect="1"/>
          </p:cNvPicPr>
          <p:nvPr/>
        </p:nvPicPr>
        <p:blipFill>
          <a:blip r:embed="rId4"/>
          <a:stretch>
            <a:fillRect/>
          </a:stretch>
        </p:blipFill>
        <p:spPr>
          <a:xfrm>
            <a:off x="642214" y="5068492"/>
            <a:ext cx="2406436" cy="1691129"/>
          </a:xfrm>
          <a:prstGeom prst="rect">
            <a:avLst/>
          </a:prstGeom>
        </p:spPr>
      </p:pic>
      <p:sp>
        <p:nvSpPr>
          <p:cNvPr id="10" name="TextBox 9">
            <a:extLst>
              <a:ext uri="{FF2B5EF4-FFF2-40B4-BE49-F238E27FC236}">
                <a16:creationId xmlns:a16="http://schemas.microsoft.com/office/drawing/2014/main" id="{98D8E30F-F23B-EF27-7E73-E54C70F0460E}"/>
              </a:ext>
            </a:extLst>
          </p:cNvPr>
          <p:cNvSpPr txBox="1"/>
          <p:nvPr/>
        </p:nvSpPr>
        <p:spPr>
          <a:xfrm>
            <a:off x="665595" y="4698587"/>
            <a:ext cx="5398266" cy="369332"/>
          </a:xfrm>
          <a:prstGeom prst="rect">
            <a:avLst/>
          </a:prstGeom>
          <a:noFill/>
        </p:spPr>
        <p:txBody>
          <a:bodyPr wrap="square" rtlCol="0">
            <a:spAutoFit/>
          </a:bodyPr>
          <a:lstStyle/>
          <a:p>
            <a:r>
              <a:rPr lang="en-US" dirty="0"/>
              <a:t>3. Login using email or create a new account</a:t>
            </a:r>
          </a:p>
        </p:txBody>
      </p:sp>
      <p:pic>
        <p:nvPicPr>
          <p:cNvPr id="11" name="Picture 10">
            <a:extLst>
              <a:ext uri="{FF2B5EF4-FFF2-40B4-BE49-F238E27FC236}">
                <a16:creationId xmlns:a16="http://schemas.microsoft.com/office/drawing/2014/main" id="{F4811821-02B6-825F-AEB7-03AD08ACB08D}"/>
              </a:ext>
            </a:extLst>
          </p:cNvPr>
          <p:cNvPicPr>
            <a:picLocks noChangeAspect="1"/>
          </p:cNvPicPr>
          <p:nvPr/>
        </p:nvPicPr>
        <p:blipFill>
          <a:blip r:embed="rId5"/>
          <a:stretch>
            <a:fillRect/>
          </a:stretch>
        </p:blipFill>
        <p:spPr>
          <a:xfrm>
            <a:off x="6673180" y="1850500"/>
            <a:ext cx="3221258" cy="2248921"/>
          </a:xfrm>
          <a:prstGeom prst="rect">
            <a:avLst/>
          </a:prstGeom>
        </p:spPr>
      </p:pic>
      <p:sp>
        <p:nvSpPr>
          <p:cNvPr id="12" name="TextBox 11">
            <a:extLst>
              <a:ext uri="{FF2B5EF4-FFF2-40B4-BE49-F238E27FC236}">
                <a16:creationId xmlns:a16="http://schemas.microsoft.com/office/drawing/2014/main" id="{361B4B7E-A3BC-EC82-144A-72E228C2D12E}"/>
              </a:ext>
            </a:extLst>
          </p:cNvPr>
          <p:cNvSpPr txBox="1"/>
          <p:nvPr/>
        </p:nvSpPr>
        <p:spPr>
          <a:xfrm>
            <a:off x="6518004" y="1404853"/>
            <a:ext cx="4490109" cy="369332"/>
          </a:xfrm>
          <a:prstGeom prst="rect">
            <a:avLst/>
          </a:prstGeom>
          <a:noFill/>
        </p:spPr>
        <p:txBody>
          <a:bodyPr wrap="square" rtlCol="0">
            <a:spAutoFit/>
          </a:bodyPr>
          <a:lstStyle/>
          <a:p>
            <a:r>
              <a:rPr lang="en-US" dirty="0"/>
              <a:t>4. Home screen after sign up and logging in</a:t>
            </a:r>
          </a:p>
        </p:txBody>
      </p:sp>
      <p:pic>
        <p:nvPicPr>
          <p:cNvPr id="14" name="Picture 13">
            <a:extLst>
              <a:ext uri="{FF2B5EF4-FFF2-40B4-BE49-F238E27FC236}">
                <a16:creationId xmlns:a16="http://schemas.microsoft.com/office/drawing/2014/main" id="{4B0893EC-551B-A2B5-1D6E-089831C654DC}"/>
              </a:ext>
            </a:extLst>
          </p:cNvPr>
          <p:cNvPicPr>
            <a:picLocks noChangeAspect="1"/>
          </p:cNvPicPr>
          <p:nvPr/>
        </p:nvPicPr>
        <p:blipFill>
          <a:blip r:embed="rId6"/>
          <a:stretch>
            <a:fillRect/>
          </a:stretch>
        </p:blipFill>
        <p:spPr>
          <a:xfrm>
            <a:off x="6673180" y="5128575"/>
            <a:ext cx="4487254" cy="1551004"/>
          </a:xfrm>
          <a:prstGeom prst="rect">
            <a:avLst/>
          </a:prstGeom>
        </p:spPr>
      </p:pic>
      <p:sp>
        <p:nvSpPr>
          <p:cNvPr id="15" name="TextBox 14">
            <a:extLst>
              <a:ext uri="{FF2B5EF4-FFF2-40B4-BE49-F238E27FC236}">
                <a16:creationId xmlns:a16="http://schemas.microsoft.com/office/drawing/2014/main" id="{19B20E46-6E98-28C7-096D-9FDCD1D8846A}"/>
              </a:ext>
            </a:extLst>
          </p:cNvPr>
          <p:cNvSpPr txBox="1"/>
          <p:nvPr/>
        </p:nvSpPr>
        <p:spPr>
          <a:xfrm>
            <a:off x="6518003" y="4179187"/>
            <a:ext cx="4490109" cy="923330"/>
          </a:xfrm>
          <a:prstGeom prst="rect">
            <a:avLst/>
          </a:prstGeom>
          <a:noFill/>
        </p:spPr>
        <p:txBody>
          <a:bodyPr wrap="square" rtlCol="0">
            <a:spAutoFit/>
          </a:bodyPr>
          <a:lstStyle/>
          <a:p>
            <a:r>
              <a:rPr lang="en-US" dirty="0"/>
              <a:t>5. Check Docker is running and version via terminal using </a:t>
            </a:r>
            <a:r>
              <a:rPr lang="en-US" b="1" dirty="0">
                <a:latin typeface="Courier New" panose="02070309020205020404" pitchFamily="49" charset="0"/>
                <a:cs typeface="Courier New" panose="02070309020205020404" pitchFamily="49" charset="0"/>
              </a:rPr>
              <a:t>docker –-version</a:t>
            </a:r>
            <a:r>
              <a:rPr lang="en-US" dirty="0"/>
              <a:t> command. </a:t>
            </a:r>
          </a:p>
        </p:txBody>
      </p:sp>
    </p:spTree>
    <p:extLst>
      <p:ext uri="{BB962C8B-B14F-4D97-AF65-F5344CB8AC3E}">
        <p14:creationId xmlns:p14="http://schemas.microsoft.com/office/powerpoint/2010/main" val="3714357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AEE65-71ED-81AA-0AB9-CA075935811D}"/>
              </a:ext>
            </a:extLst>
          </p:cNvPr>
          <p:cNvSpPr>
            <a:spLocks noGrp="1"/>
          </p:cNvSpPr>
          <p:nvPr>
            <p:ph type="title"/>
          </p:nvPr>
        </p:nvSpPr>
        <p:spPr>
          <a:xfrm>
            <a:off x="502644" y="200131"/>
            <a:ext cx="10515600" cy="519824"/>
          </a:xfrm>
        </p:spPr>
        <p:txBody>
          <a:bodyPr>
            <a:normAutofit fontScale="90000"/>
          </a:bodyPr>
          <a:lstStyle/>
          <a:p>
            <a:r>
              <a:rPr lang="en-US" dirty="0">
                <a:solidFill>
                  <a:srgbClr val="002060"/>
                </a:solidFill>
              </a:rPr>
              <a:t>Run CRISPresso2 via Docker</a:t>
            </a:r>
          </a:p>
        </p:txBody>
      </p:sp>
      <p:sp>
        <p:nvSpPr>
          <p:cNvPr id="6" name="TextBox 5">
            <a:extLst>
              <a:ext uri="{FF2B5EF4-FFF2-40B4-BE49-F238E27FC236}">
                <a16:creationId xmlns:a16="http://schemas.microsoft.com/office/drawing/2014/main" id="{EC580551-580B-AA56-EE07-30DBD4074306}"/>
              </a:ext>
            </a:extLst>
          </p:cNvPr>
          <p:cNvSpPr txBox="1"/>
          <p:nvPr/>
        </p:nvSpPr>
        <p:spPr>
          <a:xfrm>
            <a:off x="502645" y="1015742"/>
            <a:ext cx="4922244" cy="646331"/>
          </a:xfrm>
          <a:prstGeom prst="rect">
            <a:avLst/>
          </a:prstGeom>
          <a:noFill/>
        </p:spPr>
        <p:txBody>
          <a:bodyPr wrap="square" rtlCol="0">
            <a:spAutoFit/>
          </a:bodyPr>
          <a:lstStyle/>
          <a:p>
            <a:r>
              <a:rPr lang="en-US" dirty="0"/>
              <a:t>1. Execute the following command to download latest version of Crispresso2 container</a:t>
            </a:r>
          </a:p>
        </p:txBody>
      </p:sp>
      <p:sp>
        <p:nvSpPr>
          <p:cNvPr id="7" name="TextBox 6">
            <a:extLst>
              <a:ext uri="{FF2B5EF4-FFF2-40B4-BE49-F238E27FC236}">
                <a16:creationId xmlns:a16="http://schemas.microsoft.com/office/drawing/2014/main" id="{3B2A751C-2703-FADC-069C-C8C30FE9C306}"/>
              </a:ext>
            </a:extLst>
          </p:cNvPr>
          <p:cNvSpPr txBox="1"/>
          <p:nvPr/>
        </p:nvSpPr>
        <p:spPr>
          <a:xfrm>
            <a:off x="641015" y="1490007"/>
            <a:ext cx="8296507" cy="738664"/>
          </a:xfrm>
          <a:prstGeom prst="rect">
            <a:avLst/>
          </a:prstGeom>
          <a:noFill/>
        </p:spPr>
        <p:txBody>
          <a:bodyPr wrap="square" rtlCol="0">
            <a:spAutoFit/>
          </a:bodyPr>
          <a:lstStyle/>
          <a:p>
            <a:endParaRPr lang="en-GB" sz="1400" dirty="0">
              <a:solidFill>
                <a:schemeClr val="bg1"/>
              </a:solidFill>
              <a:effectLst/>
              <a:highlight>
                <a:srgbClr val="000000"/>
              </a:highlight>
              <a:latin typeface="Courier New" panose="02070309020205020404" pitchFamily="49" charset="0"/>
              <a:cs typeface="Courier New" panose="02070309020205020404" pitchFamily="49" charset="0"/>
            </a:endParaRPr>
          </a:p>
          <a:p>
            <a:r>
              <a:rPr lang="en-GB" sz="1400" dirty="0">
                <a:effectLst/>
                <a:latin typeface="Courier New" panose="02070309020205020404" pitchFamily="49" charset="0"/>
                <a:cs typeface="Courier New" panose="02070309020205020404" pitchFamily="49" charset="0"/>
              </a:rPr>
              <a:t>docker run -v ${PWD}:/DATA -w /DATA -</a:t>
            </a:r>
            <a:r>
              <a:rPr lang="en-GB" sz="1400" dirty="0" err="1">
                <a:effectLst/>
                <a:latin typeface="Courier New" panose="02070309020205020404" pitchFamily="49" charset="0"/>
                <a:cs typeface="Courier New" panose="02070309020205020404" pitchFamily="49" charset="0"/>
              </a:rPr>
              <a:t>i</a:t>
            </a:r>
            <a:r>
              <a:rPr lang="en-GB" sz="1400" dirty="0">
                <a:effectLst/>
                <a:latin typeface="Courier New" panose="02070309020205020404" pitchFamily="49" charset="0"/>
                <a:cs typeface="Courier New" panose="02070309020205020404" pitchFamily="49" charset="0"/>
              </a:rPr>
              <a:t> </a:t>
            </a:r>
            <a:r>
              <a:rPr lang="en-GB" sz="1400" dirty="0" err="1">
                <a:effectLst/>
                <a:latin typeface="Courier New" panose="02070309020205020404" pitchFamily="49" charset="0"/>
                <a:cs typeface="Courier New" panose="02070309020205020404" pitchFamily="49" charset="0"/>
              </a:rPr>
              <a:t>pinellolab</a:t>
            </a:r>
            <a:r>
              <a:rPr lang="en-GB" sz="1400" dirty="0">
                <a:effectLst/>
                <a:latin typeface="Courier New" panose="02070309020205020404" pitchFamily="49" charset="0"/>
                <a:cs typeface="Courier New" panose="02070309020205020404" pitchFamily="49" charset="0"/>
              </a:rPr>
              <a:t>/crispresso2 </a:t>
            </a:r>
            <a:r>
              <a:rPr lang="en-GB" sz="1400" dirty="0" err="1">
                <a:effectLst/>
                <a:latin typeface="Courier New" panose="02070309020205020404" pitchFamily="49" charset="0"/>
                <a:cs typeface="Courier New" panose="02070309020205020404" pitchFamily="49" charset="0"/>
              </a:rPr>
              <a:t>CRISPResso</a:t>
            </a:r>
            <a:r>
              <a:rPr lang="en-GB" sz="1400" dirty="0">
                <a:effectLst/>
                <a:latin typeface="Courier New" panose="02070309020205020404" pitchFamily="49" charset="0"/>
                <a:cs typeface="Courier New" panose="02070309020205020404" pitchFamily="49" charset="0"/>
              </a:rPr>
              <a:t> -h</a:t>
            </a:r>
          </a:p>
          <a:p>
            <a:endParaRPr lang="en-US" sz="1400" dirty="0">
              <a:solidFill>
                <a:schemeClr val="bg1"/>
              </a:solidFill>
              <a:highlight>
                <a:srgbClr val="000000"/>
              </a:highlight>
              <a:latin typeface="Courier New" panose="02070309020205020404" pitchFamily="49" charset="0"/>
              <a:cs typeface="Courier New" panose="02070309020205020404" pitchFamily="49" charset="0"/>
            </a:endParaRPr>
          </a:p>
        </p:txBody>
      </p:sp>
      <p:sp>
        <p:nvSpPr>
          <p:cNvPr id="8" name="TextBox 7">
            <a:extLst>
              <a:ext uri="{FF2B5EF4-FFF2-40B4-BE49-F238E27FC236}">
                <a16:creationId xmlns:a16="http://schemas.microsoft.com/office/drawing/2014/main" id="{D9AF4B67-ECED-8755-C0CD-091FC8E11EFE}"/>
              </a:ext>
            </a:extLst>
          </p:cNvPr>
          <p:cNvSpPr txBox="1"/>
          <p:nvPr/>
        </p:nvSpPr>
        <p:spPr>
          <a:xfrm>
            <a:off x="502644" y="2136338"/>
            <a:ext cx="9791146" cy="923330"/>
          </a:xfrm>
          <a:prstGeom prst="rect">
            <a:avLst/>
          </a:prstGeom>
          <a:noFill/>
        </p:spPr>
        <p:txBody>
          <a:bodyPr wrap="square" rtlCol="0">
            <a:spAutoFit/>
          </a:bodyPr>
          <a:lstStyle/>
          <a:p>
            <a:r>
              <a:rPr lang="en-US" dirty="0"/>
              <a:t>2. Data to be processed should be copied into working directory</a:t>
            </a:r>
          </a:p>
          <a:p>
            <a:r>
              <a:rPr lang="en-US" dirty="0"/>
              <a:t>(e.g. </a:t>
            </a:r>
            <a:r>
              <a:rPr lang="en-US" dirty="0">
                <a:latin typeface="Courier New" panose="02070309020205020404" pitchFamily="49" charset="0"/>
                <a:cs typeface="Courier New" panose="02070309020205020404" pitchFamily="49" charset="0"/>
              </a:rPr>
              <a:t>/dev/crispresso2</a:t>
            </a:r>
            <a:r>
              <a:rPr lang="en-US" dirty="0"/>
              <a:t>) – download the files </a:t>
            </a:r>
            <a:r>
              <a:rPr lang="en-GB" b="1" dirty="0">
                <a:solidFill>
                  <a:srgbClr val="000000"/>
                </a:solidFill>
                <a:latin typeface="Courier New" panose="02070309020205020404" pitchFamily="49" charset="0"/>
                <a:cs typeface="Courier New" panose="02070309020205020404" pitchFamily="49" charset="0"/>
              </a:rPr>
              <a:t>nhej.r1.fastq.gz</a:t>
            </a:r>
            <a:r>
              <a:rPr lang="en-GB" dirty="0">
                <a:solidFill>
                  <a:srgbClr val="000000"/>
                </a:solidFill>
                <a:latin typeface="Courier New" panose="02070309020205020404" pitchFamily="49" charset="0"/>
                <a:cs typeface="Courier New" panose="02070309020205020404" pitchFamily="49" charset="0"/>
              </a:rPr>
              <a:t> and </a:t>
            </a:r>
            <a:r>
              <a:rPr lang="en-GB" b="1" dirty="0">
                <a:solidFill>
                  <a:srgbClr val="000000"/>
                </a:solidFill>
                <a:latin typeface="Courier New" panose="02070309020205020404" pitchFamily="49" charset="0"/>
                <a:cs typeface="Courier New" panose="02070309020205020404" pitchFamily="49" charset="0"/>
              </a:rPr>
              <a:t>nhej.r2.fastq.gz</a:t>
            </a:r>
            <a:r>
              <a:rPr lang="en-GB" dirty="0">
                <a:solidFill>
                  <a:srgbClr val="000000"/>
                </a:solidFill>
                <a:latin typeface="Courier New" panose="02070309020205020404" pitchFamily="49" charset="0"/>
                <a:cs typeface="Courier New" panose="02070309020205020404" pitchFamily="49" charset="0"/>
              </a:rPr>
              <a:t> from their website</a:t>
            </a:r>
            <a:endParaRPr lang="en-US" dirty="0"/>
          </a:p>
        </p:txBody>
      </p:sp>
      <p:sp>
        <p:nvSpPr>
          <p:cNvPr id="10" name="TextBox 9">
            <a:extLst>
              <a:ext uri="{FF2B5EF4-FFF2-40B4-BE49-F238E27FC236}">
                <a16:creationId xmlns:a16="http://schemas.microsoft.com/office/drawing/2014/main" id="{03A7064D-EF76-6DB1-B368-637BE8154ED5}"/>
              </a:ext>
            </a:extLst>
          </p:cNvPr>
          <p:cNvSpPr txBox="1"/>
          <p:nvPr/>
        </p:nvSpPr>
        <p:spPr>
          <a:xfrm>
            <a:off x="641015" y="3429000"/>
            <a:ext cx="10515600" cy="1477328"/>
          </a:xfrm>
          <a:prstGeom prst="rect">
            <a:avLst/>
          </a:prstGeom>
          <a:noFill/>
        </p:spPr>
        <p:txBody>
          <a:bodyPr wrap="square">
            <a:spAutoFit/>
          </a:bodyPr>
          <a:lstStyle/>
          <a:p>
            <a:r>
              <a:rPr lang="en-GB" dirty="0">
                <a:solidFill>
                  <a:srgbClr val="000000"/>
                </a:solidFill>
                <a:effectLst/>
                <a:latin typeface="Courier New" panose="02070309020205020404" pitchFamily="49" charset="0"/>
                <a:cs typeface="Courier New" panose="02070309020205020404" pitchFamily="49" charset="0"/>
              </a:rPr>
              <a:t>docker run -v ${PWD}:/DATA -w /DATA -</a:t>
            </a:r>
            <a:r>
              <a:rPr lang="en-GB" dirty="0" err="1">
                <a:solidFill>
                  <a:srgbClr val="000000"/>
                </a:solidFill>
                <a:effectLst/>
                <a:latin typeface="Courier New" panose="02070309020205020404" pitchFamily="49" charset="0"/>
                <a:cs typeface="Courier New" panose="02070309020205020404" pitchFamily="49" charset="0"/>
              </a:rPr>
              <a:t>i</a:t>
            </a:r>
            <a:r>
              <a:rPr lang="en-GB" dirty="0">
                <a:solidFill>
                  <a:srgbClr val="000000"/>
                </a:solidFill>
                <a:effectLst/>
                <a:latin typeface="Courier New" panose="02070309020205020404" pitchFamily="49" charset="0"/>
                <a:cs typeface="Courier New" panose="02070309020205020404" pitchFamily="49" charset="0"/>
              </a:rPr>
              <a:t> </a:t>
            </a:r>
            <a:r>
              <a:rPr lang="en-GB" dirty="0" err="1">
                <a:solidFill>
                  <a:srgbClr val="000000"/>
                </a:solidFill>
                <a:effectLst/>
                <a:latin typeface="Courier New" panose="02070309020205020404" pitchFamily="49" charset="0"/>
                <a:cs typeface="Courier New" panose="02070309020205020404" pitchFamily="49" charset="0"/>
              </a:rPr>
              <a:t>pinellolab</a:t>
            </a:r>
            <a:r>
              <a:rPr lang="en-GB" dirty="0">
                <a:solidFill>
                  <a:srgbClr val="000000"/>
                </a:solidFill>
                <a:effectLst/>
                <a:latin typeface="Courier New" panose="02070309020205020404" pitchFamily="49" charset="0"/>
                <a:cs typeface="Courier New" panose="02070309020205020404" pitchFamily="49" charset="0"/>
              </a:rPr>
              <a:t>/crispresso2 </a:t>
            </a:r>
            <a:r>
              <a:rPr lang="en-GB" dirty="0" err="1">
                <a:solidFill>
                  <a:srgbClr val="000000"/>
                </a:solidFill>
                <a:effectLst/>
                <a:latin typeface="Courier New" panose="02070309020205020404" pitchFamily="49" charset="0"/>
                <a:cs typeface="Courier New" panose="02070309020205020404" pitchFamily="49" charset="0"/>
              </a:rPr>
              <a:t>CRISPResso</a:t>
            </a:r>
            <a:r>
              <a:rPr lang="en-GB" dirty="0">
                <a:solidFill>
                  <a:srgbClr val="000000"/>
                </a:solidFill>
                <a:effectLst/>
                <a:latin typeface="Courier New" panose="02070309020205020404" pitchFamily="49" charset="0"/>
                <a:cs typeface="Courier New" panose="02070309020205020404" pitchFamily="49" charset="0"/>
              </a:rPr>
              <a:t> -r1 </a:t>
            </a:r>
            <a:r>
              <a:rPr lang="en-GB" b="1" dirty="0">
                <a:solidFill>
                  <a:srgbClr val="000000"/>
                </a:solidFill>
                <a:effectLst/>
                <a:latin typeface="Courier New" panose="02070309020205020404" pitchFamily="49" charset="0"/>
                <a:cs typeface="Courier New" panose="02070309020205020404" pitchFamily="49" charset="0"/>
              </a:rPr>
              <a:t>nhej.r1.fastq.gz</a:t>
            </a:r>
            <a:r>
              <a:rPr lang="en-GB" dirty="0">
                <a:solidFill>
                  <a:srgbClr val="000000"/>
                </a:solidFill>
                <a:effectLst/>
                <a:latin typeface="Courier New" panose="02070309020205020404" pitchFamily="49" charset="0"/>
                <a:cs typeface="Courier New" panose="02070309020205020404" pitchFamily="49" charset="0"/>
              </a:rPr>
              <a:t> -r2 </a:t>
            </a:r>
            <a:r>
              <a:rPr lang="en-GB" b="1" dirty="0">
                <a:solidFill>
                  <a:srgbClr val="000000"/>
                </a:solidFill>
                <a:effectLst/>
                <a:latin typeface="Courier New" panose="02070309020205020404" pitchFamily="49" charset="0"/>
                <a:cs typeface="Courier New" panose="02070309020205020404" pitchFamily="49" charset="0"/>
              </a:rPr>
              <a:t>nhej.r2.fastq.gz</a:t>
            </a:r>
            <a:r>
              <a:rPr lang="en-GB" b="1" dirty="0">
                <a:solidFill>
                  <a:srgbClr val="000000"/>
                </a:solidFill>
                <a:latin typeface="Courier New" panose="02070309020205020404" pitchFamily="49" charset="0"/>
                <a:cs typeface="Courier New" panose="02070309020205020404" pitchFamily="49" charset="0"/>
              </a:rPr>
              <a:t> </a:t>
            </a:r>
            <a:r>
              <a:rPr lang="en-GB" dirty="0">
                <a:solidFill>
                  <a:srgbClr val="000000"/>
                </a:solidFill>
                <a:effectLst/>
                <a:latin typeface="Courier New" panose="02070309020205020404" pitchFamily="49" charset="0"/>
                <a:cs typeface="Courier New" panose="02070309020205020404" pitchFamily="49" charset="0"/>
              </a:rPr>
              <a:t>-a </a:t>
            </a:r>
            <a:r>
              <a:rPr lang="en-GB" b="1" dirty="0">
                <a:solidFill>
                  <a:srgbClr val="000000"/>
                </a:solidFill>
                <a:effectLst/>
                <a:latin typeface="Courier New" panose="02070309020205020404" pitchFamily="49" charset="0"/>
                <a:cs typeface="Courier New" panose="02070309020205020404" pitchFamily="49" charset="0"/>
              </a:rPr>
              <a:t>AATGTCCCCCAATGGGAAGTTCATCTGGCACTGCCCACAGGTGAGGAGGTCATGATCCCCTTCTGGAGCTCCCAACGGGCCGTGGTCTGGTTCATCATCTGTAAGAATGGCTTCAAGAGGCTCGGCTGTGGTT</a:t>
            </a:r>
          </a:p>
          <a:p>
            <a:endParaRPr lang="en-US" dirty="0">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9A1CFCE0-EE39-429B-406F-D313DC276735}"/>
              </a:ext>
            </a:extLst>
          </p:cNvPr>
          <p:cNvSpPr txBox="1"/>
          <p:nvPr/>
        </p:nvSpPr>
        <p:spPr>
          <a:xfrm>
            <a:off x="502644" y="3139531"/>
            <a:ext cx="4922244" cy="369332"/>
          </a:xfrm>
          <a:prstGeom prst="rect">
            <a:avLst/>
          </a:prstGeom>
          <a:noFill/>
        </p:spPr>
        <p:txBody>
          <a:bodyPr wrap="square" rtlCol="0">
            <a:spAutoFit/>
          </a:bodyPr>
          <a:lstStyle/>
          <a:p>
            <a:r>
              <a:rPr lang="en-US" dirty="0"/>
              <a:t>3. Run crispressso2 with arguments as follows</a:t>
            </a:r>
          </a:p>
        </p:txBody>
      </p:sp>
      <p:sp>
        <p:nvSpPr>
          <p:cNvPr id="12" name="TextBox 11">
            <a:extLst>
              <a:ext uri="{FF2B5EF4-FFF2-40B4-BE49-F238E27FC236}">
                <a16:creationId xmlns:a16="http://schemas.microsoft.com/office/drawing/2014/main" id="{DC2EC170-E8E4-3E3C-30FD-E9CCDDA5D58B}"/>
              </a:ext>
            </a:extLst>
          </p:cNvPr>
          <p:cNvSpPr txBox="1"/>
          <p:nvPr/>
        </p:nvSpPr>
        <p:spPr>
          <a:xfrm>
            <a:off x="502644" y="4734450"/>
            <a:ext cx="8434878" cy="369332"/>
          </a:xfrm>
          <a:prstGeom prst="rect">
            <a:avLst/>
          </a:prstGeom>
          <a:noFill/>
        </p:spPr>
        <p:txBody>
          <a:bodyPr wrap="square" rtlCol="0">
            <a:spAutoFit/>
          </a:bodyPr>
          <a:lstStyle/>
          <a:p>
            <a:r>
              <a:rPr lang="en-US" dirty="0"/>
              <a:t>4. If executed successfully a </a:t>
            </a:r>
            <a:r>
              <a:rPr lang="en-US" b="1" dirty="0"/>
              <a:t>directory</a:t>
            </a:r>
            <a:r>
              <a:rPr lang="en-US" dirty="0"/>
              <a:t> and </a:t>
            </a:r>
            <a:r>
              <a:rPr lang="en-US" b="1" dirty="0"/>
              <a:t>HTML</a:t>
            </a:r>
            <a:r>
              <a:rPr lang="en-US" dirty="0"/>
              <a:t> file will be created as follows:</a:t>
            </a:r>
          </a:p>
        </p:txBody>
      </p:sp>
      <p:sp>
        <p:nvSpPr>
          <p:cNvPr id="14" name="TextBox 13">
            <a:extLst>
              <a:ext uri="{FF2B5EF4-FFF2-40B4-BE49-F238E27FC236}">
                <a16:creationId xmlns:a16="http://schemas.microsoft.com/office/drawing/2014/main" id="{A7041EAF-3624-A8A9-07C0-92DD1FF0F4B5}"/>
              </a:ext>
            </a:extLst>
          </p:cNvPr>
          <p:cNvSpPr txBox="1"/>
          <p:nvPr/>
        </p:nvSpPr>
        <p:spPr>
          <a:xfrm>
            <a:off x="877049" y="5116252"/>
            <a:ext cx="6997390" cy="646331"/>
          </a:xfrm>
          <a:prstGeom prst="rect">
            <a:avLst/>
          </a:prstGeom>
          <a:noFill/>
        </p:spPr>
        <p:txBody>
          <a:bodyPr wrap="square">
            <a:spAutoFit/>
          </a:bodyPr>
          <a:lstStyle/>
          <a:p>
            <a:r>
              <a:rPr lang="en-GB" dirty="0">
                <a:solidFill>
                  <a:srgbClr val="000000"/>
                </a:solidFill>
                <a:effectLst/>
                <a:cs typeface="Courier New" panose="02070309020205020404" pitchFamily="49" charset="0"/>
              </a:rPr>
              <a:t>a) </a:t>
            </a:r>
            <a:r>
              <a:rPr lang="en-GB" dirty="0">
                <a:solidFill>
                  <a:srgbClr val="000000"/>
                </a:solidFill>
                <a:effectLst/>
                <a:latin typeface="Courier New" panose="02070309020205020404" pitchFamily="49" charset="0"/>
                <a:cs typeface="Courier New" panose="02070309020205020404" pitchFamily="49" charset="0"/>
              </a:rPr>
              <a:t>CRISPResso_on_nhej.r1_nhej.r2/</a:t>
            </a:r>
          </a:p>
          <a:p>
            <a:r>
              <a:rPr lang="en-GB" dirty="0">
                <a:solidFill>
                  <a:srgbClr val="000000"/>
                </a:solidFill>
                <a:effectLst/>
                <a:cs typeface="Courier New" panose="02070309020205020404" pitchFamily="49" charset="0"/>
              </a:rPr>
              <a:t>b) </a:t>
            </a:r>
            <a:r>
              <a:rPr lang="en-GB" dirty="0">
                <a:solidFill>
                  <a:srgbClr val="000000"/>
                </a:solidFill>
                <a:effectLst/>
                <a:latin typeface="Courier New" panose="02070309020205020404" pitchFamily="49" charset="0"/>
                <a:cs typeface="Courier New" panose="02070309020205020404" pitchFamily="49" charset="0"/>
              </a:rPr>
              <a:t>CRISPResso_on_nhej.r1_nhej.r2.html</a:t>
            </a:r>
          </a:p>
        </p:txBody>
      </p:sp>
      <p:sp>
        <p:nvSpPr>
          <p:cNvPr id="15" name="TextBox 14">
            <a:extLst>
              <a:ext uri="{FF2B5EF4-FFF2-40B4-BE49-F238E27FC236}">
                <a16:creationId xmlns:a16="http://schemas.microsoft.com/office/drawing/2014/main" id="{DB57CA0E-41D4-BCD8-C8AC-14D80C9A4617}"/>
              </a:ext>
            </a:extLst>
          </p:cNvPr>
          <p:cNvSpPr txBox="1"/>
          <p:nvPr/>
        </p:nvSpPr>
        <p:spPr>
          <a:xfrm>
            <a:off x="502644" y="5842446"/>
            <a:ext cx="4922244" cy="369332"/>
          </a:xfrm>
          <a:prstGeom prst="rect">
            <a:avLst/>
          </a:prstGeom>
          <a:noFill/>
        </p:spPr>
        <p:txBody>
          <a:bodyPr wrap="square" rtlCol="0">
            <a:spAutoFit/>
          </a:bodyPr>
          <a:lstStyle/>
          <a:p>
            <a:r>
              <a:rPr lang="en-US" dirty="0"/>
              <a:t>5. Open HTML file 4(b) in browser to view reports</a:t>
            </a:r>
          </a:p>
        </p:txBody>
      </p:sp>
    </p:spTree>
    <p:extLst>
      <p:ext uri="{BB962C8B-B14F-4D97-AF65-F5344CB8AC3E}">
        <p14:creationId xmlns:p14="http://schemas.microsoft.com/office/powerpoint/2010/main" val="31022216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83CA5-4645-755A-0439-A2A550E80CAD}"/>
              </a:ext>
            </a:extLst>
          </p:cNvPr>
          <p:cNvSpPr>
            <a:spLocks noGrp="1"/>
          </p:cNvSpPr>
          <p:nvPr>
            <p:ph type="title"/>
          </p:nvPr>
        </p:nvSpPr>
        <p:spPr/>
        <p:txBody>
          <a:bodyPr>
            <a:normAutofit/>
          </a:bodyPr>
          <a:lstStyle/>
          <a:p>
            <a:r>
              <a:rPr lang="en-US" sz="3600" dirty="0"/>
              <a:t>Task 1 - create a report using the web interface</a:t>
            </a:r>
          </a:p>
        </p:txBody>
      </p:sp>
      <p:sp>
        <p:nvSpPr>
          <p:cNvPr id="4" name="TextBox 3">
            <a:extLst>
              <a:ext uri="{FF2B5EF4-FFF2-40B4-BE49-F238E27FC236}">
                <a16:creationId xmlns:a16="http://schemas.microsoft.com/office/drawing/2014/main" id="{BB2F930E-8874-A8B1-D8EA-107AFA89EDAD}"/>
              </a:ext>
            </a:extLst>
          </p:cNvPr>
          <p:cNvSpPr txBox="1"/>
          <p:nvPr/>
        </p:nvSpPr>
        <p:spPr>
          <a:xfrm>
            <a:off x="959667" y="1493822"/>
            <a:ext cx="10674036" cy="4185761"/>
          </a:xfrm>
          <a:prstGeom prst="rect">
            <a:avLst/>
          </a:prstGeom>
          <a:noFill/>
        </p:spPr>
        <p:txBody>
          <a:bodyPr wrap="square" rtlCol="0">
            <a:spAutoFit/>
          </a:bodyPr>
          <a:lstStyle/>
          <a:p>
            <a:r>
              <a:rPr lang="en-US" dirty="0"/>
              <a:t>1. Download data sets from GitHub, start with the pair: </a:t>
            </a:r>
            <a:r>
              <a:rPr lang="en-US" b="1" dirty="0"/>
              <a:t>MCF7-L1W_S2_L001_R1_001.fastq.gz</a:t>
            </a:r>
            <a:r>
              <a:rPr lang="en-US" dirty="0"/>
              <a:t> and </a:t>
            </a:r>
            <a:r>
              <a:rPr lang="en-US" b="1" dirty="0"/>
              <a:t>MCF7-L1W_S2_L001_R2_001.fastq.gz </a:t>
            </a:r>
            <a:r>
              <a:rPr lang="en-US" dirty="0"/>
              <a:t>– (these are both about 75MB each)</a:t>
            </a:r>
          </a:p>
          <a:p>
            <a:endParaRPr lang="en-US" dirty="0"/>
          </a:p>
          <a:p>
            <a:r>
              <a:rPr lang="en-US" dirty="0"/>
              <a:t>2. Use the amplicon: </a:t>
            </a:r>
            <a:r>
              <a:rPr lang="en-US" sz="1400" b="1" dirty="0">
                <a:solidFill>
                  <a:schemeClr val="accent6"/>
                </a:solidFill>
                <a:latin typeface="Courier New" panose="02070309020205020404" pitchFamily="49" charset="0"/>
                <a:cs typeface="Courier New" panose="02070309020205020404" pitchFamily="49" charset="0"/>
              </a:rPr>
              <a:t>CCTATGCTTGGACCTAGGTGTCATAACTTACTTTAAATATGTATGTTTGGTTTTCATTCATATTGACAGTACTACCTCTCAGTTTTCTTTCAGATATTGTTTTGTATTTACCCATGAAGACATTGTTTTTTGGACTCTGCAAATAGGACATTTCAAAGATGAGTGAAAAAAAATT</a:t>
            </a:r>
            <a:r>
              <a:rPr lang="en-US" sz="1400" b="1" dirty="0">
                <a:solidFill>
                  <a:srgbClr val="FF0000"/>
                </a:solidFill>
                <a:latin typeface="Courier New" panose="02070309020205020404" pitchFamily="49" charset="0"/>
                <a:cs typeface="Courier New" panose="02070309020205020404" pitchFamily="49" charset="0"/>
              </a:rPr>
              <a:t>GGAAACAACTGCACAGCAG</a:t>
            </a:r>
            <a:r>
              <a:rPr lang="en-US" sz="1400" b="1" dirty="0">
                <a:solidFill>
                  <a:schemeClr val="accent6"/>
                </a:solidFill>
                <a:latin typeface="Courier New" panose="02070309020205020404" pitchFamily="49" charset="0"/>
                <a:cs typeface="Courier New" panose="02070309020205020404" pitchFamily="49" charset="0"/>
              </a:rPr>
              <a:t>CGGAAATGTCCTGAATGGATGAATGTGCAGAATAAAAGATGTGCTGTAGAAGAAAGAAAGGTATGTTGTTCATTGACTATTCTTTTGGGTGAGAAATTTAATTTATATTTGACTGTGCAAAGAGTCAGTTGTTACTTGTAAACTTCAAGTCATTGTTTAGGTCAGAGTTGCTGTTGTCTAAATGCACCAGGACCTAGTTGTTGAAAGGGTAAACTGGAATAAACTTTAATTGGGTTTACAAAATGAGAATTCTTACTGTATATTTTCTCTTTTTCGGGTTGACTTTACCAGT</a:t>
            </a:r>
          </a:p>
          <a:p>
            <a:endParaRPr lang="en-US" sz="1400" b="1" dirty="0">
              <a:latin typeface="Courier New" panose="02070309020205020404" pitchFamily="49" charset="0"/>
              <a:cs typeface="Courier New" panose="02070309020205020404" pitchFamily="49" charset="0"/>
            </a:endParaRPr>
          </a:p>
          <a:p>
            <a:r>
              <a:rPr lang="en-US" dirty="0"/>
              <a:t>3. Use the sgRNA: </a:t>
            </a:r>
          </a:p>
          <a:p>
            <a:r>
              <a:rPr lang="en-US" sz="1400" b="1" dirty="0">
                <a:solidFill>
                  <a:srgbClr val="FF0000"/>
                </a:solidFill>
                <a:latin typeface="Courier New" panose="02070309020205020404" pitchFamily="49" charset="0"/>
                <a:cs typeface="Courier New" panose="02070309020205020404" pitchFamily="49" charset="0"/>
              </a:rPr>
              <a:t>GGAAACAACTGCACAGCAG</a:t>
            </a:r>
          </a:p>
          <a:p>
            <a:endParaRPr lang="en-US" sz="1400" b="1" dirty="0">
              <a:solidFill>
                <a:srgbClr val="FF0000"/>
              </a:solidFill>
              <a:latin typeface="Courier New" panose="02070309020205020404" pitchFamily="49" charset="0"/>
              <a:cs typeface="Courier New" panose="02070309020205020404" pitchFamily="49" charset="0"/>
            </a:endParaRPr>
          </a:p>
          <a:p>
            <a:r>
              <a:rPr lang="en-US" dirty="0">
                <a:cs typeface="Courier New" panose="02070309020205020404" pitchFamily="49" charset="0"/>
              </a:rPr>
              <a:t>4. Use the web interface to upload the </a:t>
            </a:r>
            <a:r>
              <a:rPr lang="en-US" b="1" dirty="0">
                <a:cs typeface="Courier New" panose="02070309020205020404" pitchFamily="49" charset="0"/>
              </a:rPr>
              <a:t>2 guides</a:t>
            </a:r>
            <a:r>
              <a:rPr lang="en-US" dirty="0">
                <a:cs typeface="Courier New" panose="02070309020205020404" pitchFamily="49" charset="0"/>
              </a:rPr>
              <a:t>, and cut and paste the </a:t>
            </a:r>
            <a:r>
              <a:rPr lang="en-US" b="1" dirty="0">
                <a:cs typeface="Courier New" panose="02070309020205020404" pitchFamily="49" charset="0"/>
              </a:rPr>
              <a:t>amplicon</a:t>
            </a:r>
            <a:r>
              <a:rPr lang="en-US" dirty="0">
                <a:cs typeface="Courier New" panose="02070309020205020404" pitchFamily="49" charset="0"/>
              </a:rPr>
              <a:t> (above) and the </a:t>
            </a:r>
            <a:r>
              <a:rPr lang="en-US" b="1" dirty="0">
                <a:cs typeface="Courier New" panose="02070309020205020404" pitchFamily="49" charset="0"/>
              </a:rPr>
              <a:t>sgRNA</a:t>
            </a:r>
            <a:r>
              <a:rPr lang="en-US" dirty="0">
                <a:cs typeface="Courier New" panose="02070309020205020404" pitchFamily="49" charset="0"/>
              </a:rPr>
              <a:t> (above) into the correct fields.</a:t>
            </a:r>
          </a:p>
          <a:p>
            <a:pPr marL="342900" indent="-342900">
              <a:buAutoNum type="arabicPeriod"/>
            </a:pPr>
            <a:endParaRPr lang="en-US" sz="1400" b="1" dirty="0">
              <a:cs typeface="Courier New" panose="02070309020205020404" pitchFamily="49" charset="0"/>
            </a:endParaRPr>
          </a:p>
          <a:p>
            <a:pPr marL="342900" indent="-342900">
              <a:buAutoNum type="arabicPeriod"/>
            </a:pPr>
            <a:endParaRPr lang="en-US" sz="1400" b="1" dirty="0">
              <a:cs typeface="Courier New" panose="02070309020205020404" pitchFamily="49" charset="0"/>
            </a:endParaRPr>
          </a:p>
        </p:txBody>
      </p:sp>
    </p:spTree>
    <p:extLst>
      <p:ext uri="{BB962C8B-B14F-4D97-AF65-F5344CB8AC3E}">
        <p14:creationId xmlns:p14="http://schemas.microsoft.com/office/powerpoint/2010/main" val="40124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300372B-6103-0AF7-151F-AF61B07485AF}"/>
              </a:ext>
            </a:extLst>
          </p:cNvPr>
          <p:cNvSpPr>
            <a:spLocks noGrp="1"/>
          </p:cNvSpPr>
          <p:nvPr>
            <p:ph type="title"/>
          </p:nvPr>
        </p:nvSpPr>
        <p:spPr>
          <a:xfrm>
            <a:off x="838200" y="129736"/>
            <a:ext cx="10515600" cy="875200"/>
          </a:xfrm>
        </p:spPr>
        <p:txBody>
          <a:bodyPr>
            <a:normAutofit/>
          </a:bodyPr>
          <a:lstStyle/>
          <a:p>
            <a:r>
              <a:rPr lang="en-US" sz="3600" dirty="0"/>
              <a:t>Task 2 - create a report locally using Docker</a:t>
            </a:r>
          </a:p>
        </p:txBody>
      </p:sp>
      <p:sp>
        <p:nvSpPr>
          <p:cNvPr id="7" name="TextBox 6">
            <a:extLst>
              <a:ext uri="{FF2B5EF4-FFF2-40B4-BE49-F238E27FC236}">
                <a16:creationId xmlns:a16="http://schemas.microsoft.com/office/drawing/2014/main" id="{E652D077-F447-0DC0-28EC-FC3D09D36333}"/>
              </a:ext>
            </a:extLst>
          </p:cNvPr>
          <p:cNvSpPr txBox="1"/>
          <p:nvPr/>
        </p:nvSpPr>
        <p:spPr>
          <a:xfrm>
            <a:off x="606582" y="841973"/>
            <a:ext cx="10674036" cy="6340197"/>
          </a:xfrm>
          <a:prstGeom prst="rect">
            <a:avLst/>
          </a:prstGeom>
          <a:noFill/>
        </p:spPr>
        <p:txBody>
          <a:bodyPr wrap="square" rtlCol="0">
            <a:spAutoFit/>
          </a:bodyPr>
          <a:lstStyle/>
          <a:p>
            <a:pPr marL="342900" indent="-342900">
              <a:buAutoNum type="arabicPeriod"/>
            </a:pPr>
            <a:r>
              <a:rPr lang="en-US" dirty="0"/>
              <a:t>Download data sets from GitHub, start with the pair: </a:t>
            </a:r>
            <a:r>
              <a:rPr lang="en-US" b="1" dirty="0"/>
              <a:t>MCF7-L1W_S2_L001_R1_001.fastq.gz</a:t>
            </a:r>
            <a:r>
              <a:rPr lang="en-US" dirty="0"/>
              <a:t> and </a:t>
            </a:r>
            <a:r>
              <a:rPr lang="en-US" b="1" dirty="0"/>
              <a:t>MCF7-L1W_S2_L001_R2_001.fastq.gz </a:t>
            </a:r>
            <a:r>
              <a:rPr lang="en-US" dirty="0"/>
              <a:t>– these are both about 75MB each (done in Task 1)</a:t>
            </a:r>
          </a:p>
          <a:p>
            <a:pPr marL="342900" indent="-342900">
              <a:buAutoNum type="arabicPeriod"/>
            </a:pPr>
            <a:endParaRPr lang="en-US" dirty="0"/>
          </a:p>
          <a:p>
            <a:r>
              <a:rPr lang="en-US" dirty="0"/>
              <a:t>Use this as a </a:t>
            </a:r>
            <a:r>
              <a:rPr lang="en-US" i="1" dirty="0"/>
              <a:t>template command</a:t>
            </a:r>
            <a:r>
              <a:rPr lang="en-US" dirty="0"/>
              <a:t> for docker:</a:t>
            </a:r>
          </a:p>
          <a:p>
            <a:endParaRPr lang="en-GB" dirty="0">
              <a:solidFill>
                <a:srgbClr val="000000"/>
              </a:solidFill>
              <a:latin typeface="Courier New" panose="02070309020205020404" pitchFamily="49" charset="0"/>
              <a:cs typeface="Courier New" panose="02070309020205020404" pitchFamily="49" charset="0"/>
            </a:endParaRPr>
          </a:p>
          <a:p>
            <a:r>
              <a:rPr lang="en-GB" dirty="0">
                <a:solidFill>
                  <a:srgbClr val="000000"/>
                </a:solidFill>
                <a:latin typeface="Courier New" panose="02070309020205020404" pitchFamily="49" charset="0"/>
                <a:cs typeface="Courier New" panose="02070309020205020404" pitchFamily="49" charset="0"/>
              </a:rPr>
              <a:t>docker run -v ${PWD}:/DATA -w /DATA -</a:t>
            </a:r>
            <a:r>
              <a:rPr lang="en-GB" dirty="0" err="1">
                <a:solidFill>
                  <a:srgbClr val="000000"/>
                </a:solidFill>
                <a:latin typeface="Courier New" panose="02070309020205020404" pitchFamily="49" charset="0"/>
                <a:cs typeface="Courier New" panose="02070309020205020404" pitchFamily="49" charset="0"/>
              </a:rPr>
              <a:t>i</a:t>
            </a:r>
            <a:r>
              <a:rPr lang="en-GB" dirty="0">
                <a:solidFill>
                  <a:srgbClr val="000000"/>
                </a:solidFill>
                <a:latin typeface="Courier New" panose="02070309020205020404" pitchFamily="49" charset="0"/>
                <a:cs typeface="Courier New" panose="02070309020205020404" pitchFamily="49" charset="0"/>
              </a:rPr>
              <a:t> </a:t>
            </a:r>
            <a:r>
              <a:rPr lang="en-GB" dirty="0" err="1">
                <a:solidFill>
                  <a:srgbClr val="000000"/>
                </a:solidFill>
                <a:latin typeface="Courier New" panose="02070309020205020404" pitchFamily="49" charset="0"/>
                <a:cs typeface="Courier New" panose="02070309020205020404" pitchFamily="49" charset="0"/>
              </a:rPr>
              <a:t>pinellolab</a:t>
            </a:r>
            <a:r>
              <a:rPr lang="en-GB" dirty="0">
                <a:solidFill>
                  <a:srgbClr val="000000"/>
                </a:solidFill>
                <a:latin typeface="Courier New" panose="02070309020205020404" pitchFamily="49" charset="0"/>
                <a:cs typeface="Courier New" panose="02070309020205020404" pitchFamily="49" charset="0"/>
              </a:rPr>
              <a:t>/crispresso2 </a:t>
            </a:r>
            <a:r>
              <a:rPr lang="en-GB" dirty="0" err="1">
                <a:solidFill>
                  <a:srgbClr val="000000"/>
                </a:solidFill>
                <a:latin typeface="Courier New" panose="02070309020205020404" pitchFamily="49" charset="0"/>
                <a:cs typeface="Courier New" panose="02070309020205020404" pitchFamily="49" charset="0"/>
              </a:rPr>
              <a:t>CRISPResso</a:t>
            </a:r>
            <a:r>
              <a:rPr lang="en-GB" dirty="0">
                <a:solidFill>
                  <a:srgbClr val="000000"/>
                </a:solidFill>
                <a:latin typeface="Courier New" panose="02070309020205020404" pitchFamily="49" charset="0"/>
                <a:cs typeface="Courier New" panose="02070309020205020404" pitchFamily="49" charset="0"/>
              </a:rPr>
              <a:t> -r1 </a:t>
            </a:r>
            <a:r>
              <a:rPr lang="en-GB" b="1" dirty="0">
                <a:solidFill>
                  <a:srgbClr val="FF0000"/>
                </a:solidFill>
                <a:latin typeface="Courier New" panose="02070309020205020404" pitchFamily="49" charset="0"/>
                <a:cs typeface="Courier New" panose="02070309020205020404" pitchFamily="49" charset="0"/>
              </a:rPr>
              <a:t>FILENAME1</a:t>
            </a:r>
            <a:r>
              <a:rPr lang="en-GB" dirty="0">
                <a:solidFill>
                  <a:srgbClr val="000000"/>
                </a:solidFill>
                <a:latin typeface="Courier New" panose="02070309020205020404" pitchFamily="49" charset="0"/>
                <a:cs typeface="Courier New" panose="02070309020205020404" pitchFamily="49" charset="0"/>
              </a:rPr>
              <a:t> -r2 </a:t>
            </a:r>
            <a:r>
              <a:rPr lang="en-GB" b="1" dirty="0">
                <a:solidFill>
                  <a:srgbClr val="FF0000"/>
                </a:solidFill>
                <a:latin typeface="Courier New" panose="02070309020205020404" pitchFamily="49" charset="0"/>
                <a:cs typeface="Courier New" panose="02070309020205020404" pitchFamily="49" charset="0"/>
              </a:rPr>
              <a:t>FILENAME2</a:t>
            </a:r>
            <a:r>
              <a:rPr lang="en-GB" b="1" dirty="0">
                <a:solidFill>
                  <a:srgbClr val="000000"/>
                </a:solidFill>
                <a:latin typeface="Courier New" panose="02070309020205020404" pitchFamily="49" charset="0"/>
                <a:cs typeface="Courier New" panose="02070309020205020404" pitchFamily="49" charset="0"/>
              </a:rPr>
              <a:t> </a:t>
            </a:r>
            <a:r>
              <a:rPr lang="en-GB" dirty="0">
                <a:solidFill>
                  <a:srgbClr val="000000"/>
                </a:solidFill>
                <a:latin typeface="Courier New" panose="02070309020205020404" pitchFamily="49" charset="0"/>
                <a:cs typeface="Courier New" panose="02070309020205020404" pitchFamily="49" charset="0"/>
              </a:rPr>
              <a:t>–a </a:t>
            </a:r>
            <a:r>
              <a:rPr lang="en-GB" b="1" dirty="0">
                <a:solidFill>
                  <a:srgbClr val="FF0000"/>
                </a:solidFill>
                <a:latin typeface="Courier New" panose="02070309020205020404" pitchFamily="49" charset="0"/>
                <a:cs typeface="Courier New" panose="02070309020205020404" pitchFamily="49" charset="0"/>
              </a:rPr>
              <a:t>AMPLICON</a:t>
            </a:r>
            <a:r>
              <a:rPr lang="en-GB" dirty="0">
                <a:solidFill>
                  <a:srgbClr val="000000"/>
                </a:solidFill>
                <a:latin typeface="Courier New" panose="02070309020205020404" pitchFamily="49" charset="0"/>
                <a:cs typeface="Courier New" panose="02070309020205020404" pitchFamily="49" charset="0"/>
              </a:rPr>
              <a:t> –g </a:t>
            </a:r>
            <a:r>
              <a:rPr lang="en-GB" b="1" dirty="0" err="1">
                <a:solidFill>
                  <a:srgbClr val="FF0000"/>
                </a:solidFill>
                <a:latin typeface="Courier New" panose="02070309020205020404" pitchFamily="49" charset="0"/>
                <a:cs typeface="Courier New" panose="02070309020205020404" pitchFamily="49" charset="0"/>
              </a:rPr>
              <a:t>sgRNAGuide</a:t>
            </a:r>
            <a:endParaRPr lang="en-US" b="1" dirty="0">
              <a:solidFill>
                <a:srgbClr val="FF0000"/>
              </a:solidFill>
            </a:endParaRPr>
          </a:p>
          <a:p>
            <a:endParaRPr lang="en-US" dirty="0"/>
          </a:p>
          <a:p>
            <a:r>
              <a:rPr lang="en-US" dirty="0"/>
              <a:t>2. Use the amplicon: </a:t>
            </a:r>
            <a:r>
              <a:rPr lang="en-US" sz="1200" b="1" dirty="0">
                <a:solidFill>
                  <a:schemeClr val="accent6"/>
                </a:solidFill>
                <a:latin typeface="Courier New" panose="02070309020205020404" pitchFamily="49" charset="0"/>
                <a:cs typeface="Courier New" panose="02070309020205020404" pitchFamily="49" charset="0"/>
              </a:rPr>
              <a:t>CCTATGCTTGGACCTAGGTGTCATAACTTACTTTAAATATGTATGTTTGGTTTTCATTCATATTGACAGTACTACCTCTCAGTTTTCTTTCAGATATTGTTTTGTATTTACCCATGAAGACATTGTTTTTTGGACTCTGCAAATAGGACATTTCAAAGATGAGTGAAAAAAAATT</a:t>
            </a:r>
            <a:r>
              <a:rPr lang="en-US" sz="1200" b="1" dirty="0">
                <a:solidFill>
                  <a:srgbClr val="FF0000"/>
                </a:solidFill>
                <a:latin typeface="Courier New" panose="02070309020205020404" pitchFamily="49" charset="0"/>
                <a:cs typeface="Courier New" panose="02070309020205020404" pitchFamily="49" charset="0"/>
              </a:rPr>
              <a:t>GGAAACAACTGCACAGCAG</a:t>
            </a:r>
            <a:r>
              <a:rPr lang="en-US" sz="1200" b="1" dirty="0">
                <a:solidFill>
                  <a:schemeClr val="accent6"/>
                </a:solidFill>
                <a:latin typeface="Courier New" panose="02070309020205020404" pitchFamily="49" charset="0"/>
                <a:cs typeface="Courier New" panose="02070309020205020404" pitchFamily="49" charset="0"/>
              </a:rPr>
              <a:t>CGGAAATGTCCTGAATGGATGAATGTGCAGAATAAAAGATGTGCTGTAGAAGAAAGAAAGGTATGTTGTTCATTGACTATTCTTTTGGGTGAGAAATTTAATTTATATTTGACTGTGCAAAGAGTCAGTTGTTACTTGTAAACTTCAAGTCATTGTTTAGGTCAGAGTTGCTGTTGTCTAAATGCACCAGGACCTAGTTGTTGAAAGGGTAAACTGGAATAAACTTTAATTGGGTTTACAAAATGAGAATTCTTACTGTATATTTTCTCTTTTTCGGGTTGACTTTACCAGT</a:t>
            </a:r>
          </a:p>
          <a:p>
            <a:endParaRPr lang="en-US" sz="1400" b="1" dirty="0">
              <a:latin typeface="Courier New" panose="02070309020205020404" pitchFamily="49" charset="0"/>
              <a:cs typeface="Courier New" panose="02070309020205020404" pitchFamily="49" charset="0"/>
            </a:endParaRPr>
          </a:p>
          <a:p>
            <a:r>
              <a:rPr lang="en-US" dirty="0"/>
              <a:t>3. Use the sgRNA: </a:t>
            </a:r>
          </a:p>
          <a:p>
            <a:r>
              <a:rPr lang="en-US" sz="1400" b="1" dirty="0">
                <a:solidFill>
                  <a:srgbClr val="FF0000"/>
                </a:solidFill>
                <a:latin typeface="Courier New" panose="02070309020205020404" pitchFamily="49" charset="0"/>
                <a:cs typeface="Courier New" panose="02070309020205020404" pitchFamily="49" charset="0"/>
              </a:rPr>
              <a:t>GGAAACAACTGCACAGCAG</a:t>
            </a:r>
          </a:p>
          <a:p>
            <a:endParaRPr lang="en-US" sz="1400" b="1" dirty="0">
              <a:solidFill>
                <a:srgbClr val="FF0000"/>
              </a:solidFill>
              <a:latin typeface="Courier New" panose="02070309020205020404" pitchFamily="49" charset="0"/>
              <a:cs typeface="Courier New" panose="02070309020205020404" pitchFamily="49" charset="0"/>
            </a:endParaRPr>
          </a:p>
          <a:p>
            <a:r>
              <a:rPr lang="en-US" dirty="0">
                <a:cs typeface="Courier New" panose="02070309020205020404" pitchFamily="49" charset="0"/>
              </a:rPr>
              <a:t>4. </a:t>
            </a:r>
            <a:r>
              <a:rPr lang="en-US" dirty="0"/>
              <a:t>The full command looks like this:</a:t>
            </a:r>
          </a:p>
          <a:p>
            <a:endParaRPr lang="en-US" b="1">
              <a:solidFill>
                <a:srgbClr val="FF0000"/>
              </a:solidFill>
              <a:latin typeface="Courier New" panose="02070309020205020404" pitchFamily="49" charset="0"/>
              <a:cs typeface="Courier New" panose="02070309020205020404" pitchFamily="49" charset="0"/>
            </a:endParaRPr>
          </a:p>
          <a:p>
            <a:r>
              <a:rPr lang="en-GB" sz="1000">
                <a:solidFill>
                  <a:srgbClr val="000000"/>
                </a:solidFill>
                <a:latin typeface="Courier New" panose="02070309020205020404" pitchFamily="49" charset="0"/>
                <a:cs typeface="Courier New" panose="02070309020205020404" pitchFamily="49" charset="0"/>
              </a:rPr>
              <a:t>docker </a:t>
            </a:r>
            <a:r>
              <a:rPr lang="en-GB" sz="1000" dirty="0">
                <a:solidFill>
                  <a:srgbClr val="000000"/>
                </a:solidFill>
                <a:latin typeface="Courier New" panose="02070309020205020404" pitchFamily="49" charset="0"/>
                <a:cs typeface="Courier New" panose="02070309020205020404" pitchFamily="49" charset="0"/>
              </a:rPr>
              <a:t>run -v ${PWD}:/DATA -w /DATA -</a:t>
            </a:r>
            <a:r>
              <a:rPr lang="en-GB" sz="1000" dirty="0" err="1">
                <a:solidFill>
                  <a:srgbClr val="000000"/>
                </a:solidFill>
                <a:latin typeface="Courier New" panose="02070309020205020404" pitchFamily="49" charset="0"/>
                <a:cs typeface="Courier New" panose="02070309020205020404" pitchFamily="49" charset="0"/>
              </a:rPr>
              <a:t>i</a:t>
            </a:r>
            <a:r>
              <a:rPr lang="en-GB" sz="1000" dirty="0">
                <a:solidFill>
                  <a:srgbClr val="000000"/>
                </a:solidFill>
                <a:latin typeface="Courier New" panose="02070309020205020404" pitchFamily="49" charset="0"/>
                <a:cs typeface="Courier New" panose="02070309020205020404" pitchFamily="49" charset="0"/>
              </a:rPr>
              <a:t> </a:t>
            </a:r>
            <a:r>
              <a:rPr lang="en-GB" sz="1000" dirty="0" err="1">
                <a:solidFill>
                  <a:srgbClr val="000000"/>
                </a:solidFill>
                <a:latin typeface="Courier New" panose="02070309020205020404" pitchFamily="49" charset="0"/>
                <a:cs typeface="Courier New" panose="02070309020205020404" pitchFamily="49" charset="0"/>
              </a:rPr>
              <a:t>pinellolab</a:t>
            </a:r>
            <a:r>
              <a:rPr lang="en-GB" sz="1000" dirty="0">
                <a:solidFill>
                  <a:srgbClr val="000000"/>
                </a:solidFill>
                <a:latin typeface="Courier New" panose="02070309020205020404" pitchFamily="49" charset="0"/>
                <a:cs typeface="Courier New" panose="02070309020205020404" pitchFamily="49" charset="0"/>
              </a:rPr>
              <a:t>/crispresso2 </a:t>
            </a:r>
            <a:r>
              <a:rPr lang="en-GB" sz="1000" dirty="0" err="1">
                <a:solidFill>
                  <a:srgbClr val="000000"/>
                </a:solidFill>
                <a:latin typeface="Courier New" panose="02070309020205020404" pitchFamily="49" charset="0"/>
                <a:cs typeface="Courier New" panose="02070309020205020404" pitchFamily="49" charset="0"/>
              </a:rPr>
              <a:t>CRISPResso</a:t>
            </a:r>
            <a:r>
              <a:rPr lang="en-GB" sz="1000" dirty="0">
                <a:solidFill>
                  <a:srgbClr val="000000"/>
                </a:solidFill>
                <a:latin typeface="Courier New" panose="02070309020205020404" pitchFamily="49" charset="0"/>
                <a:cs typeface="Courier New" panose="02070309020205020404" pitchFamily="49" charset="0"/>
              </a:rPr>
              <a:t> -r1 </a:t>
            </a:r>
            <a:r>
              <a:rPr lang="en-US" sz="1000" b="1" dirty="0">
                <a:latin typeface="Courier New" panose="02070309020205020404" pitchFamily="49" charset="0"/>
                <a:cs typeface="Courier New" panose="02070309020205020404" pitchFamily="49" charset="0"/>
              </a:rPr>
              <a:t>MCF7-L1W_S2_L001_R1_001.fastq.gz</a:t>
            </a:r>
            <a:r>
              <a:rPr lang="en-GB" sz="1000" dirty="0">
                <a:solidFill>
                  <a:srgbClr val="000000"/>
                </a:solidFill>
                <a:latin typeface="Courier New" panose="02070309020205020404" pitchFamily="49" charset="0"/>
                <a:cs typeface="Courier New" panose="02070309020205020404" pitchFamily="49" charset="0"/>
              </a:rPr>
              <a:t> -r2 </a:t>
            </a:r>
            <a:r>
              <a:rPr lang="en-US" sz="1000" b="1" dirty="0">
                <a:latin typeface="Courier New" panose="02070309020205020404" pitchFamily="49" charset="0"/>
                <a:cs typeface="Courier New" panose="02070309020205020404" pitchFamily="49" charset="0"/>
              </a:rPr>
              <a:t>MCF7-L1W_S2_L001_R2_001.fastq.gz</a:t>
            </a:r>
            <a:r>
              <a:rPr lang="en-GB" sz="1000" b="1" dirty="0">
                <a:solidFill>
                  <a:srgbClr val="000000"/>
                </a:solidFill>
                <a:latin typeface="Courier New" panose="02070309020205020404" pitchFamily="49" charset="0"/>
                <a:cs typeface="Courier New" panose="02070309020205020404" pitchFamily="49" charset="0"/>
              </a:rPr>
              <a:t> </a:t>
            </a:r>
            <a:r>
              <a:rPr lang="en-GB" sz="1000" dirty="0">
                <a:solidFill>
                  <a:srgbClr val="000000"/>
                </a:solidFill>
                <a:latin typeface="Courier New" panose="02070309020205020404" pitchFamily="49" charset="0"/>
                <a:cs typeface="Courier New" panose="02070309020205020404" pitchFamily="49" charset="0"/>
              </a:rPr>
              <a:t>–a </a:t>
            </a:r>
            <a:r>
              <a:rPr lang="en-US" sz="1000" b="1" dirty="0">
                <a:solidFill>
                  <a:schemeClr val="accent6"/>
                </a:solidFill>
                <a:latin typeface="Courier New" panose="02070309020205020404" pitchFamily="49" charset="0"/>
                <a:cs typeface="Courier New" panose="02070309020205020404" pitchFamily="49" charset="0"/>
              </a:rPr>
              <a:t>CCTATGCTTGGACCTAGGTGTCATAACTTACTTTAAATATGTATGTTTGGTTTTCATTCATATTGACAGTACTACCTCTCAGTTTTCTTTCAGATATTGTTTTGTATTTACCCATGAAGACATTGTTTTTTGGACTCTGCAAATAGGACATTTCAAAGATGAGTGAAAAAAAATT</a:t>
            </a:r>
            <a:r>
              <a:rPr lang="en-US" sz="1000" b="1" dirty="0">
                <a:solidFill>
                  <a:srgbClr val="FF0000"/>
                </a:solidFill>
                <a:latin typeface="Courier New" panose="02070309020205020404" pitchFamily="49" charset="0"/>
                <a:cs typeface="Courier New" panose="02070309020205020404" pitchFamily="49" charset="0"/>
              </a:rPr>
              <a:t>GGAAACAACTGCACAGCAG</a:t>
            </a:r>
            <a:r>
              <a:rPr lang="en-US" sz="1000" b="1" dirty="0">
                <a:solidFill>
                  <a:schemeClr val="accent6"/>
                </a:solidFill>
                <a:latin typeface="Courier New" panose="02070309020205020404" pitchFamily="49" charset="0"/>
                <a:cs typeface="Courier New" panose="02070309020205020404" pitchFamily="49" charset="0"/>
              </a:rPr>
              <a:t>CGGAAATGTCCTGAATGGATGAATGTGCAGAATAAAAGATGTGCTGTAGAAGAAAGAAAGGTATGTTGTTCATTGACTATTCTTTTGGGTGAGAAATTTAATTTATATTTGACTGTGCAAAGAGTCAGTTGTTACTTGTAAACTTCAAGTCATTGTTTAGGTCAGAGTTGCTGTTGTCTAAATGCACCAGGACCTAGTTGTTGAAAGGGTAAACTGGAATAAACTTTAATTGGGTTTACAAAATGAGAATTCTTACTGTATATTTTCTCTTTTTCGGGTTGACTTTACCAGT</a:t>
            </a:r>
            <a:r>
              <a:rPr lang="en-GB" sz="1000" dirty="0">
                <a:solidFill>
                  <a:srgbClr val="000000"/>
                </a:solidFill>
                <a:latin typeface="Courier New" panose="02070309020205020404" pitchFamily="49" charset="0"/>
                <a:cs typeface="Courier New" panose="02070309020205020404" pitchFamily="49" charset="0"/>
              </a:rPr>
              <a:t> –g </a:t>
            </a:r>
            <a:r>
              <a:rPr lang="en-US" sz="1000" b="1" dirty="0">
                <a:solidFill>
                  <a:srgbClr val="FF0000"/>
                </a:solidFill>
                <a:latin typeface="Courier New" panose="02070309020205020404" pitchFamily="49" charset="0"/>
                <a:cs typeface="Courier New" panose="02070309020205020404" pitchFamily="49" charset="0"/>
              </a:rPr>
              <a:t>GGAAACAACTGCACAGCAG</a:t>
            </a:r>
            <a:endParaRPr lang="en-US" sz="1000" dirty="0">
              <a:latin typeface="Courier New" panose="02070309020205020404" pitchFamily="49" charset="0"/>
              <a:cs typeface="Courier New" panose="02070309020205020404" pitchFamily="49" charset="0"/>
            </a:endParaRPr>
          </a:p>
          <a:p>
            <a:pPr marL="342900" indent="-342900">
              <a:buAutoNum type="arabicPeriod"/>
            </a:pPr>
            <a:endParaRPr lang="en-US" sz="1400" b="1" dirty="0">
              <a:cs typeface="Courier New" panose="02070309020205020404" pitchFamily="49" charset="0"/>
            </a:endParaRPr>
          </a:p>
          <a:p>
            <a:pPr marL="342900" indent="-342900">
              <a:buAutoNum type="arabicPeriod"/>
            </a:pPr>
            <a:endParaRPr lang="en-US" sz="1400" b="1" dirty="0">
              <a:cs typeface="Courier New" panose="02070309020205020404" pitchFamily="49" charset="0"/>
            </a:endParaRPr>
          </a:p>
        </p:txBody>
      </p:sp>
    </p:spTree>
    <p:extLst>
      <p:ext uri="{BB962C8B-B14F-4D97-AF65-F5344CB8AC3E}">
        <p14:creationId xmlns:p14="http://schemas.microsoft.com/office/powerpoint/2010/main" val="3688675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86375-A10F-8BCA-15FC-43DBF586BAF5}"/>
              </a:ext>
            </a:extLst>
          </p:cNvPr>
          <p:cNvSpPr>
            <a:spLocks noGrp="1"/>
          </p:cNvSpPr>
          <p:nvPr>
            <p:ph type="title"/>
          </p:nvPr>
        </p:nvSpPr>
        <p:spPr>
          <a:xfrm>
            <a:off x="510653" y="33924"/>
            <a:ext cx="7294403" cy="822230"/>
          </a:xfrm>
        </p:spPr>
        <p:txBody>
          <a:bodyPr>
            <a:normAutofit/>
          </a:bodyPr>
          <a:lstStyle/>
          <a:p>
            <a:r>
              <a:rPr lang="en-US" b="1" dirty="0">
                <a:solidFill>
                  <a:srgbClr val="143C61"/>
                </a:solidFill>
              </a:rPr>
              <a:t>Sample command line output</a:t>
            </a:r>
          </a:p>
        </p:txBody>
      </p:sp>
      <p:pic>
        <p:nvPicPr>
          <p:cNvPr id="4" name="Content Placeholder 3">
            <a:extLst>
              <a:ext uri="{FF2B5EF4-FFF2-40B4-BE49-F238E27FC236}">
                <a16:creationId xmlns:a16="http://schemas.microsoft.com/office/drawing/2014/main" id="{2AAD2B43-9AC4-CCDD-4D8A-7101487BCF6F}"/>
              </a:ext>
            </a:extLst>
          </p:cNvPr>
          <p:cNvPicPr>
            <a:picLocks noGrp="1" noChangeAspect="1"/>
          </p:cNvPicPr>
          <p:nvPr>
            <p:ph idx="1"/>
          </p:nvPr>
        </p:nvPicPr>
        <p:blipFill>
          <a:blip r:embed="rId2"/>
          <a:stretch>
            <a:fillRect/>
          </a:stretch>
        </p:blipFill>
        <p:spPr>
          <a:xfrm>
            <a:off x="1446663" y="856154"/>
            <a:ext cx="8652680" cy="5853284"/>
          </a:xfrm>
          <a:prstGeom prst="rect">
            <a:avLst/>
          </a:prstGeom>
        </p:spPr>
      </p:pic>
    </p:spTree>
    <p:extLst>
      <p:ext uri="{BB962C8B-B14F-4D97-AF65-F5344CB8AC3E}">
        <p14:creationId xmlns:p14="http://schemas.microsoft.com/office/powerpoint/2010/main" val="37247248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24205-F66B-39E3-EAD2-E3F4C901F633}"/>
              </a:ext>
            </a:extLst>
          </p:cNvPr>
          <p:cNvSpPr>
            <a:spLocks noGrp="1"/>
          </p:cNvSpPr>
          <p:nvPr>
            <p:ph type="title"/>
          </p:nvPr>
        </p:nvSpPr>
        <p:spPr/>
        <p:txBody>
          <a:bodyPr/>
          <a:lstStyle/>
          <a:p>
            <a:r>
              <a:rPr lang="en-US" b="1" dirty="0">
                <a:solidFill>
                  <a:srgbClr val="143C61"/>
                </a:solidFill>
              </a:rPr>
              <a:t>Post analysis steps</a:t>
            </a:r>
          </a:p>
        </p:txBody>
      </p:sp>
      <p:sp>
        <p:nvSpPr>
          <p:cNvPr id="3" name="Content Placeholder 2">
            <a:extLst>
              <a:ext uri="{FF2B5EF4-FFF2-40B4-BE49-F238E27FC236}">
                <a16:creationId xmlns:a16="http://schemas.microsoft.com/office/drawing/2014/main" id="{1B2AB8DB-0F84-25A8-BCF7-D7E4266AC469}"/>
              </a:ext>
            </a:extLst>
          </p:cNvPr>
          <p:cNvSpPr>
            <a:spLocks noGrp="1"/>
          </p:cNvSpPr>
          <p:nvPr>
            <p:ph idx="1"/>
          </p:nvPr>
        </p:nvSpPr>
        <p:spPr>
          <a:xfrm>
            <a:off x="838200" y="1553481"/>
            <a:ext cx="10515600" cy="4939394"/>
          </a:xfrm>
        </p:spPr>
        <p:txBody>
          <a:bodyPr>
            <a:normAutofit lnSpcReduction="10000"/>
          </a:bodyPr>
          <a:lstStyle/>
          <a:p>
            <a:r>
              <a:rPr lang="en-GB" sz="1800" dirty="0"/>
              <a:t>Interpret allele frequencies and mutation types.</a:t>
            </a:r>
          </a:p>
          <a:p>
            <a:pPr marL="457200" lvl="1" indent="0">
              <a:buNone/>
            </a:pPr>
            <a:r>
              <a:rPr lang="en-GB" sz="1400" b="1" dirty="0"/>
              <a:t>Assess Editing Efficiency</a:t>
            </a:r>
            <a:r>
              <a:rPr lang="en-GB" sz="1400" dirty="0"/>
              <a:t>: Examine the percentage of edited alleles compared to the wild-type sequence. Low editing efficiency might indicate issues with sgRNA design, Cas9 delivery, or cell type.</a:t>
            </a:r>
          </a:p>
          <a:p>
            <a:pPr marL="457200" lvl="1" indent="0">
              <a:buNone/>
            </a:pPr>
            <a:r>
              <a:rPr lang="en-GB" sz="1400" b="1" dirty="0"/>
              <a:t>Mutation Types</a:t>
            </a:r>
            <a:r>
              <a:rPr lang="en-GB" sz="1400" dirty="0"/>
              <a:t>: Determine the predominant mutation types (insertions, deletions, substitutions) and whether they match the expected outcome (e.g., frameshift mutations, knockout efficiency).</a:t>
            </a:r>
          </a:p>
          <a:p>
            <a:pPr marL="457200" lvl="1" indent="0">
              <a:buNone/>
            </a:pPr>
            <a:r>
              <a:rPr lang="en-GB" sz="1400" b="1" dirty="0"/>
              <a:t>On-target and Off-target Analysis</a:t>
            </a:r>
            <a:r>
              <a:rPr lang="en-GB" sz="1400" dirty="0"/>
              <a:t>: Review any off-target effects or mutations in other regions if genome-wide CRISPR sequencing was performed.</a:t>
            </a:r>
          </a:p>
          <a:p>
            <a:r>
              <a:rPr lang="en-GB" sz="1800" dirty="0"/>
              <a:t>Validate your results with sequencing and functional assays.</a:t>
            </a:r>
          </a:p>
          <a:p>
            <a:pPr marL="457200" lvl="1" indent="0">
              <a:buNone/>
            </a:pPr>
            <a:r>
              <a:rPr lang="en-GB" sz="1400" b="1" dirty="0"/>
              <a:t>Functional Assays</a:t>
            </a:r>
            <a:r>
              <a:rPr lang="en-GB" sz="1400" dirty="0"/>
              <a:t>: If the study involves gene knockout or specific genetic modifications, functional assays can determine if the edited cells behave according to the hypothesis (e.g., loss of a phenotype, change in metabolic activity, or altered growth patterns).</a:t>
            </a:r>
          </a:p>
          <a:p>
            <a:r>
              <a:rPr lang="en-GB" sz="1800" dirty="0"/>
              <a:t>Troubleshoot any inefficiencies (redesign sgRNA, optimize delivery).</a:t>
            </a:r>
          </a:p>
          <a:p>
            <a:pPr marL="457200" lvl="1" indent="0">
              <a:buNone/>
            </a:pPr>
            <a:r>
              <a:rPr lang="en-GB" sz="1400" b="1" dirty="0"/>
              <a:t>Low Editing Efficiency</a:t>
            </a:r>
            <a:r>
              <a:rPr lang="en-GB" sz="1400" dirty="0"/>
              <a:t>: If CRISPResso2 shows a low rate of edits, troubleshoot by: redesigning the guide RNA (sgRNA) for better targeting. Optimizing the transfection or delivery method of Cas9 and the guide RNA (e.g., improving Cas9 or sgRNA concentration, delivery method). Ensuring that the Cas9 variant being used matches the  goal (wild-type Cas9 for cutting, Cas9 </a:t>
            </a:r>
            <a:r>
              <a:rPr lang="en-GB" sz="1400" dirty="0" err="1"/>
              <a:t>nickase</a:t>
            </a:r>
            <a:r>
              <a:rPr lang="en-GB" sz="1400" dirty="0"/>
              <a:t> for precise editing, etc.).</a:t>
            </a:r>
            <a:endParaRPr lang="en-GB" sz="1800" dirty="0"/>
          </a:p>
          <a:p>
            <a:r>
              <a:rPr lang="en-GB" sz="1800" dirty="0"/>
              <a:t>Isolate specific clones if necessary.</a:t>
            </a:r>
          </a:p>
          <a:p>
            <a:pPr marL="457200" lvl="1" indent="0">
              <a:buNone/>
            </a:pPr>
            <a:r>
              <a:rPr lang="en-GB" sz="1500" b="1" dirty="0"/>
              <a:t>Clone Isolation</a:t>
            </a:r>
            <a:r>
              <a:rPr lang="en-GB" sz="1500" dirty="0"/>
              <a:t>: If aiming for a homogeneous population of cells with specific mutations (especially for knockout studies or disease modelling), proceed with </a:t>
            </a:r>
            <a:r>
              <a:rPr lang="en-GB" sz="1500" b="1" dirty="0"/>
              <a:t>clonal isolation</a:t>
            </a:r>
            <a:r>
              <a:rPr lang="en-GB" sz="1500" dirty="0"/>
              <a:t>.</a:t>
            </a:r>
          </a:p>
          <a:p>
            <a:r>
              <a:rPr lang="en-GB" sz="1800" dirty="0"/>
              <a:t>Document and report results.</a:t>
            </a:r>
          </a:p>
        </p:txBody>
      </p:sp>
    </p:spTree>
    <p:extLst>
      <p:ext uri="{BB962C8B-B14F-4D97-AF65-F5344CB8AC3E}">
        <p14:creationId xmlns:p14="http://schemas.microsoft.com/office/powerpoint/2010/main" val="268138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19FF6-9048-81F5-F7AA-A4E2CF025293}"/>
              </a:ext>
            </a:extLst>
          </p:cNvPr>
          <p:cNvSpPr>
            <a:spLocks noGrp="1"/>
          </p:cNvSpPr>
          <p:nvPr>
            <p:ph type="title"/>
          </p:nvPr>
        </p:nvSpPr>
        <p:spPr>
          <a:xfrm>
            <a:off x="135835" y="0"/>
            <a:ext cx="10515600" cy="1325563"/>
          </a:xfrm>
        </p:spPr>
        <p:txBody>
          <a:bodyPr/>
          <a:lstStyle/>
          <a:p>
            <a:r>
              <a:rPr lang="en-US" dirty="0"/>
              <a:t>WGS approach</a:t>
            </a:r>
          </a:p>
        </p:txBody>
      </p:sp>
      <p:pic>
        <p:nvPicPr>
          <p:cNvPr id="4" name="Picture 3">
            <a:extLst>
              <a:ext uri="{FF2B5EF4-FFF2-40B4-BE49-F238E27FC236}">
                <a16:creationId xmlns:a16="http://schemas.microsoft.com/office/drawing/2014/main" id="{7758E63A-D36F-0559-571D-39CCFD96EA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8275" y="1007166"/>
            <a:ext cx="10195449" cy="5734798"/>
          </a:xfrm>
          <a:prstGeom prst="rect">
            <a:avLst/>
          </a:prstGeom>
        </p:spPr>
      </p:pic>
    </p:spTree>
    <p:extLst>
      <p:ext uri="{BB962C8B-B14F-4D97-AF65-F5344CB8AC3E}">
        <p14:creationId xmlns:p14="http://schemas.microsoft.com/office/powerpoint/2010/main" val="343914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FFCD3-F5B7-624F-A451-8D121D20389B}"/>
              </a:ext>
            </a:extLst>
          </p:cNvPr>
          <p:cNvSpPr>
            <a:spLocks noGrp="1"/>
          </p:cNvSpPr>
          <p:nvPr>
            <p:ph type="title"/>
          </p:nvPr>
        </p:nvSpPr>
        <p:spPr/>
        <p:txBody>
          <a:bodyPr/>
          <a:lstStyle/>
          <a:p>
            <a:r>
              <a:rPr lang="en-US" b="1" dirty="0">
                <a:solidFill>
                  <a:srgbClr val="143C61"/>
                </a:solidFill>
              </a:rPr>
              <a:t>Acknowledgements</a:t>
            </a:r>
          </a:p>
        </p:txBody>
      </p:sp>
      <p:sp>
        <p:nvSpPr>
          <p:cNvPr id="3" name="Content Placeholder 2">
            <a:extLst>
              <a:ext uri="{FF2B5EF4-FFF2-40B4-BE49-F238E27FC236}">
                <a16:creationId xmlns:a16="http://schemas.microsoft.com/office/drawing/2014/main" id="{5766D831-147D-8A1A-45BC-DD4A272F4A89}"/>
              </a:ext>
            </a:extLst>
          </p:cNvPr>
          <p:cNvSpPr>
            <a:spLocks noGrp="1"/>
          </p:cNvSpPr>
          <p:nvPr>
            <p:ph idx="1"/>
          </p:nvPr>
        </p:nvSpPr>
        <p:spPr>
          <a:xfrm>
            <a:off x="838200" y="1690688"/>
            <a:ext cx="4691743" cy="551769"/>
          </a:xfrm>
        </p:spPr>
        <p:txBody>
          <a:bodyPr/>
          <a:lstStyle/>
          <a:p>
            <a:pPr marL="0" indent="0">
              <a:buNone/>
            </a:pPr>
            <a:r>
              <a:rPr lang="en-US" dirty="0"/>
              <a:t>Developers of CRISPResso2</a:t>
            </a:r>
          </a:p>
        </p:txBody>
      </p:sp>
      <p:sp>
        <p:nvSpPr>
          <p:cNvPr id="4" name="TextBox 3">
            <a:extLst>
              <a:ext uri="{FF2B5EF4-FFF2-40B4-BE49-F238E27FC236}">
                <a16:creationId xmlns:a16="http://schemas.microsoft.com/office/drawing/2014/main" id="{5F587165-BD6C-CD29-B0FB-94CDA8595799}"/>
              </a:ext>
            </a:extLst>
          </p:cNvPr>
          <p:cNvSpPr txBox="1"/>
          <p:nvPr/>
        </p:nvSpPr>
        <p:spPr>
          <a:xfrm>
            <a:off x="1001486" y="2383971"/>
            <a:ext cx="4452257" cy="523220"/>
          </a:xfrm>
          <a:prstGeom prst="rect">
            <a:avLst/>
          </a:prstGeom>
          <a:noFill/>
        </p:spPr>
        <p:txBody>
          <a:bodyPr wrap="square" rtlCol="0">
            <a:spAutoFit/>
          </a:bodyPr>
          <a:lstStyle/>
          <a:p>
            <a:r>
              <a:rPr lang="en-GB" sz="1400" i="0" u="none" strike="noStrike" dirty="0">
                <a:solidFill>
                  <a:srgbClr val="222222"/>
                </a:solidFill>
                <a:effectLst/>
                <a:latin typeface="Open Sans" panose="020B0606030504020204" pitchFamily="34" charset="0"/>
              </a:rPr>
              <a:t>Luca </a:t>
            </a:r>
            <a:r>
              <a:rPr lang="en-GB" sz="1400" i="0" u="none" strike="noStrike" dirty="0" err="1">
                <a:solidFill>
                  <a:srgbClr val="222222"/>
                </a:solidFill>
                <a:effectLst/>
                <a:latin typeface="Open Sans" panose="020B0606030504020204" pitchFamily="34" charset="0"/>
              </a:rPr>
              <a:t>Pinello</a:t>
            </a:r>
            <a:r>
              <a:rPr lang="en-GB" sz="1400" i="0" u="none" strike="noStrike" dirty="0">
                <a:solidFill>
                  <a:srgbClr val="222222"/>
                </a:solidFill>
                <a:effectLst/>
                <a:latin typeface="Open Sans" panose="020B0606030504020204" pitchFamily="34" charset="0"/>
              </a:rPr>
              <a:t> Ph.D., Associate Professor</a:t>
            </a:r>
          </a:p>
          <a:p>
            <a:r>
              <a:rPr lang="en-GB" sz="1400" i="0" u="none" strike="noStrike" dirty="0">
                <a:solidFill>
                  <a:srgbClr val="222222"/>
                </a:solidFill>
                <a:effectLst/>
                <a:latin typeface="Open Sans" panose="020B0606030504020204" pitchFamily="34" charset="0"/>
              </a:rPr>
              <a:t>Kendell Clement, </a:t>
            </a:r>
            <a:r>
              <a:rPr lang="en-GB" sz="1400" i="0" dirty="0">
                <a:solidFill>
                  <a:srgbClr val="333333"/>
                </a:solidFill>
                <a:effectLst/>
                <a:latin typeface="Open Sans" panose="020B0606030504020204" pitchFamily="34" charset="0"/>
              </a:rPr>
              <a:t>Assistant Professor</a:t>
            </a:r>
            <a:endParaRPr lang="en-US" sz="1400" dirty="0"/>
          </a:p>
        </p:txBody>
      </p:sp>
      <p:sp>
        <p:nvSpPr>
          <p:cNvPr id="5" name="Content Placeholder 2">
            <a:extLst>
              <a:ext uri="{FF2B5EF4-FFF2-40B4-BE49-F238E27FC236}">
                <a16:creationId xmlns:a16="http://schemas.microsoft.com/office/drawing/2014/main" id="{0594253C-4E82-9A38-29AD-D0338FEB0532}"/>
              </a:ext>
            </a:extLst>
          </p:cNvPr>
          <p:cNvSpPr txBox="1">
            <a:spLocks/>
          </p:cNvSpPr>
          <p:nvPr/>
        </p:nvSpPr>
        <p:spPr>
          <a:xfrm>
            <a:off x="838200" y="3186104"/>
            <a:ext cx="5257800" cy="10089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Genome Engineering Laboratory</a:t>
            </a:r>
          </a:p>
          <a:p>
            <a:pPr marL="0" indent="0">
              <a:buFont typeface="Arial" panose="020B0604020202020204" pitchFamily="34" charset="0"/>
              <a:buNone/>
            </a:pPr>
            <a:r>
              <a:rPr lang="en-US" sz="2000" dirty="0"/>
              <a:t>(University of Westminster)</a:t>
            </a:r>
          </a:p>
        </p:txBody>
      </p:sp>
      <p:sp>
        <p:nvSpPr>
          <p:cNvPr id="7" name="TextBox 6">
            <a:extLst>
              <a:ext uri="{FF2B5EF4-FFF2-40B4-BE49-F238E27FC236}">
                <a16:creationId xmlns:a16="http://schemas.microsoft.com/office/drawing/2014/main" id="{E0C4D6B6-781A-3CF7-A666-4783A295B8DE}"/>
              </a:ext>
            </a:extLst>
          </p:cNvPr>
          <p:cNvSpPr txBox="1"/>
          <p:nvPr/>
        </p:nvSpPr>
        <p:spPr>
          <a:xfrm>
            <a:off x="1001486" y="4249152"/>
            <a:ext cx="5410201" cy="2677656"/>
          </a:xfrm>
          <a:prstGeom prst="rect">
            <a:avLst/>
          </a:prstGeom>
          <a:noFill/>
        </p:spPr>
        <p:txBody>
          <a:bodyPr wrap="square" rtlCol="0">
            <a:spAutoFit/>
          </a:bodyPr>
          <a:lstStyle/>
          <a:p>
            <a:r>
              <a:rPr lang="en-GB" sz="1400" i="0" u="none" strike="noStrike" dirty="0">
                <a:solidFill>
                  <a:srgbClr val="222222"/>
                </a:solidFill>
                <a:effectLst/>
                <a:latin typeface="Open Sans" panose="020B0606030504020204" pitchFamily="34" charset="0"/>
              </a:rPr>
              <a:t>Dr Kalpana </a:t>
            </a:r>
            <a:r>
              <a:rPr lang="en-GB" sz="1400" i="0" u="none" strike="noStrike" dirty="0" err="1">
                <a:solidFill>
                  <a:srgbClr val="222222"/>
                </a:solidFill>
                <a:effectLst/>
                <a:latin typeface="Open Sans" panose="020B0606030504020204" pitchFamily="34" charset="0"/>
              </a:rPr>
              <a:t>Surendranath</a:t>
            </a:r>
            <a:r>
              <a:rPr lang="en-GB" sz="1400" i="0" u="none" strike="noStrike" dirty="0">
                <a:solidFill>
                  <a:srgbClr val="222222"/>
                </a:solidFill>
                <a:effectLst/>
                <a:latin typeface="Open Sans" panose="020B0606030504020204" pitchFamily="34" charset="0"/>
              </a:rPr>
              <a:t>, Associat</a:t>
            </a:r>
            <a:r>
              <a:rPr lang="en-GB" sz="1400" dirty="0">
                <a:solidFill>
                  <a:srgbClr val="222222"/>
                </a:solidFill>
                <a:latin typeface="Open Sans" panose="020B0606030504020204" pitchFamily="34" charset="0"/>
              </a:rPr>
              <a:t>e Professor, University of Westminster</a:t>
            </a:r>
            <a:endParaRPr lang="en-GB" sz="1400" i="0" u="none" strike="noStrike" dirty="0">
              <a:solidFill>
                <a:srgbClr val="222222"/>
              </a:solidFill>
              <a:effectLst/>
              <a:latin typeface="Open Sans" panose="020B0606030504020204" pitchFamily="34" charset="0"/>
            </a:endParaRPr>
          </a:p>
          <a:p>
            <a:r>
              <a:rPr lang="en-GB" sz="1400" i="0" u="none" strike="noStrike" dirty="0">
                <a:solidFill>
                  <a:srgbClr val="222222"/>
                </a:solidFill>
                <a:effectLst/>
                <a:latin typeface="Open Sans" panose="020B0606030504020204" pitchFamily="34" charset="0"/>
              </a:rPr>
              <a:t>Dr John Murphy, Professor, </a:t>
            </a:r>
            <a:r>
              <a:rPr lang="en-GB" sz="1400" dirty="0">
                <a:solidFill>
                  <a:srgbClr val="222222"/>
                </a:solidFill>
                <a:latin typeface="Open Sans" panose="020B0606030504020204" pitchFamily="34" charset="0"/>
              </a:rPr>
              <a:t>University of Westminster</a:t>
            </a:r>
            <a:endParaRPr lang="en-GB" sz="1400" i="0" u="none" strike="noStrike" dirty="0">
              <a:solidFill>
                <a:srgbClr val="222222"/>
              </a:solidFill>
              <a:effectLst/>
              <a:latin typeface="Open Sans" panose="020B0606030504020204" pitchFamily="34" charset="0"/>
            </a:endParaRPr>
          </a:p>
          <a:p>
            <a:r>
              <a:rPr lang="en-GB" sz="1400" dirty="0">
                <a:solidFill>
                  <a:srgbClr val="222222"/>
                </a:solidFill>
                <a:latin typeface="Open Sans" panose="020B0606030504020204" pitchFamily="34" charset="0"/>
              </a:rPr>
              <a:t>Dr </a:t>
            </a:r>
            <a:r>
              <a:rPr lang="en-GB" sz="1400" dirty="0" err="1">
                <a:solidFill>
                  <a:srgbClr val="222222"/>
                </a:solidFill>
                <a:latin typeface="Open Sans" panose="020B0606030504020204" pitchFamily="34" charset="0"/>
              </a:rPr>
              <a:t>Munuse</a:t>
            </a:r>
            <a:r>
              <a:rPr lang="en-GB" sz="1400" dirty="0">
                <a:solidFill>
                  <a:srgbClr val="222222"/>
                </a:solidFill>
                <a:latin typeface="Open Sans" panose="020B0606030504020204" pitchFamily="34" charset="0"/>
              </a:rPr>
              <a:t> </a:t>
            </a:r>
            <a:r>
              <a:rPr lang="en-GB" sz="1400" dirty="0" err="1">
                <a:solidFill>
                  <a:srgbClr val="222222"/>
                </a:solidFill>
                <a:latin typeface="Open Sans" panose="020B0606030504020204" pitchFamily="34" charset="0"/>
              </a:rPr>
              <a:t>Savash</a:t>
            </a:r>
            <a:r>
              <a:rPr lang="en-GB" sz="1400" dirty="0">
                <a:solidFill>
                  <a:srgbClr val="222222"/>
                </a:solidFill>
                <a:latin typeface="Open Sans" panose="020B0606030504020204" pitchFamily="34" charset="0"/>
              </a:rPr>
              <a:t>, </a:t>
            </a:r>
            <a:r>
              <a:rPr lang="en-GB" sz="1400" dirty="0" err="1">
                <a:solidFill>
                  <a:srgbClr val="222222"/>
                </a:solidFill>
                <a:latin typeface="Open Sans" panose="020B0606030504020204" pitchFamily="34" charset="0"/>
              </a:rPr>
              <a:t>Ph.D</a:t>
            </a:r>
            <a:r>
              <a:rPr lang="en-GB" sz="1400" dirty="0">
                <a:solidFill>
                  <a:srgbClr val="222222"/>
                </a:solidFill>
                <a:latin typeface="Open Sans" panose="020B0606030504020204" pitchFamily="34" charset="0"/>
              </a:rPr>
              <a:t>, University of Oxford</a:t>
            </a:r>
          </a:p>
          <a:p>
            <a:r>
              <a:rPr lang="en-GB" sz="1400" dirty="0">
                <a:solidFill>
                  <a:srgbClr val="222222"/>
                </a:solidFill>
                <a:latin typeface="Open Sans" panose="020B0606030504020204" pitchFamily="34" charset="0"/>
              </a:rPr>
              <a:t>Dr Varsha </a:t>
            </a:r>
            <a:r>
              <a:rPr lang="en-GB" sz="1400" dirty="0" err="1">
                <a:solidFill>
                  <a:srgbClr val="222222"/>
                </a:solidFill>
                <a:latin typeface="Open Sans" panose="020B0606030504020204" pitchFamily="34" charset="0"/>
              </a:rPr>
              <a:t>Tieote</a:t>
            </a:r>
            <a:r>
              <a:rPr lang="en-GB" sz="1400" dirty="0">
                <a:solidFill>
                  <a:srgbClr val="222222"/>
                </a:solidFill>
                <a:latin typeface="Open Sans" panose="020B0606030504020204" pitchFamily="34" charset="0"/>
              </a:rPr>
              <a:t>, </a:t>
            </a:r>
            <a:r>
              <a:rPr lang="en-GB" sz="1400" dirty="0" err="1">
                <a:solidFill>
                  <a:srgbClr val="222222"/>
                </a:solidFill>
                <a:latin typeface="Open Sans" panose="020B0606030504020204" pitchFamily="34" charset="0"/>
              </a:rPr>
              <a:t>Ph.D</a:t>
            </a:r>
            <a:r>
              <a:rPr lang="en-GB" sz="1400" dirty="0">
                <a:solidFill>
                  <a:srgbClr val="222222"/>
                </a:solidFill>
                <a:latin typeface="Open Sans" panose="020B0606030504020204" pitchFamily="34" charset="0"/>
              </a:rPr>
              <a:t>, University of Westminster</a:t>
            </a:r>
          </a:p>
          <a:p>
            <a:r>
              <a:rPr lang="en-GB" sz="1400" dirty="0">
                <a:solidFill>
                  <a:srgbClr val="222222"/>
                </a:solidFill>
                <a:latin typeface="Open Sans" panose="020B0606030504020204" pitchFamily="34" charset="0"/>
              </a:rPr>
              <a:t>Dr Nadine </a:t>
            </a:r>
            <a:r>
              <a:rPr lang="en-GB" sz="1400" dirty="0" err="1">
                <a:solidFill>
                  <a:srgbClr val="222222"/>
                </a:solidFill>
                <a:latin typeface="Open Sans" panose="020B0606030504020204" pitchFamily="34" charset="0"/>
              </a:rPr>
              <a:t>Solaiman</a:t>
            </a:r>
            <a:r>
              <a:rPr lang="en-GB" sz="1400" dirty="0">
                <a:solidFill>
                  <a:srgbClr val="222222"/>
                </a:solidFill>
                <a:latin typeface="Open Sans" panose="020B0606030504020204" pitchFamily="34" charset="0"/>
              </a:rPr>
              <a:t>, </a:t>
            </a:r>
            <a:r>
              <a:rPr lang="en-GB" sz="1400" dirty="0" err="1">
                <a:solidFill>
                  <a:srgbClr val="222222"/>
                </a:solidFill>
                <a:latin typeface="Open Sans" panose="020B0606030504020204" pitchFamily="34" charset="0"/>
              </a:rPr>
              <a:t>Ph.D</a:t>
            </a:r>
            <a:r>
              <a:rPr lang="en-GB" sz="1400" dirty="0">
                <a:solidFill>
                  <a:srgbClr val="222222"/>
                </a:solidFill>
                <a:latin typeface="Open Sans" panose="020B0606030504020204" pitchFamily="34" charset="0"/>
              </a:rPr>
              <a:t>, University of Westminster</a:t>
            </a:r>
          </a:p>
          <a:p>
            <a:r>
              <a:rPr lang="en-GB" sz="1400" dirty="0">
                <a:solidFill>
                  <a:srgbClr val="222222"/>
                </a:solidFill>
                <a:latin typeface="Open Sans" panose="020B0606030504020204" pitchFamily="34" charset="0"/>
              </a:rPr>
              <a:t>Dr Ahmed </a:t>
            </a:r>
            <a:r>
              <a:rPr lang="en-GB" sz="1400" dirty="0" err="1">
                <a:solidFill>
                  <a:srgbClr val="222222"/>
                </a:solidFill>
                <a:latin typeface="Open Sans" panose="020B0606030504020204" pitchFamily="34" charset="0"/>
              </a:rPr>
              <a:t>Sidali</a:t>
            </a:r>
            <a:r>
              <a:rPr lang="en-GB" sz="1400" dirty="0">
                <a:solidFill>
                  <a:srgbClr val="222222"/>
                </a:solidFill>
                <a:latin typeface="Open Sans" panose="020B0606030504020204" pitchFamily="34" charset="0"/>
              </a:rPr>
              <a:t>, </a:t>
            </a:r>
            <a:r>
              <a:rPr lang="en-GB" sz="1400" dirty="0" err="1">
                <a:solidFill>
                  <a:srgbClr val="222222"/>
                </a:solidFill>
                <a:latin typeface="Open Sans" panose="020B0606030504020204" pitchFamily="34" charset="0"/>
              </a:rPr>
              <a:t>Ph.D</a:t>
            </a:r>
            <a:r>
              <a:rPr lang="en-GB" sz="1400" dirty="0">
                <a:solidFill>
                  <a:srgbClr val="222222"/>
                </a:solidFill>
                <a:latin typeface="Open Sans" panose="020B0606030504020204" pitchFamily="34" charset="0"/>
              </a:rPr>
              <a:t>, University of Westminster</a:t>
            </a:r>
          </a:p>
          <a:p>
            <a:endParaRPr lang="en-GB" sz="1400" dirty="0">
              <a:solidFill>
                <a:srgbClr val="222222"/>
              </a:solidFill>
              <a:latin typeface="Open Sans" panose="020B0606030504020204" pitchFamily="34" charset="0"/>
            </a:endParaRPr>
          </a:p>
          <a:p>
            <a:r>
              <a:rPr lang="en-GB" sz="1400" dirty="0">
                <a:solidFill>
                  <a:srgbClr val="222222"/>
                </a:solidFill>
                <a:latin typeface="Open Sans" panose="020B0606030504020204" pitchFamily="34" charset="0"/>
              </a:rPr>
              <a:t>All the M.Sc. and B.Sc. students who have contributed so much to the laboratory and the Gene Editors of the Future program.</a:t>
            </a:r>
          </a:p>
          <a:p>
            <a:endParaRPr lang="en-GB" sz="1400" dirty="0">
              <a:solidFill>
                <a:srgbClr val="222222"/>
              </a:solidFill>
              <a:latin typeface="Open Sans" panose="020B0606030504020204" pitchFamily="34" charset="0"/>
            </a:endParaRPr>
          </a:p>
          <a:p>
            <a:endParaRPr lang="en-US" sz="1400" dirty="0"/>
          </a:p>
        </p:txBody>
      </p:sp>
      <p:sp>
        <p:nvSpPr>
          <p:cNvPr id="8" name="Content Placeholder 2">
            <a:extLst>
              <a:ext uri="{FF2B5EF4-FFF2-40B4-BE49-F238E27FC236}">
                <a16:creationId xmlns:a16="http://schemas.microsoft.com/office/drawing/2014/main" id="{191EAA0A-5C3A-0A70-4B55-72749B28B614}"/>
              </a:ext>
            </a:extLst>
          </p:cNvPr>
          <p:cNvSpPr txBox="1">
            <a:spLocks/>
          </p:cNvSpPr>
          <p:nvPr/>
        </p:nvSpPr>
        <p:spPr>
          <a:xfrm>
            <a:off x="6564086" y="1690687"/>
            <a:ext cx="4691743" cy="5517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Funding and Support</a:t>
            </a:r>
          </a:p>
        </p:txBody>
      </p:sp>
      <p:sp>
        <p:nvSpPr>
          <p:cNvPr id="10" name="TextBox 9">
            <a:extLst>
              <a:ext uri="{FF2B5EF4-FFF2-40B4-BE49-F238E27FC236}">
                <a16:creationId xmlns:a16="http://schemas.microsoft.com/office/drawing/2014/main" id="{B8BFF3F1-EF7B-D48D-1E94-C30A0B7801AE}"/>
              </a:ext>
            </a:extLst>
          </p:cNvPr>
          <p:cNvSpPr txBox="1"/>
          <p:nvPr/>
        </p:nvSpPr>
        <p:spPr>
          <a:xfrm>
            <a:off x="6738259" y="2374450"/>
            <a:ext cx="4452257" cy="523220"/>
          </a:xfrm>
          <a:prstGeom prst="rect">
            <a:avLst/>
          </a:prstGeom>
          <a:noFill/>
        </p:spPr>
        <p:txBody>
          <a:bodyPr wrap="square" rtlCol="0">
            <a:spAutoFit/>
          </a:bodyPr>
          <a:lstStyle/>
          <a:p>
            <a:r>
              <a:rPr lang="en-GB" sz="1400" i="0" u="none" strike="noStrike" dirty="0">
                <a:solidFill>
                  <a:srgbClr val="222222"/>
                </a:solidFill>
                <a:effectLst/>
                <a:latin typeface="Open Sans" panose="020B0606030504020204" pitchFamily="34" charset="0"/>
              </a:rPr>
              <a:t>Quentin Hogg Trust, University of Westminster</a:t>
            </a:r>
          </a:p>
          <a:p>
            <a:r>
              <a:rPr lang="en-GB" sz="1400" dirty="0">
                <a:solidFill>
                  <a:srgbClr val="222222"/>
                </a:solidFill>
                <a:latin typeface="Open Sans" panose="020B0606030504020204" pitchFamily="34" charset="0"/>
              </a:rPr>
              <a:t>(https://</a:t>
            </a:r>
            <a:r>
              <a:rPr lang="en-GB" sz="1400" dirty="0" err="1">
                <a:solidFill>
                  <a:srgbClr val="222222"/>
                </a:solidFill>
                <a:latin typeface="Open Sans" panose="020B0606030504020204" pitchFamily="34" charset="0"/>
              </a:rPr>
              <a:t>quintinhoggtrust.org</a:t>
            </a:r>
            <a:r>
              <a:rPr lang="en-GB" sz="1400" dirty="0">
                <a:solidFill>
                  <a:srgbClr val="222222"/>
                </a:solidFill>
                <a:latin typeface="Open Sans" panose="020B0606030504020204" pitchFamily="34" charset="0"/>
              </a:rPr>
              <a:t>/)</a:t>
            </a:r>
            <a:endParaRPr lang="en-US" sz="1400" dirty="0"/>
          </a:p>
        </p:txBody>
      </p:sp>
      <p:sp>
        <p:nvSpPr>
          <p:cNvPr id="11" name="Content Placeholder 2">
            <a:extLst>
              <a:ext uri="{FF2B5EF4-FFF2-40B4-BE49-F238E27FC236}">
                <a16:creationId xmlns:a16="http://schemas.microsoft.com/office/drawing/2014/main" id="{ABADA2E9-AE2F-7BD2-951F-A33FEE31A494}"/>
              </a:ext>
            </a:extLst>
          </p:cNvPr>
          <p:cNvSpPr txBox="1">
            <a:spLocks/>
          </p:cNvSpPr>
          <p:nvPr/>
        </p:nvSpPr>
        <p:spPr>
          <a:xfrm>
            <a:off x="6564085" y="3186104"/>
            <a:ext cx="4691743" cy="10089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Gene Editors of The Future</a:t>
            </a:r>
          </a:p>
          <a:p>
            <a:pPr marL="0" indent="0">
              <a:buNone/>
            </a:pPr>
            <a:r>
              <a:rPr lang="en-US" sz="2000" dirty="0"/>
              <a:t>(University of Westminster)</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
        <p:nvSpPr>
          <p:cNvPr id="13" name="TextBox 12">
            <a:extLst>
              <a:ext uri="{FF2B5EF4-FFF2-40B4-BE49-F238E27FC236}">
                <a16:creationId xmlns:a16="http://schemas.microsoft.com/office/drawing/2014/main" id="{1EA466DE-6EDF-F60B-3757-C0D1718165FB}"/>
              </a:ext>
            </a:extLst>
          </p:cNvPr>
          <p:cNvSpPr txBox="1"/>
          <p:nvPr/>
        </p:nvSpPr>
        <p:spPr>
          <a:xfrm>
            <a:off x="6781799" y="4249152"/>
            <a:ext cx="5410201" cy="523220"/>
          </a:xfrm>
          <a:prstGeom prst="rect">
            <a:avLst/>
          </a:prstGeom>
          <a:noFill/>
        </p:spPr>
        <p:txBody>
          <a:bodyPr wrap="square" rtlCol="0">
            <a:spAutoFit/>
          </a:bodyPr>
          <a:lstStyle/>
          <a:p>
            <a:r>
              <a:rPr lang="en-GB" sz="1400" i="0" u="none" strike="noStrike" dirty="0">
                <a:solidFill>
                  <a:srgbClr val="222222"/>
                </a:solidFill>
                <a:effectLst/>
                <a:latin typeface="Open Sans" panose="020B0606030504020204" pitchFamily="34" charset="0"/>
              </a:rPr>
              <a:t>Big thank you to all the students from iterations 1-4 of this program</a:t>
            </a:r>
            <a:endParaRPr lang="en-US" sz="1400" dirty="0"/>
          </a:p>
        </p:txBody>
      </p:sp>
    </p:spTree>
    <p:extLst>
      <p:ext uri="{BB962C8B-B14F-4D97-AF65-F5344CB8AC3E}">
        <p14:creationId xmlns:p14="http://schemas.microsoft.com/office/powerpoint/2010/main" val="748676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3276D-8CCF-25BA-8EF4-0495B2270050}"/>
              </a:ext>
            </a:extLst>
          </p:cNvPr>
          <p:cNvSpPr>
            <a:spLocks noGrp="1"/>
          </p:cNvSpPr>
          <p:nvPr>
            <p:ph type="title"/>
          </p:nvPr>
        </p:nvSpPr>
        <p:spPr>
          <a:xfrm>
            <a:off x="609961" y="621603"/>
            <a:ext cx="4800239" cy="759137"/>
          </a:xfrm>
        </p:spPr>
        <p:txBody>
          <a:bodyPr/>
          <a:lstStyle/>
          <a:p>
            <a:r>
              <a:rPr lang="en-US" b="1" dirty="0">
                <a:solidFill>
                  <a:srgbClr val="002060"/>
                </a:solidFill>
              </a:rPr>
              <a:t>Any questions?</a:t>
            </a:r>
          </a:p>
        </p:txBody>
      </p:sp>
      <p:pic>
        <p:nvPicPr>
          <p:cNvPr id="5" name="Picture 4" descr="Question mark symbol">
            <a:extLst>
              <a:ext uri="{FF2B5EF4-FFF2-40B4-BE49-F238E27FC236}">
                <a16:creationId xmlns:a16="http://schemas.microsoft.com/office/drawing/2014/main" id="{7FA5F9B4-3DDE-1F69-A0F3-09F6503EBBA9}"/>
              </a:ext>
            </a:extLst>
          </p:cNvPr>
          <p:cNvPicPr>
            <a:picLocks noChangeAspect="1"/>
          </p:cNvPicPr>
          <p:nvPr/>
        </p:nvPicPr>
        <p:blipFill>
          <a:blip r:embed="rId2"/>
          <a:stretch>
            <a:fillRect/>
          </a:stretch>
        </p:blipFill>
        <p:spPr>
          <a:xfrm>
            <a:off x="609962" y="1582416"/>
            <a:ext cx="3753690" cy="2107841"/>
          </a:xfrm>
          <a:prstGeom prst="rect">
            <a:avLst/>
          </a:prstGeom>
        </p:spPr>
      </p:pic>
      <p:pic>
        <p:nvPicPr>
          <p:cNvPr id="7" name="Picture 6">
            <a:extLst>
              <a:ext uri="{FF2B5EF4-FFF2-40B4-BE49-F238E27FC236}">
                <a16:creationId xmlns:a16="http://schemas.microsoft.com/office/drawing/2014/main" id="{0B2B3259-9467-1CBA-E00B-64513ECAF4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5828" y="1276178"/>
            <a:ext cx="3587571" cy="381680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ext&#10;&#10;Description automatically generated with medium confidence">
            <a:extLst>
              <a:ext uri="{FF2B5EF4-FFF2-40B4-BE49-F238E27FC236}">
                <a16:creationId xmlns:a16="http://schemas.microsoft.com/office/drawing/2014/main" id="{8AE1EA90-F23B-8EF7-3123-FEF21224B2F2}"/>
              </a:ext>
            </a:extLst>
          </p:cNvPr>
          <p:cNvPicPr>
            <a:picLocks noChangeAspect="1"/>
          </p:cNvPicPr>
          <p:nvPr/>
        </p:nvPicPr>
        <p:blipFill>
          <a:blip r:embed="rId4"/>
          <a:stretch>
            <a:fillRect/>
          </a:stretch>
        </p:blipFill>
        <p:spPr>
          <a:xfrm>
            <a:off x="8579007" y="190787"/>
            <a:ext cx="1887581" cy="665563"/>
          </a:xfrm>
          <a:prstGeom prst="rect">
            <a:avLst/>
          </a:prstGeom>
        </p:spPr>
      </p:pic>
      <p:pic>
        <p:nvPicPr>
          <p:cNvPr id="4" name="Picture 4" descr="Image preview">
            <a:extLst>
              <a:ext uri="{FF2B5EF4-FFF2-40B4-BE49-F238E27FC236}">
                <a16:creationId xmlns:a16="http://schemas.microsoft.com/office/drawing/2014/main" id="{79787DED-BDE6-8A2A-F4D8-087A78E051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24973" y="34958"/>
            <a:ext cx="1637776" cy="935198"/>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1FFF691-98CC-81A0-07B5-3718B716AC54}"/>
              </a:ext>
            </a:extLst>
          </p:cNvPr>
          <p:cNvSpPr txBox="1">
            <a:spLocks/>
          </p:cNvSpPr>
          <p:nvPr/>
        </p:nvSpPr>
        <p:spPr>
          <a:xfrm>
            <a:off x="609961" y="3922844"/>
            <a:ext cx="4800239" cy="759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rgbClr val="002060"/>
                </a:solidFill>
              </a:rPr>
              <a:t>Contact</a:t>
            </a:r>
          </a:p>
        </p:txBody>
      </p:sp>
      <p:sp>
        <p:nvSpPr>
          <p:cNvPr id="8" name="TextBox 7">
            <a:extLst>
              <a:ext uri="{FF2B5EF4-FFF2-40B4-BE49-F238E27FC236}">
                <a16:creationId xmlns:a16="http://schemas.microsoft.com/office/drawing/2014/main" id="{CCF16252-9442-0C1F-0AB4-6539DC48C061}"/>
              </a:ext>
            </a:extLst>
          </p:cNvPr>
          <p:cNvSpPr txBox="1"/>
          <p:nvPr/>
        </p:nvSpPr>
        <p:spPr>
          <a:xfrm>
            <a:off x="794656" y="4800600"/>
            <a:ext cx="5998030" cy="584775"/>
          </a:xfrm>
          <a:prstGeom prst="rect">
            <a:avLst/>
          </a:prstGeom>
          <a:noFill/>
        </p:spPr>
        <p:txBody>
          <a:bodyPr wrap="square" rtlCol="0">
            <a:spAutoFit/>
          </a:bodyPr>
          <a:lstStyle/>
          <a:p>
            <a:r>
              <a:rPr lang="en-US" sz="1600" dirty="0"/>
              <a:t>Email:	</a:t>
            </a:r>
            <a:r>
              <a:rPr lang="en-US" sz="1600" b="1" dirty="0" err="1"/>
              <a:t>k.akram@westminster.ac.uk</a:t>
            </a:r>
            <a:endParaRPr lang="en-US" sz="1600" b="1" dirty="0"/>
          </a:p>
          <a:p>
            <a:r>
              <a:rPr lang="en-US" sz="1600" dirty="0"/>
              <a:t>LinkedIn: 	</a:t>
            </a:r>
            <a:r>
              <a:rPr lang="en-US" sz="1600" b="1" dirty="0">
                <a:hlinkClick r:id="rId6"/>
              </a:rPr>
              <a:t>https://www.linkedin.com/in/khalidakram/</a:t>
            </a:r>
            <a:endParaRPr lang="en-US" sz="1600" b="1" dirty="0"/>
          </a:p>
        </p:txBody>
      </p:sp>
    </p:spTree>
    <p:extLst>
      <p:ext uri="{BB962C8B-B14F-4D97-AF65-F5344CB8AC3E}">
        <p14:creationId xmlns:p14="http://schemas.microsoft.com/office/powerpoint/2010/main" val="7410323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26612</TotalTime>
  <Words>2072</Words>
  <Application>Microsoft Macintosh PowerPoint</Application>
  <PresentationFormat>Widescreen</PresentationFormat>
  <Paragraphs>243</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Courier</vt:lpstr>
      <vt:lpstr>Courier New</vt:lpstr>
      <vt:lpstr>Open Sans</vt:lpstr>
      <vt:lpstr>Office Theme</vt:lpstr>
      <vt:lpstr>CRISPResso2</vt:lpstr>
      <vt:lpstr>the journey so far ...</vt:lpstr>
      <vt:lpstr>What is CRISPResso2?</vt:lpstr>
      <vt:lpstr>Developers of CRISPResso2</vt:lpstr>
      <vt:lpstr>PowerPoint Presentation</vt:lpstr>
      <vt:lpstr>Format of .fastq file</vt:lpstr>
      <vt:lpstr>PowerPoint Presentation</vt:lpstr>
      <vt:lpstr>Inputs to CRISPResso2</vt:lpstr>
      <vt:lpstr>Outputs from CRISPResso2</vt:lpstr>
      <vt:lpstr>Outputs from CRISPResso2</vt:lpstr>
      <vt:lpstr>Outputs from CRISPResso2</vt:lpstr>
      <vt:lpstr>Outputs from CRISPResso2</vt:lpstr>
      <vt:lpstr>How to use CRISPResso 2 Online (Web)</vt:lpstr>
      <vt:lpstr>How to use CRISPResso2 locally (on own computer)</vt:lpstr>
      <vt:lpstr>Getting Docker up and running (on Apple Mac)</vt:lpstr>
      <vt:lpstr>Run CRISPresso2 via Docker</vt:lpstr>
      <vt:lpstr>Task 1 - create a report using the web interface</vt:lpstr>
      <vt:lpstr>Task 2 - create a report locally using Docker</vt:lpstr>
      <vt:lpstr>Sample command line output</vt:lpstr>
      <vt:lpstr>Post analysis steps</vt:lpstr>
      <vt:lpstr>WGS approach</vt:lpstr>
      <vt:lpstr>Acknowledgements</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Khalid Akram</dc:creator>
  <cp:lastModifiedBy>Khalid Akram</cp:lastModifiedBy>
  <cp:revision>136</cp:revision>
  <dcterms:created xsi:type="dcterms:W3CDTF">2024-09-17T14:42:23Z</dcterms:created>
  <dcterms:modified xsi:type="dcterms:W3CDTF">2025-07-29T10:11:21Z</dcterms:modified>
</cp:coreProperties>
</file>