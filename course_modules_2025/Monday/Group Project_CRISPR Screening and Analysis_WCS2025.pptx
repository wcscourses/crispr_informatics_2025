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3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F1927-6756-8F00-6998-B7399722991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8F2500C8-4A64-1B95-E301-8174D53C57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22D856A6-F8C1-05C1-75A2-CFB081FFCF53}"/>
              </a:ext>
            </a:extLst>
          </p:cNvPr>
          <p:cNvSpPr>
            <a:spLocks noGrp="1"/>
          </p:cNvSpPr>
          <p:nvPr>
            <p:ph type="dt" sz="half" idx="10"/>
          </p:nvPr>
        </p:nvSpPr>
        <p:spPr/>
        <p:txBody>
          <a:bodyPr/>
          <a:lstStyle/>
          <a:p>
            <a:fld id="{782CF890-C36C-4C54-9CAF-4C3AE25A4325}" type="datetimeFigureOut">
              <a:rPr lang="en-GB" smtClean="0"/>
              <a:t>27/07/2025</a:t>
            </a:fld>
            <a:endParaRPr lang="en-GB"/>
          </a:p>
        </p:txBody>
      </p:sp>
      <p:sp>
        <p:nvSpPr>
          <p:cNvPr id="5" name="Footer Placeholder 4">
            <a:extLst>
              <a:ext uri="{FF2B5EF4-FFF2-40B4-BE49-F238E27FC236}">
                <a16:creationId xmlns:a16="http://schemas.microsoft.com/office/drawing/2014/main" id="{DE2DD368-D995-E310-A7CE-06B53EC8AB9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500CC06-A658-0187-ED6C-6C937CD62DB8}"/>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651034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F9105-FBF2-4EA5-E7E2-364013B0261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CBF026C-777E-25C6-FC47-F2A0BB6DACF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1C7A9FC-FDF6-ED1A-3AF7-7D2DA1F5021F}"/>
              </a:ext>
            </a:extLst>
          </p:cNvPr>
          <p:cNvSpPr>
            <a:spLocks noGrp="1"/>
          </p:cNvSpPr>
          <p:nvPr>
            <p:ph type="dt" sz="half" idx="10"/>
          </p:nvPr>
        </p:nvSpPr>
        <p:spPr/>
        <p:txBody>
          <a:bodyPr/>
          <a:lstStyle/>
          <a:p>
            <a:fld id="{782CF890-C36C-4C54-9CAF-4C3AE25A4325}" type="datetimeFigureOut">
              <a:rPr lang="en-GB" smtClean="0"/>
              <a:t>27/07/2025</a:t>
            </a:fld>
            <a:endParaRPr lang="en-GB"/>
          </a:p>
        </p:txBody>
      </p:sp>
      <p:sp>
        <p:nvSpPr>
          <p:cNvPr id="5" name="Footer Placeholder 4">
            <a:extLst>
              <a:ext uri="{FF2B5EF4-FFF2-40B4-BE49-F238E27FC236}">
                <a16:creationId xmlns:a16="http://schemas.microsoft.com/office/drawing/2014/main" id="{B043A233-E053-6EF4-0C30-DCE2027CF6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1F8475-0F8B-E3EA-81AF-B8EE0C8514C4}"/>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285821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37CC5-739D-8E6D-CB6F-A8EEB4B1AD2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8F6CCFDA-A1B5-4361-D876-5D5E3273DD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AC0DB52-9DAE-4578-99DA-06BEACDB1574}"/>
              </a:ext>
            </a:extLst>
          </p:cNvPr>
          <p:cNvSpPr>
            <a:spLocks noGrp="1"/>
          </p:cNvSpPr>
          <p:nvPr>
            <p:ph type="dt" sz="half" idx="10"/>
          </p:nvPr>
        </p:nvSpPr>
        <p:spPr/>
        <p:txBody>
          <a:bodyPr/>
          <a:lstStyle/>
          <a:p>
            <a:fld id="{782CF890-C36C-4C54-9CAF-4C3AE25A4325}" type="datetimeFigureOut">
              <a:rPr lang="en-GB" smtClean="0"/>
              <a:t>27/07/2025</a:t>
            </a:fld>
            <a:endParaRPr lang="en-GB"/>
          </a:p>
        </p:txBody>
      </p:sp>
      <p:sp>
        <p:nvSpPr>
          <p:cNvPr id="5" name="Footer Placeholder 4">
            <a:extLst>
              <a:ext uri="{FF2B5EF4-FFF2-40B4-BE49-F238E27FC236}">
                <a16:creationId xmlns:a16="http://schemas.microsoft.com/office/drawing/2014/main" id="{78A52EE7-E27D-1511-7923-2529A805986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78B1832-59B5-364B-82B1-4BBD89A9A01E}"/>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3748961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85CC2-C335-7CAF-535F-FA4102C469D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0F549742-5D87-3693-AC69-85D4A2FFC72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E6602A1C-55B1-1E9E-D5B1-5DD6CBC8B95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11F04339-3B09-FAB0-19A9-7F20C1E8A5CA}"/>
              </a:ext>
            </a:extLst>
          </p:cNvPr>
          <p:cNvSpPr>
            <a:spLocks noGrp="1"/>
          </p:cNvSpPr>
          <p:nvPr>
            <p:ph type="dt" sz="half" idx="10"/>
          </p:nvPr>
        </p:nvSpPr>
        <p:spPr/>
        <p:txBody>
          <a:bodyPr/>
          <a:lstStyle/>
          <a:p>
            <a:fld id="{782CF890-C36C-4C54-9CAF-4C3AE25A4325}" type="datetimeFigureOut">
              <a:rPr lang="en-GB" smtClean="0"/>
              <a:t>27/07/2025</a:t>
            </a:fld>
            <a:endParaRPr lang="en-GB"/>
          </a:p>
        </p:txBody>
      </p:sp>
      <p:sp>
        <p:nvSpPr>
          <p:cNvPr id="6" name="Footer Placeholder 5">
            <a:extLst>
              <a:ext uri="{FF2B5EF4-FFF2-40B4-BE49-F238E27FC236}">
                <a16:creationId xmlns:a16="http://schemas.microsoft.com/office/drawing/2014/main" id="{B039568C-7262-BAC2-37C9-DF8639397BC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5DD4A5-E624-A02D-D210-0961CE72C93F}"/>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3349739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03563-34FA-254F-6B5B-0F81EB48E598}"/>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D43B0C1C-77EA-C31E-7F30-80A956E1D1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F980C04-A461-FD80-BAA5-165FEC81BD9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8D2F4E7C-B74F-5AA4-855D-25F228FE23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61A661D-7D39-1184-5306-8303F6DE53C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2469DFD3-4406-30D7-FFC5-E832154C3FA2}"/>
              </a:ext>
            </a:extLst>
          </p:cNvPr>
          <p:cNvSpPr>
            <a:spLocks noGrp="1"/>
          </p:cNvSpPr>
          <p:nvPr>
            <p:ph type="dt" sz="half" idx="10"/>
          </p:nvPr>
        </p:nvSpPr>
        <p:spPr/>
        <p:txBody>
          <a:bodyPr/>
          <a:lstStyle/>
          <a:p>
            <a:fld id="{782CF890-C36C-4C54-9CAF-4C3AE25A4325}" type="datetimeFigureOut">
              <a:rPr lang="en-GB" smtClean="0"/>
              <a:t>27/07/2025</a:t>
            </a:fld>
            <a:endParaRPr lang="en-GB"/>
          </a:p>
        </p:txBody>
      </p:sp>
      <p:sp>
        <p:nvSpPr>
          <p:cNvPr id="8" name="Footer Placeholder 7">
            <a:extLst>
              <a:ext uri="{FF2B5EF4-FFF2-40B4-BE49-F238E27FC236}">
                <a16:creationId xmlns:a16="http://schemas.microsoft.com/office/drawing/2014/main" id="{A88C029D-F72A-393E-7B05-51BCE31C02D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DB5C63A-B8E8-FA96-1597-EF2E80BB0005}"/>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3386350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2C45C-C3C1-8900-1BE1-C8F3D8ED8204}"/>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44C95380-9C37-92C2-7B00-E101DD2DC8B2}"/>
              </a:ext>
            </a:extLst>
          </p:cNvPr>
          <p:cNvSpPr>
            <a:spLocks noGrp="1"/>
          </p:cNvSpPr>
          <p:nvPr>
            <p:ph type="dt" sz="half" idx="10"/>
          </p:nvPr>
        </p:nvSpPr>
        <p:spPr/>
        <p:txBody>
          <a:bodyPr/>
          <a:lstStyle/>
          <a:p>
            <a:fld id="{782CF890-C36C-4C54-9CAF-4C3AE25A4325}" type="datetimeFigureOut">
              <a:rPr lang="en-GB" smtClean="0"/>
              <a:t>27/07/2025</a:t>
            </a:fld>
            <a:endParaRPr lang="en-GB"/>
          </a:p>
        </p:txBody>
      </p:sp>
      <p:sp>
        <p:nvSpPr>
          <p:cNvPr id="4" name="Footer Placeholder 3">
            <a:extLst>
              <a:ext uri="{FF2B5EF4-FFF2-40B4-BE49-F238E27FC236}">
                <a16:creationId xmlns:a16="http://schemas.microsoft.com/office/drawing/2014/main" id="{487B04D1-FF11-4435-30B9-69C2F1E13E6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0D4B689-0F89-72C6-51BD-8BCDE7E75CE3}"/>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2298080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247C03-E53D-2823-F7ED-7ED21A553781}"/>
              </a:ext>
            </a:extLst>
          </p:cNvPr>
          <p:cNvSpPr>
            <a:spLocks noGrp="1"/>
          </p:cNvSpPr>
          <p:nvPr>
            <p:ph type="dt" sz="half" idx="10"/>
          </p:nvPr>
        </p:nvSpPr>
        <p:spPr/>
        <p:txBody>
          <a:bodyPr/>
          <a:lstStyle/>
          <a:p>
            <a:fld id="{782CF890-C36C-4C54-9CAF-4C3AE25A4325}" type="datetimeFigureOut">
              <a:rPr lang="en-GB" smtClean="0"/>
              <a:t>27/07/2025</a:t>
            </a:fld>
            <a:endParaRPr lang="en-GB"/>
          </a:p>
        </p:txBody>
      </p:sp>
      <p:sp>
        <p:nvSpPr>
          <p:cNvPr id="3" name="Footer Placeholder 2">
            <a:extLst>
              <a:ext uri="{FF2B5EF4-FFF2-40B4-BE49-F238E27FC236}">
                <a16:creationId xmlns:a16="http://schemas.microsoft.com/office/drawing/2014/main" id="{4328D190-164A-42F6-CEB3-A647EE4DAE7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00D3EF8-7EBC-A3F6-A7FA-CFE4A370DB66}"/>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4285059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A1D1F-93DA-EB45-8E91-8EF2D0E5605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5A637425-2EA1-6FF3-938F-3EE610B97E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CA6265E6-DE30-2A0A-4546-005BFCF299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3620945-3143-D9A8-83B1-651165C6BA7A}"/>
              </a:ext>
            </a:extLst>
          </p:cNvPr>
          <p:cNvSpPr>
            <a:spLocks noGrp="1"/>
          </p:cNvSpPr>
          <p:nvPr>
            <p:ph type="dt" sz="half" idx="10"/>
          </p:nvPr>
        </p:nvSpPr>
        <p:spPr/>
        <p:txBody>
          <a:bodyPr/>
          <a:lstStyle/>
          <a:p>
            <a:fld id="{782CF890-C36C-4C54-9CAF-4C3AE25A4325}" type="datetimeFigureOut">
              <a:rPr lang="en-GB" smtClean="0"/>
              <a:t>27/07/2025</a:t>
            </a:fld>
            <a:endParaRPr lang="en-GB"/>
          </a:p>
        </p:txBody>
      </p:sp>
      <p:sp>
        <p:nvSpPr>
          <p:cNvPr id="6" name="Footer Placeholder 5">
            <a:extLst>
              <a:ext uri="{FF2B5EF4-FFF2-40B4-BE49-F238E27FC236}">
                <a16:creationId xmlns:a16="http://schemas.microsoft.com/office/drawing/2014/main" id="{8EA69C0B-58B8-782B-9463-29CC3C1414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3594B66-03E6-E727-60ED-305D0A9F8E32}"/>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3678899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98101-2DED-3C81-BD4A-21D607C346C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0BCE5AA5-3062-6BF0-9157-CE1F81FA05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E358DC0-3B6F-7314-021A-AB9FF58B8D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7FB3123-FF58-C04F-9655-45D933C9E711}"/>
              </a:ext>
            </a:extLst>
          </p:cNvPr>
          <p:cNvSpPr>
            <a:spLocks noGrp="1"/>
          </p:cNvSpPr>
          <p:nvPr>
            <p:ph type="dt" sz="half" idx="10"/>
          </p:nvPr>
        </p:nvSpPr>
        <p:spPr/>
        <p:txBody>
          <a:bodyPr/>
          <a:lstStyle/>
          <a:p>
            <a:fld id="{782CF890-C36C-4C54-9CAF-4C3AE25A4325}" type="datetimeFigureOut">
              <a:rPr lang="en-GB" smtClean="0"/>
              <a:t>27/07/2025</a:t>
            </a:fld>
            <a:endParaRPr lang="en-GB"/>
          </a:p>
        </p:txBody>
      </p:sp>
      <p:sp>
        <p:nvSpPr>
          <p:cNvPr id="6" name="Footer Placeholder 5">
            <a:extLst>
              <a:ext uri="{FF2B5EF4-FFF2-40B4-BE49-F238E27FC236}">
                <a16:creationId xmlns:a16="http://schemas.microsoft.com/office/drawing/2014/main" id="{DA925B8F-C744-2CE8-3A2B-D851F7443FD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4681E1B-5E9A-CE19-048D-352732FB2845}"/>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3440939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D94C8-F105-288F-A8EF-1E49AD78AF08}"/>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2E617A25-B071-AF36-95A3-DC70CC99110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74565AA-C9DF-B8E7-DB78-2F6B6BF67951}"/>
              </a:ext>
            </a:extLst>
          </p:cNvPr>
          <p:cNvSpPr>
            <a:spLocks noGrp="1"/>
          </p:cNvSpPr>
          <p:nvPr>
            <p:ph type="dt" sz="half" idx="10"/>
          </p:nvPr>
        </p:nvSpPr>
        <p:spPr/>
        <p:txBody>
          <a:bodyPr/>
          <a:lstStyle/>
          <a:p>
            <a:fld id="{782CF890-C36C-4C54-9CAF-4C3AE25A4325}" type="datetimeFigureOut">
              <a:rPr lang="en-GB" smtClean="0"/>
              <a:t>27/07/2025</a:t>
            </a:fld>
            <a:endParaRPr lang="en-GB"/>
          </a:p>
        </p:txBody>
      </p:sp>
      <p:sp>
        <p:nvSpPr>
          <p:cNvPr id="5" name="Footer Placeholder 4">
            <a:extLst>
              <a:ext uri="{FF2B5EF4-FFF2-40B4-BE49-F238E27FC236}">
                <a16:creationId xmlns:a16="http://schemas.microsoft.com/office/drawing/2014/main" id="{3A5ADE5D-DCD0-46AA-E509-B2FB5A0384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D588782-0C90-D618-78F5-D1AAEF9290AB}"/>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3941837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AD0167-3BD3-AA4A-DC91-84B6DD26BE6B}"/>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4BEDF832-810D-4F32-405A-89EB8D0A049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82593CE-DEDC-9048-68C6-0140B0D850E3}"/>
              </a:ext>
            </a:extLst>
          </p:cNvPr>
          <p:cNvSpPr>
            <a:spLocks noGrp="1"/>
          </p:cNvSpPr>
          <p:nvPr>
            <p:ph type="dt" sz="half" idx="10"/>
          </p:nvPr>
        </p:nvSpPr>
        <p:spPr/>
        <p:txBody>
          <a:bodyPr/>
          <a:lstStyle/>
          <a:p>
            <a:fld id="{782CF890-C36C-4C54-9CAF-4C3AE25A4325}" type="datetimeFigureOut">
              <a:rPr lang="en-GB" smtClean="0"/>
              <a:t>27/07/2025</a:t>
            </a:fld>
            <a:endParaRPr lang="en-GB"/>
          </a:p>
        </p:txBody>
      </p:sp>
      <p:sp>
        <p:nvSpPr>
          <p:cNvPr id="5" name="Footer Placeholder 4">
            <a:extLst>
              <a:ext uri="{FF2B5EF4-FFF2-40B4-BE49-F238E27FC236}">
                <a16:creationId xmlns:a16="http://schemas.microsoft.com/office/drawing/2014/main" id="{344A0E27-BAE2-2E09-53F5-5E408632A3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EF0878B-54B1-B504-970F-E3C277EB1DFA}"/>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477899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636348-8AC5-6E23-E343-8B3B5E497B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4C5BFCA6-15BD-BD89-6453-C28DC49A7B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9395F48-89F1-9E67-943D-CE8FA8058B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2CF890-C36C-4C54-9CAF-4C3AE25A4325}" type="datetimeFigureOut">
              <a:rPr lang="en-GB" smtClean="0"/>
              <a:t>27/07/2025</a:t>
            </a:fld>
            <a:endParaRPr lang="en-GB"/>
          </a:p>
        </p:txBody>
      </p:sp>
      <p:sp>
        <p:nvSpPr>
          <p:cNvPr id="5" name="Footer Placeholder 4">
            <a:extLst>
              <a:ext uri="{FF2B5EF4-FFF2-40B4-BE49-F238E27FC236}">
                <a16:creationId xmlns:a16="http://schemas.microsoft.com/office/drawing/2014/main" id="{87848C07-FDA1-887A-23B5-C0190EACD2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480CD068-DA87-A55E-8390-FAB09FB72C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F37EA9-1CF4-47F9-9043-1C1C668D6D9D}" type="slidenum">
              <a:rPr lang="en-GB" smtClean="0"/>
              <a:t>‹#›</a:t>
            </a:fld>
            <a:endParaRPr lang="en-GB"/>
          </a:p>
        </p:txBody>
      </p:sp>
    </p:spTree>
    <p:extLst>
      <p:ext uri="{BB962C8B-B14F-4D97-AF65-F5344CB8AC3E}">
        <p14:creationId xmlns:p14="http://schemas.microsoft.com/office/powerpoint/2010/main" val="8506501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56173-D08D-5D86-6A1B-987A1ED4FE63}"/>
              </a:ext>
            </a:extLst>
          </p:cNvPr>
          <p:cNvSpPr>
            <a:spLocks noGrp="1"/>
          </p:cNvSpPr>
          <p:nvPr>
            <p:ph type="ctrTitle"/>
          </p:nvPr>
        </p:nvSpPr>
        <p:spPr/>
        <p:txBody>
          <a:bodyPr/>
          <a:lstStyle/>
          <a:p>
            <a:r>
              <a:rPr lang="en-GB" dirty="0"/>
              <a:t>Group Project</a:t>
            </a:r>
          </a:p>
        </p:txBody>
      </p:sp>
      <p:sp>
        <p:nvSpPr>
          <p:cNvPr id="3" name="Subtitle 2">
            <a:extLst>
              <a:ext uri="{FF2B5EF4-FFF2-40B4-BE49-F238E27FC236}">
                <a16:creationId xmlns:a16="http://schemas.microsoft.com/office/drawing/2014/main" id="{3C63C5D4-6D6D-12C1-AEE3-9CA17A4F20B1}"/>
              </a:ext>
            </a:extLst>
          </p:cNvPr>
          <p:cNvSpPr>
            <a:spLocks noGrp="1"/>
          </p:cNvSpPr>
          <p:nvPr>
            <p:ph type="subTitle" idx="1"/>
          </p:nvPr>
        </p:nvSpPr>
        <p:spPr/>
        <p:txBody>
          <a:bodyPr>
            <a:normAutofit lnSpcReduction="10000"/>
          </a:bodyPr>
          <a:lstStyle/>
          <a:p>
            <a:pPr>
              <a:lnSpc>
                <a:spcPts val="464"/>
              </a:lnSpc>
            </a:pPr>
            <a:endParaRPr lang="en-US" sz="1400" b="1" dirty="0">
              <a:solidFill>
                <a:srgbClr val="E51E2F"/>
              </a:solidFill>
              <a:latin typeface="Helvetica Neue LT Pro Bold"/>
              <a:ea typeface="Helvetica Neue LT Pro Bold"/>
              <a:cs typeface="Helvetica Neue LT Pro Bold"/>
              <a:sym typeface="Helvetica Neue LT Pro Bold"/>
            </a:endParaRPr>
          </a:p>
          <a:p>
            <a:pPr>
              <a:lnSpc>
                <a:spcPts val="3658"/>
              </a:lnSpc>
            </a:pPr>
            <a:r>
              <a:rPr lang="en-US" b="1" dirty="0">
                <a:solidFill>
                  <a:srgbClr val="000000"/>
                </a:solidFill>
                <a:latin typeface="Helvetica Neue LT Pro Bold"/>
                <a:ea typeface="Helvetica Neue LT Pro Bold"/>
                <a:cs typeface="Helvetica Neue LT Pro Bold"/>
                <a:sym typeface="Helvetica Neue LT Pro Bold"/>
              </a:rPr>
              <a:t>CRISPR Screening and Analysis </a:t>
            </a:r>
          </a:p>
          <a:p>
            <a:r>
              <a:rPr lang="en-US" b="1" dirty="0">
                <a:solidFill>
                  <a:srgbClr val="E51E2F"/>
                </a:solidFill>
                <a:latin typeface="Helvetica Neue LT Pro Bold"/>
                <a:ea typeface="Helvetica Neue LT Pro Bold"/>
                <a:cs typeface="Helvetica Neue LT Pro Bold"/>
                <a:sym typeface="Helvetica Neue LT Pro Bold"/>
              </a:rPr>
              <a:t>Online learning week</a:t>
            </a:r>
          </a:p>
          <a:p>
            <a:r>
              <a:rPr lang="en-US" dirty="0">
                <a:solidFill>
                  <a:srgbClr val="E51E2F"/>
                </a:solidFill>
                <a:latin typeface="Helvetica Neue LT Pro"/>
                <a:ea typeface="Helvetica Neue LT Pro"/>
                <a:cs typeface="Helvetica Neue LT Pro"/>
                <a:sym typeface="Helvetica Neue LT Pro"/>
              </a:rPr>
              <a:t>28 July - 1 August</a:t>
            </a:r>
            <a:endParaRPr lang="en-GB" dirty="0"/>
          </a:p>
        </p:txBody>
      </p:sp>
      <p:sp>
        <p:nvSpPr>
          <p:cNvPr id="4" name="Freeform 2">
            <a:extLst>
              <a:ext uri="{FF2B5EF4-FFF2-40B4-BE49-F238E27FC236}">
                <a16:creationId xmlns:a16="http://schemas.microsoft.com/office/drawing/2014/main" id="{19190CB3-9BAF-C75A-05BF-E20136809CEC}"/>
              </a:ext>
            </a:extLst>
          </p:cNvPr>
          <p:cNvSpPr/>
          <p:nvPr/>
        </p:nvSpPr>
        <p:spPr>
          <a:xfrm>
            <a:off x="277362" y="243039"/>
            <a:ext cx="2232925" cy="787250"/>
          </a:xfrm>
          <a:custGeom>
            <a:avLst/>
            <a:gdLst/>
            <a:ahLst/>
            <a:cxnLst/>
            <a:rect l="l" t="t" r="r" b="b"/>
            <a:pathLst>
              <a:path w="2905195" h="868058">
                <a:moveTo>
                  <a:pt x="0" y="0"/>
                </a:moveTo>
                <a:lnTo>
                  <a:pt x="2905196" y="0"/>
                </a:lnTo>
                <a:lnTo>
                  <a:pt x="2905196" y="868058"/>
                </a:lnTo>
                <a:lnTo>
                  <a:pt x="0" y="868058"/>
                </a:lnTo>
                <a:lnTo>
                  <a:pt x="0" y="0"/>
                </a:lnTo>
                <a:close/>
              </a:path>
            </a:pathLst>
          </a:custGeom>
          <a:blipFill>
            <a:blip r:embed="rId2"/>
            <a:stretch>
              <a:fillRect/>
            </a:stretch>
          </a:blipFill>
        </p:spPr>
        <p:txBody>
          <a:bodyPr/>
          <a:lstStyle/>
          <a:p>
            <a:endParaRPr lang="en-GB" sz="1200"/>
          </a:p>
        </p:txBody>
      </p:sp>
      <p:pic>
        <p:nvPicPr>
          <p:cNvPr id="1026" name="Picture 2" descr="Sanger – WGC">
            <a:extLst>
              <a:ext uri="{FF2B5EF4-FFF2-40B4-BE49-F238E27FC236}">
                <a16:creationId xmlns:a16="http://schemas.microsoft.com/office/drawing/2014/main" id="{47FB2DB9-636E-EDAB-CFEC-4E94DBC22D2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007" b="20972"/>
          <a:stretch/>
        </p:blipFill>
        <p:spPr bwMode="auto">
          <a:xfrm>
            <a:off x="9173936" y="-85336"/>
            <a:ext cx="2641290" cy="129303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DED6D4C-EA8B-7BDB-A52D-5596DBDBFB3E}"/>
              </a:ext>
            </a:extLst>
          </p:cNvPr>
          <p:cNvSpPr txBox="1"/>
          <p:nvPr/>
        </p:nvSpPr>
        <p:spPr>
          <a:xfrm>
            <a:off x="97047" y="6488668"/>
            <a:ext cx="6094562" cy="276999"/>
          </a:xfrm>
          <a:prstGeom prst="rect">
            <a:avLst/>
          </a:prstGeom>
          <a:noFill/>
        </p:spPr>
        <p:txBody>
          <a:bodyPr wrap="square">
            <a:spAutoFit/>
          </a:bodyPr>
          <a:lstStyle/>
          <a:p>
            <a:pPr>
              <a:tabLst>
                <a:tab pos="2865755" algn="ctr"/>
                <a:tab pos="5731510" algn="r"/>
              </a:tabLst>
            </a:pPr>
            <a:r>
              <a:rPr lang="en-GB" sz="1200" i="1" kern="100" dirty="0">
                <a:effectLst/>
                <a:latin typeface="Aptos" panose="020B0004020202020204" pitchFamily="34" charset="0"/>
                <a:ea typeface="Aptos" panose="020B0004020202020204" pitchFamily="34" charset="0"/>
                <a:cs typeface="Times New Roman" panose="02020603050405020304" pitchFamily="18" charset="0"/>
              </a:rPr>
              <a:t>Matt Coelho &amp; Kalpana Surendranath 2025 WCS CRISPR </a:t>
            </a:r>
          </a:p>
        </p:txBody>
      </p:sp>
    </p:spTree>
    <p:extLst>
      <p:ext uri="{BB962C8B-B14F-4D97-AF65-F5344CB8AC3E}">
        <p14:creationId xmlns:p14="http://schemas.microsoft.com/office/powerpoint/2010/main" val="576633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BEC6764-3DAF-02E2-4CD6-1592953D9C2D}"/>
              </a:ext>
            </a:extLst>
          </p:cNvPr>
          <p:cNvSpPr/>
          <p:nvPr/>
        </p:nvSpPr>
        <p:spPr>
          <a:xfrm>
            <a:off x="994913" y="2346385"/>
            <a:ext cx="10358887" cy="1600200"/>
          </a:xfrm>
          <a:prstGeom prst="rect">
            <a:avLst/>
          </a:prstGeom>
          <a:solidFill>
            <a:schemeClr val="tx2">
              <a:lumMod val="10000"/>
              <a:lumOff val="90000"/>
            </a:schemeClr>
          </a:solidFill>
          <a:effectLst>
            <a:innerShdw blurRad="63500" dist="50800" dir="108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Arial" panose="020B0604020202020204" pitchFamily="34" charset="0"/>
                <a:cs typeface="Arial" panose="020B0604020202020204" pitchFamily="34" charset="0"/>
              </a:rPr>
              <a:t>A missense mutation in the coding region of the gene </a:t>
            </a:r>
            <a:r>
              <a:rPr lang="en-GB" sz="2400" b="1" i="1" dirty="0">
                <a:solidFill>
                  <a:schemeClr val="tx1"/>
                </a:solidFill>
                <a:latin typeface="Arial" panose="020B0604020202020204" pitchFamily="34" charset="0"/>
                <a:cs typeface="Arial" panose="020B0604020202020204" pitchFamily="34" charset="0"/>
              </a:rPr>
              <a:t>SRY </a:t>
            </a:r>
            <a:r>
              <a:rPr lang="en-GB" sz="2400" b="1" dirty="0">
                <a:solidFill>
                  <a:schemeClr val="tx1"/>
                </a:solidFill>
                <a:latin typeface="Arial" panose="020B0604020202020204" pitchFamily="34" charset="0"/>
                <a:cs typeface="Arial" panose="020B0604020202020204" pitchFamily="34" charset="0"/>
              </a:rPr>
              <a:t>gene (g.2787144A&gt;G, p.C154R)</a:t>
            </a:r>
            <a:r>
              <a:rPr lang="en-GB" sz="2400" b="1" i="1" dirty="0">
                <a:solidFill>
                  <a:schemeClr val="tx1"/>
                </a:solidFill>
                <a:latin typeface="Arial" panose="020B0604020202020204" pitchFamily="34" charset="0"/>
                <a:cs typeface="Arial" panose="020B0604020202020204" pitchFamily="34" charset="0"/>
              </a:rPr>
              <a:t> </a:t>
            </a:r>
            <a:r>
              <a:rPr lang="en-GB" sz="2400" dirty="0">
                <a:solidFill>
                  <a:schemeClr val="tx1"/>
                </a:solidFill>
                <a:latin typeface="Arial" panose="020B0604020202020204" pitchFamily="34" charset="0"/>
                <a:cs typeface="Arial" panose="020B0604020202020204" pitchFamily="34" charset="0"/>
              </a:rPr>
              <a:t>has recently been found to alter the expression of the protein. This leads to an uncommon disorder in men. </a:t>
            </a:r>
          </a:p>
          <a:p>
            <a:pPr algn="ctr"/>
            <a:endParaRPr lang="en-GB" dirty="0"/>
          </a:p>
        </p:txBody>
      </p:sp>
      <p:sp>
        <p:nvSpPr>
          <p:cNvPr id="2" name="Title 1">
            <a:extLst>
              <a:ext uri="{FF2B5EF4-FFF2-40B4-BE49-F238E27FC236}">
                <a16:creationId xmlns:a16="http://schemas.microsoft.com/office/drawing/2014/main" id="{41F7B049-4EE7-B36A-A074-1AA508FB0E8A}"/>
              </a:ext>
            </a:extLst>
          </p:cNvPr>
          <p:cNvSpPr>
            <a:spLocks noGrp="1"/>
          </p:cNvSpPr>
          <p:nvPr>
            <p:ph type="title"/>
          </p:nvPr>
        </p:nvSpPr>
        <p:spPr/>
        <p:txBody>
          <a:bodyPr/>
          <a:lstStyle/>
          <a:p>
            <a:r>
              <a:rPr lang="en-GB" dirty="0"/>
              <a:t>Group Project</a:t>
            </a:r>
          </a:p>
        </p:txBody>
      </p:sp>
      <p:sp>
        <p:nvSpPr>
          <p:cNvPr id="3" name="Content Placeholder 2">
            <a:extLst>
              <a:ext uri="{FF2B5EF4-FFF2-40B4-BE49-F238E27FC236}">
                <a16:creationId xmlns:a16="http://schemas.microsoft.com/office/drawing/2014/main" id="{59BD8A1C-A980-D000-01A9-55A71B1C3B7A}"/>
              </a:ext>
            </a:extLst>
          </p:cNvPr>
          <p:cNvSpPr>
            <a:spLocks noGrp="1"/>
          </p:cNvSpPr>
          <p:nvPr>
            <p:ph idx="1"/>
          </p:nvPr>
        </p:nvSpPr>
        <p:spPr>
          <a:xfrm>
            <a:off x="933809" y="3287991"/>
            <a:ext cx="10515600" cy="1603375"/>
          </a:xfrm>
        </p:spPr>
        <p:txBody>
          <a:bodyPr>
            <a:normAutofit/>
          </a:bodyPr>
          <a:lstStyle/>
          <a:p>
            <a:pPr marL="0" indent="0">
              <a:buNone/>
            </a:pPr>
            <a:endParaRPr lang="en-GB" dirty="0"/>
          </a:p>
          <a:p>
            <a:pPr marL="0" indent="0">
              <a:buNone/>
            </a:pPr>
            <a:endParaRPr lang="en-GB" dirty="0"/>
          </a:p>
        </p:txBody>
      </p:sp>
      <p:sp>
        <p:nvSpPr>
          <p:cNvPr id="5" name="TextBox 4">
            <a:extLst>
              <a:ext uri="{FF2B5EF4-FFF2-40B4-BE49-F238E27FC236}">
                <a16:creationId xmlns:a16="http://schemas.microsoft.com/office/drawing/2014/main" id="{494BCFDB-C379-799E-6DF8-82841526294A}"/>
              </a:ext>
            </a:extLst>
          </p:cNvPr>
          <p:cNvSpPr txBox="1"/>
          <p:nvPr/>
        </p:nvSpPr>
        <p:spPr>
          <a:xfrm>
            <a:off x="97047" y="6488668"/>
            <a:ext cx="6094562" cy="276999"/>
          </a:xfrm>
          <a:prstGeom prst="rect">
            <a:avLst/>
          </a:prstGeom>
          <a:noFill/>
        </p:spPr>
        <p:txBody>
          <a:bodyPr wrap="square">
            <a:spAutoFit/>
          </a:bodyPr>
          <a:lstStyle/>
          <a:p>
            <a:pPr>
              <a:tabLst>
                <a:tab pos="2865755" algn="ctr"/>
                <a:tab pos="5731510" algn="r"/>
              </a:tabLst>
            </a:pPr>
            <a:r>
              <a:rPr lang="en-GB" sz="1200" i="1" kern="100" dirty="0">
                <a:effectLst/>
                <a:latin typeface="Aptos" panose="020B0004020202020204" pitchFamily="34" charset="0"/>
                <a:ea typeface="Aptos" panose="020B0004020202020204" pitchFamily="34" charset="0"/>
                <a:cs typeface="Times New Roman" panose="02020603050405020304" pitchFamily="18" charset="0"/>
              </a:rPr>
              <a:t>Matt Coelho &amp; Kalpana Surendranath 2025 WCS CRISPR </a:t>
            </a:r>
          </a:p>
        </p:txBody>
      </p:sp>
      <p:sp>
        <p:nvSpPr>
          <p:cNvPr id="8" name="TextBox 7">
            <a:extLst>
              <a:ext uri="{FF2B5EF4-FFF2-40B4-BE49-F238E27FC236}">
                <a16:creationId xmlns:a16="http://schemas.microsoft.com/office/drawing/2014/main" id="{2F40C7BF-868D-19B7-F21A-D694FFF20520}"/>
              </a:ext>
            </a:extLst>
          </p:cNvPr>
          <p:cNvSpPr txBox="1"/>
          <p:nvPr/>
        </p:nvSpPr>
        <p:spPr>
          <a:xfrm>
            <a:off x="1820796" y="4283571"/>
            <a:ext cx="8707120" cy="923330"/>
          </a:xfrm>
          <a:prstGeom prst="rect">
            <a:avLst/>
          </a:prstGeom>
          <a:noFill/>
        </p:spPr>
        <p:txBody>
          <a:bodyPr wrap="square">
            <a:spAutoFit/>
          </a:bodyPr>
          <a:lstStyle/>
          <a:p>
            <a:r>
              <a:rPr lang="en-GB" dirty="0"/>
              <a:t>The presence of the mutation does not always lead to disease, suggesting there are other factors at play. Your research team have been tasked with identifying genes involved in disease progression - particularly new drug targets to reverse the disorder. </a:t>
            </a:r>
          </a:p>
        </p:txBody>
      </p:sp>
    </p:spTree>
    <p:extLst>
      <p:ext uri="{BB962C8B-B14F-4D97-AF65-F5344CB8AC3E}">
        <p14:creationId xmlns:p14="http://schemas.microsoft.com/office/powerpoint/2010/main" val="2114716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4A34E-C636-8DED-0A52-70C09A36C7E2}"/>
              </a:ext>
            </a:extLst>
          </p:cNvPr>
          <p:cNvSpPr>
            <a:spLocks noGrp="1"/>
          </p:cNvSpPr>
          <p:nvPr>
            <p:ph type="title"/>
          </p:nvPr>
        </p:nvSpPr>
        <p:spPr/>
        <p:txBody>
          <a:bodyPr/>
          <a:lstStyle/>
          <a:p>
            <a:r>
              <a:rPr lang="en-GB" dirty="0"/>
              <a:t>Groups’ tasks</a:t>
            </a:r>
          </a:p>
        </p:txBody>
      </p:sp>
      <p:sp>
        <p:nvSpPr>
          <p:cNvPr id="3" name="Content Placeholder 2">
            <a:extLst>
              <a:ext uri="{FF2B5EF4-FFF2-40B4-BE49-F238E27FC236}">
                <a16:creationId xmlns:a16="http://schemas.microsoft.com/office/drawing/2014/main" id="{10810E80-8A1B-390A-292B-FA4242A1CA12}"/>
              </a:ext>
            </a:extLst>
          </p:cNvPr>
          <p:cNvSpPr>
            <a:spLocks noGrp="1"/>
          </p:cNvSpPr>
          <p:nvPr>
            <p:ph idx="1"/>
          </p:nvPr>
        </p:nvSpPr>
        <p:spPr/>
        <p:txBody>
          <a:bodyPr>
            <a:normAutofit/>
          </a:bodyPr>
          <a:lstStyle/>
          <a:p>
            <a:pPr marL="0" indent="0">
              <a:buNone/>
            </a:pPr>
            <a:endParaRPr lang="en-GB" dirty="0"/>
          </a:p>
          <a:p>
            <a:pPr marL="514350" lvl="0" indent="-514350">
              <a:buAutoNum type="arabicParenR"/>
            </a:pPr>
            <a:r>
              <a:rPr lang="en-GB" dirty="0"/>
              <a:t>Describe a CRISPR-based workflow to introduce the mutation in </a:t>
            </a:r>
            <a:r>
              <a:rPr lang="en-GB" i="1" dirty="0"/>
              <a:t>SRY</a:t>
            </a:r>
            <a:r>
              <a:rPr lang="en-GB" dirty="0"/>
              <a:t> in an appropriate cell model and verify the mutation. </a:t>
            </a:r>
          </a:p>
          <a:p>
            <a:pPr marL="514350" lvl="0" indent="-514350">
              <a:buAutoNum type="arabicParenR"/>
            </a:pPr>
            <a:r>
              <a:rPr lang="en-GB" dirty="0"/>
              <a:t>Describe how you would design a CRISPR KO screen to identify modulators of </a:t>
            </a:r>
            <a:r>
              <a:rPr lang="en-GB" i="1" dirty="0"/>
              <a:t>SRY</a:t>
            </a:r>
            <a:r>
              <a:rPr lang="en-GB" dirty="0"/>
              <a:t> expression in this modified cell model.</a:t>
            </a:r>
          </a:p>
          <a:p>
            <a:pPr marL="514350" lvl="0" indent="-514350">
              <a:buAutoNum type="arabicParenR"/>
            </a:pPr>
            <a:r>
              <a:rPr lang="en-GB" dirty="0"/>
              <a:t>Describe next steps after the screen, including a validation strategy.</a:t>
            </a:r>
          </a:p>
          <a:p>
            <a:pPr marL="0" lvl="0" indent="0">
              <a:buNone/>
            </a:pPr>
            <a:endParaRPr lang="en-GB" dirty="0"/>
          </a:p>
          <a:p>
            <a:pPr marL="0" indent="0">
              <a:buNone/>
            </a:pPr>
            <a:r>
              <a:rPr lang="en-GB" sz="1800" i="1" dirty="0"/>
              <a:t>                    For each step, give a </a:t>
            </a:r>
            <a:r>
              <a:rPr lang="en-GB" sz="1800" b="1" i="1" dirty="0"/>
              <a:t>rationale</a:t>
            </a:r>
            <a:r>
              <a:rPr lang="en-GB" sz="1800" i="1" dirty="0"/>
              <a:t> for your approach and describe the </a:t>
            </a:r>
            <a:r>
              <a:rPr lang="en-GB" sz="1800" b="1" i="1" dirty="0"/>
              <a:t>analysis</a:t>
            </a:r>
            <a:r>
              <a:rPr lang="en-GB" sz="1800" i="1" dirty="0"/>
              <a:t> in each case. </a:t>
            </a:r>
          </a:p>
          <a:p>
            <a:endParaRPr lang="en-GB" dirty="0"/>
          </a:p>
        </p:txBody>
      </p:sp>
      <p:sp>
        <p:nvSpPr>
          <p:cNvPr id="5" name="TextBox 4">
            <a:extLst>
              <a:ext uri="{FF2B5EF4-FFF2-40B4-BE49-F238E27FC236}">
                <a16:creationId xmlns:a16="http://schemas.microsoft.com/office/drawing/2014/main" id="{A93F73A5-485E-AF59-B83F-723F2A8E2694}"/>
              </a:ext>
            </a:extLst>
          </p:cNvPr>
          <p:cNvSpPr txBox="1"/>
          <p:nvPr/>
        </p:nvSpPr>
        <p:spPr>
          <a:xfrm>
            <a:off x="1438" y="6581001"/>
            <a:ext cx="6094562" cy="276999"/>
          </a:xfrm>
          <a:prstGeom prst="rect">
            <a:avLst/>
          </a:prstGeom>
          <a:noFill/>
        </p:spPr>
        <p:txBody>
          <a:bodyPr wrap="square">
            <a:spAutoFit/>
          </a:bodyPr>
          <a:lstStyle/>
          <a:p>
            <a:pPr>
              <a:tabLst>
                <a:tab pos="2865755" algn="ctr"/>
                <a:tab pos="5731510" algn="r"/>
              </a:tabLst>
            </a:pPr>
            <a:r>
              <a:rPr lang="en-GB" sz="1200" i="1" kern="100" dirty="0">
                <a:effectLst/>
                <a:latin typeface="Aptos" panose="020B0004020202020204" pitchFamily="34" charset="0"/>
                <a:ea typeface="Aptos" panose="020B0004020202020204" pitchFamily="34" charset="0"/>
                <a:cs typeface="Times New Roman" panose="02020603050405020304" pitchFamily="18" charset="0"/>
              </a:rPr>
              <a:t>Matt Coelho &amp; Kalpana Surendranath 2025 WCS CRISPR </a:t>
            </a:r>
          </a:p>
        </p:txBody>
      </p:sp>
      <p:pic>
        <p:nvPicPr>
          <p:cNvPr id="6" name="Picture 5">
            <a:extLst>
              <a:ext uri="{FF2B5EF4-FFF2-40B4-BE49-F238E27FC236}">
                <a16:creationId xmlns:a16="http://schemas.microsoft.com/office/drawing/2014/main" id="{C247E0FD-8C08-F1E3-29F0-2F247F50EDDA}"/>
              </a:ext>
            </a:extLst>
          </p:cNvPr>
          <p:cNvPicPr>
            <a:picLocks noChangeAspect="1"/>
          </p:cNvPicPr>
          <p:nvPr/>
        </p:nvPicPr>
        <p:blipFill>
          <a:blip r:embed="rId2"/>
          <a:stretch>
            <a:fillRect/>
          </a:stretch>
        </p:blipFill>
        <p:spPr>
          <a:xfrm>
            <a:off x="9056915" y="84364"/>
            <a:ext cx="2881312" cy="2013705"/>
          </a:xfrm>
          <a:prstGeom prst="rect">
            <a:avLst/>
          </a:prstGeom>
        </p:spPr>
      </p:pic>
    </p:spTree>
    <p:extLst>
      <p:ext uri="{BB962C8B-B14F-4D97-AF65-F5344CB8AC3E}">
        <p14:creationId xmlns:p14="http://schemas.microsoft.com/office/powerpoint/2010/main" val="4059746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964F9-958D-FD62-3201-10F00C010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C49392-9EB0-1BF8-37FA-AFD98E000B52}"/>
              </a:ext>
            </a:extLst>
          </p:cNvPr>
          <p:cNvSpPr>
            <a:spLocks noGrp="1"/>
          </p:cNvSpPr>
          <p:nvPr>
            <p:ph type="title"/>
          </p:nvPr>
        </p:nvSpPr>
        <p:spPr/>
        <p:txBody>
          <a:bodyPr>
            <a:normAutofit/>
          </a:bodyPr>
          <a:lstStyle/>
          <a:p>
            <a:r>
              <a:rPr lang="en-GB" sz="2800" b="1" dirty="0"/>
              <a:t>Modelling the</a:t>
            </a:r>
            <a:r>
              <a:rPr lang="en-GB" sz="2800" b="1" i="1" dirty="0"/>
              <a:t> SRY</a:t>
            </a:r>
            <a:r>
              <a:rPr lang="en-GB" sz="2800" b="1" dirty="0"/>
              <a:t> Promoter Mutation - </a:t>
            </a:r>
            <a:r>
              <a:rPr lang="en-GB" sz="2400" dirty="0"/>
              <a:t>Pointers</a:t>
            </a:r>
          </a:p>
        </p:txBody>
      </p:sp>
      <p:sp>
        <p:nvSpPr>
          <p:cNvPr id="3" name="Content Placeholder 2">
            <a:extLst>
              <a:ext uri="{FF2B5EF4-FFF2-40B4-BE49-F238E27FC236}">
                <a16:creationId xmlns:a16="http://schemas.microsoft.com/office/drawing/2014/main" id="{7479F1A0-69EF-C4E8-2DFB-7ED25B0C63CD}"/>
              </a:ext>
            </a:extLst>
          </p:cNvPr>
          <p:cNvSpPr>
            <a:spLocks noGrp="1"/>
          </p:cNvSpPr>
          <p:nvPr>
            <p:ph idx="1"/>
          </p:nvPr>
        </p:nvSpPr>
        <p:spPr/>
        <p:txBody>
          <a:bodyPr>
            <a:normAutofit/>
          </a:bodyPr>
          <a:lstStyle/>
          <a:p>
            <a:pPr lvl="0"/>
            <a:endParaRPr lang="en-GB" sz="2200" dirty="0"/>
          </a:p>
          <a:p>
            <a:pPr lvl="0"/>
            <a:r>
              <a:rPr lang="en-GB" sz="2200" dirty="0"/>
              <a:t> What is your model system?</a:t>
            </a:r>
          </a:p>
          <a:p>
            <a:pPr lvl="0"/>
            <a:r>
              <a:rPr lang="en-GB" sz="2200" dirty="0"/>
              <a:t> Should it naturally express SRY?  How about the efficiency of genetic manipulation?</a:t>
            </a:r>
          </a:p>
          <a:p>
            <a:pPr lvl="0"/>
            <a:r>
              <a:rPr lang="en-GB" sz="2200" dirty="0"/>
              <a:t>Your choice of CRISPR tools to introduce  a precise genetic alteration</a:t>
            </a:r>
          </a:p>
          <a:p>
            <a:pPr lvl="0"/>
            <a:r>
              <a:rPr lang="en-GB" sz="2200" dirty="0"/>
              <a:t>Optimal method to provide correct copies of the DNA? How would you deliver the tools into the cells?</a:t>
            </a:r>
          </a:p>
          <a:p>
            <a:pPr lvl="0"/>
            <a:r>
              <a:rPr lang="en-GB" sz="2200" dirty="0"/>
              <a:t>What methods will allow you to screen for the correction? </a:t>
            </a:r>
          </a:p>
          <a:p>
            <a:pPr lvl="0"/>
            <a:r>
              <a:rPr lang="en-GB" sz="2200" dirty="0"/>
              <a:t>What methods can be used to measure both RNA and protein levels? </a:t>
            </a:r>
            <a:endParaRPr lang="en-GB" dirty="0"/>
          </a:p>
        </p:txBody>
      </p:sp>
      <p:sp>
        <p:nvSpPr>
          <p:cNvPr id="5" name="TextBox 4">
            <a:extLst>
              <a:ext uri="{FF2B5EF4-FFF2-40B4-BE49-F238E27FC236}">
                <a16:creationId xmlns:a16="http://schemas.microsoft.com/office/drawing/2014/main" id="{A22FCA8E-135B-82F2-C8BA-25170F11CE46}"/>
              </a:ext>
            </a:extLst>
          </p:cNvPr>
          <p:cNvSpPr txBox="1"/>
          <p:nvPr/>
        </p:nvSpPr>
        <p:spPr>
          <a:xfrm>
            <a:off x="1438" y="6581001"/>
            <a:ext cx="6094562" cy="276999"/>
          </a:xfrm>
          <a:prstGeom prst="rect">
            <a:avLst/>
          </a:prstGeom>
          <a:noFill/>
        </p:spPr>
        <p:txBody>
          <a:bodyPr wrap="square">
            <a:spAutoFit/>
          </a:bodyPr>
          <a:lstStyle/>
          <a:p>
            <a:pPr>
              <a:tabLst>
                <a:tab pos="2865755" algn="ctr"/>
                <a:tab pos="5731510" algn="r"/>
              </a:tabLst>
            </a:pPr>
            <a:r>
              <a:rPr lang="en-GB" sz="1200" i="1" kern="100" dirty="0">
                <a:effectLst/>
                <a:latin typeface="Aptos" panose="020B0004020202020204" pitchFamily="34" charset="0"/>
                <a:ea typeface="Aptos" panose="020B0004020202020204" pitchFamily="34" charset="0"/>
                <a:cs typeface="Times New Roman" panose="02020603050405020304" pitchFamily="18" charset="0"/>
              </a:rPr>
              <a:t>Matt Coelho &amp; Kalpana Surendranath 2025 WCS CRISPR </a:t>
            </a:r>
          </a:p>
        </p:txBody>
      </p:sp>
      <p:pic>
        <p:nvPicPr>
          <p:cNvPr id="6" name="Picture 5">
            <a:extLst>
              <a:ext uri="{FF2B5EF4-FFF2-40B4-BE49-F238E27FC236}">
                <a16:creationId xmlns:a16="http://schemas.microsoft.com/office/drawing/2014/main" id="{930550AD-9743-64C0-92CD-14C4B0EB3EC4}"/>
              </a:ext>
            </a:extLst>
          </p:cNvPr>
          <p:cNvPicPr>
            <a:picLocks noChangeAspect="1"/>
          </p:cNvPicPr>
          <p:nvPr/>
        </p:nvPicPr>
        <p:blipFill>
          <a:blip r:embed="rId2"/>
          <a:stretch>
            <a:fillRect/>
          </a:stretch>
        </p:blipFill>
        <p:spPr>
          <a:xfrm>
            <a:off x="9840686" y="96498"/>
            <a:ext cx="1741713" cy="1741713"/>
          </a:xfrm>
          <a:prstGeom prst="rect">
            <a:avLst/>
          </a:prstGeom>
        </p:spPr>
      </p:pic>
    </p:spTree>
    <p:extLst>
      <p:ext uri="{BB962C8B-B14F-4D97-AF65-F5344CB8AC3E}">
        <p14:creationId xmlns:p14="http://schemas.microsoft.com/office/powerpoint/2010/main" val="3882090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C1317-D8B0-D573-1195-1709FA905B9D}"/>
              </a:ext>
            </a:extLst>
          </p:cNvPr>
          <p:cNvSpPr>
            <a:spLocks noGrp="1"/>
          </p:cNvSpPr>
          <p:nvPr>
            <p:ph type="title"/>
          </p:nvPr>
        </p:nvSpPr>
        <p:spPr/>
        <p:txBody>
          <a:bodyPr/>
          <a:lstStyle/>
          <a:p>
            <a:r>
              <a:rPr lang="en-GB" sz="2800" b="1" dirty="0"/>
              <a:t>CRISPR Knockout Screen -</a:t>
            </a:r>
            <a:r>
              <a:rPr lang="en-GB" sz="2800" dirty="0"/>
              <a:t> </a:t>
            </a:r>
            <a:r>
              <a:rPr lang="en-GB" sz="2400" dirty="0"/>
              <a:t>Pointers</a:t>
            </a:r>
            <a:r>
              <a:rPr lang="en-GB" sz="2800" b="1" dirty="0"/>
              <a:t>  </a:t>
            </a:r>
            <a:br>
              <a:rPr lang="en-GB" dirty="0"/>
            </a:br>
            <a:endParaRPr lang="en-GB" dirty="0"/>
          </a:p>
        </p:txBody>
      </p:sp>
      <p:sp>
        <p:nvSpPr>
          <p:cNvPr id="3" name="Content Placeholder 2">
            <a:extLst>
              <a:ext uri="{FF2B5EF4-FFF2-40B4-BE49-F238E27FC236}">
                <a16:creationId xmlns:a16="http://schemas.microsoft.com/office/drawing/2014/main" id="{921E9896-9D82-3453-F3F9-99660738165E}"/>
              </a:ext>
            </a:extLst>
          </p:cNvPr>
          <p:cNvSpPr>
            <a:spLocks noGrp="1"/>
          </p:cNvSpPr>
          <p:nvPr>
            <p:ph idx="1"/>
          </p:nvPr>
        </p:nvSpPr>
        <p:spPr>
          <a:xfrm>
            <a:off x="838200" y="2141537"/>
            <a:ext cx="10515600" cy="4351338"/>
          </a:xfrm>
        </p:spPr>
        <p:txBody>
          <a:bodyPr>
            <a:normAutofit/>
          </a:bodyPr>
          <a:lstStyle/>
          <a:p>
            <a:pPr lvl="0"/>
            <a:endParaRPr lang="en-GB" sz="2200" dirty="0"/>
          </a:p>
          <a:p>
            <a:pPr lvl="0"/>
            <a:r>
              <a:rPr lang="en-GB" sz="2200" dirty="0"/>
              <a:t>How will you ensure the mutation is present? What factors will limit your analysis of more genes? </a:t>
            </a:r>
          </a:p>
          <a:p>
            <a:pPr lvl="0"/>
            <a:r>
              <a:rPr lang="en-GB" sz="2200" dirty="0"/>
              <a:t>What readout will allow you to separate cells with higher or lower expression?</a:t>
            </a:r>
          </a:p>
          <a:p>
            <a:pPr lvl="0"/>
            <a:r>
              <a:rPr lang="en-GB" sz="2200" dirty="0"/>
              <a:t>How  will you sort and collect the most interesting/informative population of cells?</a:t>
            </a:r>
          </a:p>
          <a:p>
            <a:pPr lvl="0"/>
            <a:r>
              <a:rPr lang="en-GB" sz="2200" dirty="0"/>
              <a:t>What sequencing strategy will allow you to identify sgRNAs?</a:t>
            </a:r>
          </a:p>
          <a:p>
            <a:pPr lvl="0"/>
            <a:r>
              <a:rPr lang="en-GB" sz="2200" dirty="0"/>
              <a:t>How will you leverage the sequencing data to find candidate genes worth investigating further?</a:t>
            </a:r>
          </a:p>
          <a:p>
            <a:pPr lvl="0"/>
            <a:endParaRPr lang="en-GB" sz="2200" dirty="0"/>
          </a:p>
          <a:p>
            <a:pPr marL="0" indent="0">
              <a:buNone/>
            </a:pPr>
            <a:endParaRPr lang="en-GB" dirty="0"/>
          </a:p>
        </p:txBody>
      </p:sp>
      <p:pic>
        <p:nvPicPr>
          <p:cNvPr id="5" name="Picture 4">
            <a:extLst>
              <a:ext uri="{FF2B5EF4-FFF2-40B4-BE49-F238E27FC236}">
                <a16:creationId xmlns:a16="http://schemas.microsoft.com/office/drawing/2014/main" id="{75E3A3DF-869D-EA3E-8031-86B73B3A634D}"/>
              </a:ext>
            </a:extLst>
          </p:cNvPr>
          <p:cNvPicPr>
            <a:picLocks noChangeAspect="1"/>
          </p:cNvPicPr>
          <p:nvPr/>
        </p:nvPicPr>
        <p:blipFill>
          <a:blip r:embed="rId2"/>
          <a:stretch>
            <a:fillRect/>
          </a:stretch>
        </p:blipFill>
        <p:spPr>
          <a:xfrm>
            <a:off x="9873344" y="96498"/>
            <a:ext cx="1709056" cy="1709056"/>
          </a:xfrm>
          <a:prstGeom prst="rect">
            <a:avLst/>
          </a:prstGeom>
        </p:spPr>
      </p:pic>
    </p:spTree>
    <p:extLst>
      <p:ext uri="{BB962C8B-B14F-4D97-AF65-F5344CB8AC3E}">
        <p14:creationId xmlns:p14="http://schemas.microsoft.com/office/powerpoint/2010/main" val="3801423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0795F-9E83-3775-51C7-226AD90E3451}"/>
              </a:ext>
            </a:extLst>
          </p:cNvPr>
          <p:cNvSpPr>
            <a:spLocks noGrp="1"/>
          </p:cNvSpPr>
          <p:nvPr>
            <p:ph type="title"/>
          </p:nvPr>
        </p:nvSpPr>
        <p:spPr/>
        <p:txBody>
          <a:bodyPr/>
          <a:lstStyle/>
          <a:p>
            <a:r>
              <a:rPr lang="en-GB" dirty="0"/>
              <a:t>Group presentation</a:t>
            </a:r>
          </a:p>
        </p:txBody>
      </p:sp>
      <p:sp>
        <p:nvSpPr>
          <p:cNvPr id="5" name="TextBox 4">
            <a:extLst>
              <a:ext uri="{FF2B5EF4-FFF2-40B4-BE49-F238E27FC236}">
                <a16:creationId xmlns:a16="http://schemas.microsoft.com/office/drawing/2014/main" id="{0A262B9B-2E6D-8BB6-5E2B-19157E384AD9}"/>
              </a:ext>
            </a:extLst>
          </p:cNvPr>
          <p:cNvSpPr txBox="1"/>
          <p:nvPr/>
        </p:nvSpPr>
        <p:spPr>
          <a:xfrm>
            <a:off x="1802921" y="3105835"/>
            <a:ext cx="7338922" cy="923330"/>
          </a:xfrm>
          <a:prstGeom prst="rect">
            <a:avLst/>
          </a:prstGeom>
          <a:noFill/>
        </p:spPr>
        <p:txBody>
          <a:bodyPr wrap="square">
            <a:spAutoFit/>
          </a:bodyPr>
          <a:lstStyle/>
          <a:p>
            <a:pPr marL="0" indent="0">
              <a:buNone/>
            </a:pPr>
            <a:r>
              <a:rPr lang="en-GB" sz="3600" dirty="0"/>
              <a:t>        15 min per group</a:t>
            </a:r>
          </a:p>
          <a:p>
            <a:pPr marL="0" indent="0">
              <a:buNone/>
            </a:pPr>
            <a:r>
              <a:rPr lang="en-GB" sz="1800" dirty="0"/>
              <a:t>          10 min for presentation and 5 min for questions</a:t>
            </a:r>
          </a:p>
        </p:txBody>
      </p:sp>
    </p:spTree>
    <p:extLst>
      <p:ext uri="{BB962C8B-B14F-4D97-AF65-F5344CB8AC3E}">
        <p14:creationId xmlns:p14="http://schemas.microsoft.com/office/powerpoint/2010/main" val="14283214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TotalTime>
  <Words>390</Words>
  <Application>Microsoft Office PowerPoint</Application>
  <PresentationFormat>Widescreen</PresentationFormat>
  <Paragraphs>37</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Helvetica Neue LT Pro</vt:lpstr>
      <vt:lpstr>Helvetica Neue LT Pro Bold</vt:lpstr>
      <vt:lpstr>Office Theme</vt:lpstr>
      <vt:lpstr>Group Project</vt:lpstr>
      <vt:lpstr>Group Project</vt:lpstr>
      <vt:lpstr>Groups’ tasks</vt:lpstr>
      <vt:lpstr>Modelling the SRY Promoter Mutation - Pointers</vt:lpstr>
      <vt:lpstr>CRISPR Knockout Screen - Pointers   </vt:lpstr>
      <vt:lpstr>Group presentation</vt:lpstr>
    </vt:vector>
  </TitlesOfParts>
  <Company>University of Westminster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Kalpana Surendranath</dc:creator>
  <cp:lastModifiedBy>Kalpana Surendranath</cp:lastModifiedBy>
  <cp:revision>16</cp:revision>
  <dcterms:created xsi:type="dcterms:W3CDTF">2025-07-27T19:19:33Z</dcterms:created>
  <dcterms:modified xsi:type="dcterms:W3CDTF">2025-07-27T21:02:39Z</dcterms:modified>
</cp:coreProperties>
</file>